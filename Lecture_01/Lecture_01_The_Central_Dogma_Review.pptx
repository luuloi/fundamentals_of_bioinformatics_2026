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Poppins"/>
      <p:regular r:id="rId37"/>
      <p:bold r:id="rId38"/>
      <p:italic r:id="rId39"/>
      <p:boldItalic r:id="rId40"/>
    </p:embeddedFont>
    <p:embeddedFont>
      <p:font typeface="Lato"/>
      <p:regular r:id="rId41"/>
      <p:bold r:id="rId42"/>
      <p:italic r:id="rId43"/>
      <p:boldItalic r:id="rId44"/>
    </p:embeddedFont>
    <p:embeddedFont>
      <p:font typeface="Poppins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C5E585-D11C-4C8A-84A9-55BB69CA2BD2}">
  <a:tblStyle styleId="{C4C5E585-D11C-4C8A-84A9-55BB69CA2BD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1FDC7135-F244-42B4-BBAF-2C2EB0281C0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20" Type="http://schemas.openxmlformats.org/officeDocument/2006/relationships/slide" Target="slides/slide14.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6.xml"/><Relationship Id="rId44" Type="http://schemas.openxmlformats.org/officeDocument/2006/relationships/font" Target="fonts/Lato-boldItalic.fntdata"/><Relationship Id="rId21" Type="http://schemas.openxmlformats.org/officeDocument/2006/relationships/slide" Target="slides/slide15.xml"/><Relationship Id="rId43" Type="http://schemas.openxmlformats.org/officeDocument/2006/relationships/font" Target="fonts/Lato-italic.fntdata"/><Relationship Id="rId24" Type="http://schemas.openxmlformats.org/officeDocument/2006/relationships/slide" Target="slides/slide18.xml"/><Relationship Id="rId46" Type="http://schemas.openxmlformats.org/officeDocument/2006/relationships/font" Target="fonts/PoppinsSemiBold-bold.fntdata"/><Relationship Id="rId23" Type="http://schemas.openxmlformats.org/officeDocument/2006/relationships/slide" Target="slides/slide17.xml"/><Relationship Id="rId45"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PoppinsSemiBold-boldItalic.fntdata"/><Relationship Id="rId25" Type="http://schemas.openxmlformats.org/officeDocument/2006/relationships/slide" Target="slides/slide19.xml"/><Relationship Id="rId47" Type="http://schemas.openxmlformats.org/officeDocument/2006/relationships/font" Target="fonts/PoppinsSemi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Poppins-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oppins-italic.fntdata"/><Relationship Id="rId16" Type="http://schemas.openxmlformats.org/officeDocument/2006/relationships/slide" Target="slides/slide10.xml"/><Relationship Id="rId38" Type="http://schemas.openxmlformats.org/officeDocument/2006/relationships/font" Target="fonts/Poppi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4323acb6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e4323acb6e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4323acb6e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4323acb6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4323acb6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4323acb6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4323acb6e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e4323acb6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4323acb6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4323ac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4323acb6e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4323acb6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4323acb6e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4323acb6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4323acb6e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4323acb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15.png"/><Relationship Id="rId8"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3.png"/><Relationship Id="rId11" Type="http://schemas.openxmlformats.org/officeDocument/2006/relationships/image" Target="../media/image34.png"/><Relationship Id="rId10" Type="http://schemas.openxmlformats.org/officeDocument/2006/relationships/image" Target="../media/image35.png"/><Relationship Id="rId12" Type="http://schemas.openxmlformats.org/officeDocument/2006/relationships/image" Target="../media/image32.png"/><Relationship Id="rId9"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42.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31.png"/><Relationship Id="rId8"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50.png"/><Relationship Id="rId5" Type="http://schemas.openxmlformats.org/officeDocument/2006/relationships/image" Target="../media/image36.png"/><Relationship Id="rId6" Type="http://schemas.openxmlformats.org/officeDocument/2006/relationships/image" Target="../media/image40.png"/><Relationship Id="rId7"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4.png"/><Relationship Id="rId9" Type="http://schemas.openxmlformats.org/officeDocument/2006/relationships/image" Target="../media/image38.png"/><Relationship Id="rId5" Type="http://schemas.openxmlformats.org/officeDocument/2006/relationships/image" Target="../media/image51.png"/><Relationship Id="rId6" Type="http://schemas.openxmlformats.org/officeDocument/2006/relationships/image" Target="../media/image41.png"/><Relationship Id="rId7" Type="http://schemas.openxmlformats.org/officeDocument/2006/relationships/image" Target="../media/image53.png"/><Relationship Id="rId8"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525553" y="2687091"/>
            <a:ext cx="7140892"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0F172A"/>
                </a:solidFill>
                <a:latin typeface="Poppins"/>
                <a:ea typeface="Poppins"/>
                <a:cs typeface="Poppins"/>
                <a:sym typeface="Poppins"/>
              </a:rPr>
              <a:t>The Central Dogma</a:t>
            </a:r>
            <a:endParaRPr/>
          </a:p>
        </p:txBody>
      </p:sp>
      <p:sp>
        <p:nvSpPr>
          <p:cNvPr id="86" name="Google Shape;86;p13"/>
          <p:cNvSpPr txBox="1"/>
          <p:nvPr/>
        </p:nvSpPr>
        <p:spPr>
          <a:xfrm>
            <a:off x="2695575" y="3631852"/>
            <a:ext cx="680085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0284C7"/>
                </a:solidFill>
                <a:latin typeface="Lato"/>
                <a:ea typeface="Lato"/>
                <a:cs typeface="Lato"/>
                <a:sym typeface="Lato"/>
              </a:rPr>
              <a:t>A Comprehensive Review of DNA, RNA, and Protein Synthesis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4"/>
          <p:cNvSpPr/>
          <p:nvPr/>
        </p:nvSpPr>
        <p:spPr>
          <a:xfrm>
            <a:off x="5524500" y="2583209"/>
            <a:ext cx="1143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2115502" y="2926109"/>
            <a:ext cx="7960995"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Poppins"/>
                <a:ea typeface="Poppins"/>
                <a:cs typeface="Poppins"/>
                <a:sym typeface="Poppins"/>
              </a:rPr>
              <a:t>Part 1: The Core Concept</a:t>
            </a:r>
            <a:endParaRPr/>
          </a:p>
        </p:txBody>
      </p:sp>
      <p:sp>
        <p:nvSpPr>
          <p:cNvPr id="94" name="Google Shape;94;p14"/>
          <p:cNvSpPr txBox="1"/>
          <p:nvPr/>
        </p:nvSpPr>
        <p:spPr>
          <a:xfrm>
            <a:off x="4029075" y="4021484"/>
            <a:ext cx="413385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475569"/>
                </a:solidFill>
                <a:latin typeface="Lato"/>
                <a:ea typeface="Lato"/>
                <a:cs typeface="Lato"/>
                <a:sym typeface="Lato"/>
              </a:rPr>
              <a:t>Tracing the flow of genetic information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8" name="Shape 98"/>
        <p:cNvGrpSpPr/>
        <p:nvPr/>
      </p:nvGrpSpPr>
      <p:grpSpPr>
        <a:xfrm>
          <a:off x="0" y="0"/>
          <a:ext cx="0" cy="0"/>
          <a:chOff x="0" y="0"/>
          <a:chExt cx="0" cy="0"/>
        </a:xfrm>
      </p:grpSpPr>
      <p:pic>
        <p:nvPicPr>
          <p:cNvPr descr="image.png" id="99" name="Google Shape;99;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 name="Google Shape;100;p15"/>
          <p:cNvSpPr txBox="1"/>
          <p:nvPr/>
        </p:nvSpPr>
        <p:spPr>
          <a:xfrm>
            <a:off x="1876425" y="2670869"/>
            <a:ext cx="8439150" cy="18399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450" u="none" cap="none" strike="noStrike">
                <a:solidFill>
                  <a:srgbClr val="0F172A"/>
                </a:solidFill>
                <a:latin typeface="Poppins SemiBold"/>
                <a:ea typeface="Poppins SemiBold"/>
                <a:cs typeface="Poppins SemiBold"/>
                <a:sym typeface="Poppins SemiBold"/>
              </a:rPr>
              <a:t>The Central Dogma. This states that once 'information' has passed into protein it cannot get out again.</a:t>
            </a:r>
            <a:endParaRPr/>
          </a:p>
        </p:txBody>
      </p:sp>
      <p:sp>
        <p:nvSpPr>
          <p:cNvPr id="101" name="Google Shape;101;p15"/>
          <p:cNvSpPr txBox="1"/>
          <p:nvPr/>
        </p:nvSpPr>
        <p:spPr>
          <a:xfrm>
            <a:off x="5000625" y="4891831"/>
            <a:ext cx="21907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800" u="none" cap="none" strike="noStrike">
                <a:solidFill>
                  <a:srgbClr val="0D9488"/>
                </a:solidFill>
                <a:latin typeface="Lato"/>
                <a:ea typeface="Lato"/>
                <a:cs typeface="Lato"/>
                <a:sym typeface="Lato"/>
              </a:rPr>
              <a:t>— Francis Crick, 1958</a:t>
            </a:r>
            <a:endParaRPr/>
          </a:p>
        </p:txBody>
      </p:sp>
      <p:sp>
        <p:nvSpPr>
          <p:cNvPr id="102" name="Google Shape;102;p15"/>
          <p:cNvSpPr txBox="1"/>
          <p:nvPr/>
        </p:nvSpPr>
        <p:spPr>
          <a:xfrm>
            <a:off x="1209675" y="3051869"/>
            <a:ext cx="419100" cy="17145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0284C7"/>
                </a:solidFill>
                <a:latin typeface="Poppins SemiBold"/>
                <a:ea typeface="Poppins SemiBold"/>
                <a:cs typeface="Poppins SemiBold"/>
                <a:sym typeface="Poppins SemiBold"/>
              </a:rPr>
              <a:t>"</a:t>
            </a:r>
            <a:endParaRPr/>
          </a:p>
        </p:txBody>
      </p:sp>
      <p:sp>
        <p:nvSpPr>
          <p:cNvPr id="103" name="Google Shape;103;p15"/>
          <p:cNvSpPr txBox="1"/>
          <p:nvPr/>
        </p:nvSpPr>
        <p:spPr>
          <a:xfrm>
            <a:off x="10563225" y="4606082"/>
            <a:ext cx="419100" cy="17145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0284C7"/>
                </a:solidFill>
                <a:latin typeface="Poppins SemiBold"/>
                <a:ea typeface="Poppins SemiBold"/>
                <a:cs typeface="Poppins SemiBold"/>
                <a:sym typeface="Poppins SemiBold"/>
              </a:rPr>
              <a:t>"</a:t>
            </a:r>
            <a:endParaRPr/>
          </a:p>
        </p:txBody>
      </p:sp>
      <p:sp>
        <p:nvSpPr>
          <p:cNvPr id="104" name="Google Shape;104;p1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Foundation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8" name="Shape 108"/>
        <p:cNvGrpSpPr/>
        <p:nvPr/>
      </p:nvGrpSpPr>
      <p:grpSpPr>
        <a:xfrm>
          <a:off x="0" y="0"/>
          <a:ext cx="0" cy="0"/>
          <a:chOff x="0" y="0"/>
          <a:chExt cx="0" cy="0"/>
        </a:xfrm>
      </p:grpSpPr>
      <p:pic>
        <p:nvPicPr>
          <p:cNvPr descr="image.png" id="109" name="Google Shape;10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 name="Google Shape;110;p16"/>
          <p:cNvPicPr preferRelativeResize="0"/>
          <p:nvPr/>
        </p:nvPicPr>
        <p:blipFill rotWithShape="1">
          <a:blip r:embed="rId4">
            <a:alphaModFix/>
          </a:blip>
          <a:srcRect b="0" l="0" r="0" t="0"/>
          <a:stretch/>
        </p:blipFill>
        <p:spPr>
          <a:xfrm>
            <a:off x="571500" y="2147887"/>
            <a:ext cx="3492549" cy="3543300"/>
          </a:xfrm>
          <a:prstGeom prst="rect">
            <a:avLst/>
          </a:prstGeom>
          <a:noFill/>
          <a:ln>
            <a:noFill/>
          </a:ln>
        </p:spPr>
      </p:pic>
      <p:pic>
        <p:nvPicPr>
          <p:cNvPr descr="image.png" id="111" name="Google Shape;111;p16"/>
          <p:cNvPicPr preferRelativeResize="0"/>
          <p:nvPr/>
        </p:nvPicPr>
        <p:blipFill rotWithShape="1">
          <a:blip r:embed="rId5">
            <a:alphaModFix/>
          </a:blip>
          <a:srcRect b="0" l="0" r="0" t="0"/>
          <a:stretch/>
        </p:blipFill>
        <p:spPr>
          <a:xfrm>
            <a:off x="4349799" y="2147887"/>
            <a:ext cx="3492549" cy="3543300"/>
          </a:xfrm>
          <a:prstGeom prst="rect">
            <a:avLst/>
          </a:prstGeom>
          <a:noFill/>
          <a:ln>
            <a:noFill/>
          </a:ln>
        </p:spPr>
      </p:pic>
      <p:pic>
        <p:nvPicPr>
          <p:cNvPr descr="image.png" id="112" name="Google Shape;112;p16"/>
          <p:cNvPicPr preferRelativeResize="0"/>
          <p:nvPr/>
        </p:nvPicPr>
        <p:blipFill rotWithShape="1">
          <a:blip r:embed="rId6">
            <a:alphaModFix/>
          </a:blip>
          <a:srcRect b="0" l="0" r="0" t="0"/>
          <a:stretch/>
        </p:blipFill>
        <p:spPr>
          <a:xfrm>
            <a:off x="8128099" y="2147887"/>
            <a:ext cx="3492549" cy="3543300"/>
          </a:xfrm>
          <a:prstGeom prst="rect">
            <a:avLst/>
          </a:prstGeom>
          <a:noFill/>
          <a:ln>
            <a:noFill/>
          </a:ln>
        </p:spPr>
      </p:pic>
      <p:sp>
        <p:nvSpPr>
          <p:cNvPr id="113" name="Google Shape;113;p16"/>
          <p:cNvSpPr txBox="1"/>
          <p:nvPr/>
        </p:nvSpPr>
        <p:spPr>
          <a:xfrm>
            <a:off x="1507599" y="3395662"/>
            <a:ext cx="1620202"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Replication</a:t>
            </a:r>
            <a:endParaRPr/>
          </a:p>
        </p:txBody>
      </p:sp>
      <p:sp>
        <p:nvSpPr>
          <p:cNvPr id="114" name="Google Shape;114;p16"/>
          <p:cNvSpPr txBox="1"/>
          <p:nvPr/>
        </p:nvSpPr>
        <p:spPr>
          <a:xfrm>
            <a:off x="866775"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process by which a cell duplicates its DNA prior to cell division, ensuring vital information is passed on.</a:t>
            </a:r>
            <a:endParaRPr/>
          </a:p>
        </p:txBody>
      </p:sp>
      <p:sp>
        <p:nvSpPr>
          <p:cNvPr id="115" name="Google Shape;115;p16"/>
          <p:cNvSpPr txBox="1"/>
          <p:nvPr/>
        </p:nvSpPr>
        <p:spPr>
          <a:xfrm>
            <a:off x="5135880" y="3395662"/>
            <a:ext cx="192024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Transcription</a:t>
            </a:r>
            <a:endParaRPr/>
          </a:p>
        </p:txBody>
      </p:sp>
      <p:sp>
        <p:nvSpPr>
          <p:cNvPr id="116" name="Google Shape;116;p16"/>
          <p:cNvSpPr txBox="1"/>
          <p:nvPr/>
        </p:nvSpPr>
        <p:spPr>
          <a:xfrm>
            <a:off x="4645074"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synthesis of an RNA copy from a segment of DNA, taking the instructions out of the protected nucleus.</a:t>
            </a:r>
            <a:endParaRPr/>
          </a:p>
        </p:txBody>
      </p:sp>
      <p:sp>
        <p:nvSpPr>
          <p:cNvPr id="117" name="Google Shape;117;p16"/>
          <p:cNvSpPr txBox="1"/>
          <p:nvPr/>
        </p:nvSpPr>
        <p:spPr>
          <a:xfrm>
            <a:off x="9054197" y="3395662"/>
            <a:ext cx="1640205"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Translation</a:t>
            </a:r>
            <a:endParaRPr/>
          </a:p>
        </p:txBody>
      </p:sp>
      <p:sp>
        <p:nvSpPr>
          <p:cNvPr id="118" name="Google Shape;118;p16"/>
          <p:cNvSpPr txBox="1"/>
          <p:nvPr/>
        </p:nvSpPr>
        <p:spPr>
          <a:xfrm>
            <a:off x="8423374"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decoding of the mRNA sequence by a ribosome complex to build a highly specific protein molecule.</a:t>
            </a:r>
            <a:endParaRPr/>
          </a:p>
        </p:txBody>
      </p:sp>
      <p:pic>
        <p:nvPicPr>
          <p:cNvPr descr="image.png" id="119" name="Google Shape;119;p16"/>
          <p:cNvPicPr preferRelativeResize="0"/>
          <p:nvPr/>
        </p:nvPicPr>
        <p:blipFill rotWithShape="1">
          <a:blip r:embed="rId7">
            <a:alphaModFix/>
          </a:blip>
          <a:srcRect b="0" l="0" r="0" t="0"/>
          <a:stretch/>
        </p:blipFill>
        <p:spPr>
          <a:xfrm>
            <a:off x="2093862" y="2595562"/>
            <a:ext cx="447675" cy="514350"/>
          </a:xfrm>
          <a:prstGeom prst="rect">
            <a:avLst/>
          </a:prstGeom>
          <a:noFill/>
          <a:ln>
            <a:noFill/>
          </a:ln>
        </p:spPr>
      </p:pic>
      <p:pic>
        <p:nvPicPr>
          <p:cNvPr descr="image.png" id="120" name="Google Shape;120;p16"/>
          <p:cNvPicPr preferRelativeResize="0"/>
          <p:nvPr/>
        </p:nvPicPr>
        <p:blipFill rotWithShape="1">
          <a:blip r:embed="rId8">
            <a:alphaModFix/>
          </a:blip>
          <a:srcRect b="0" l="0" r="0" t="0"/>
          <a:stretch/>
        </p:blipFill>
        <p:spPr>
          <a:xfrm>
            <a:off x="5872162" y="2595562"/>
            <a:ext cx="447675" cy="514350"/>
          </a:xfrm>
          <a:prstGeom prst="rect">
            <a:avLst/>
          </a:prstGeom>
          <a:noFill/>
          <a:ln>
            <a:noFill/>
          </a:ln>
        </p:spPr>
      </p:pic>
      <p:pic>
        <p:nvPicPr>
          <p:cNvPr descr="image.png" id="121" name="Google Shape;121;p16"/>
          <p:cNvPicPr preferRelativeResize="0"/>
          <p:nvPr/>
        </p:nvPicPr>
        <p:blipFill rotWithShape="1">
          <a:blip r:embed="rId9">
            <a:alphaModFix/>
          </a:blip>
          <a:srcRect b="0" l="0" r="0" t="0"/>
          <a:stretch/>
        </p:blipFill>
        <p:spPr>
          <a:xfrm>
            <a:off x="9550449" y="2595562"/>
            <a:ext cx="647700" cy="514350"/>
          </a:xfrm>
          <a:prstGeom prst="rect">
            <a:avLst/>
          </a:prstGeom>
          <a:noFill/>
          <a:ln>
            <a:noFill/>
          </a:ln>
        </p:spPr>
      </p:pic>
      <p:sp>
        <p:nvSpPr>
          <p:cNvPr id="122" name="Google Shape;122;p16"/>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Three Pillars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6" name="Shape 126"/>
        <p:cNvGrpSpPr/>
        <p:nvPr/>
      </p:nvGrpSpPr>
      <p:grpSpPr>
        <a:xfrm>
          <a:off x="0" y="0"/>
          <a:ext cx="0" cy="0"/>
          <a:chOff x="0" y="0"/>
          <a:chExt cx="0" cy="0"/>
        </a:xfrm>
      </p:grpSpPr>
      <p:pic>
        <p:nvPicPr>
          <p:cNvPr descr="image.png" id="127" name="Google Shape;12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 name="Google Shape;128;p17"/>
          <p:cNvSpPr txBox="1"/>
          <p:nvPr/>
        </p:nvSpPr>
        <p:spPr>
          <a:xfrm>
            <a:off x="571500" y="571500"/>
            <a:ext cx="5550693"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Master Blueprint: DNA</a:t>
            </a:r>
            <a:endParaRPr/>
          </a:p>
        </p:txBody>
      </p:sp>
      <p:pic>
        <p:nvPicPr>
          <p:cNvPr descr="image.png" id="129" name="Google Shape;129;p17"/>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30" name="Google Shape;130;p17"/>
          <p:cNvSpPr txBox="1"/>
          <p:nvPr/>
        </p:nvSpPr>
        <p:spPr>
          <a:xfrm>
            <a:off x="571500" y="2438400"/>
            <a:ext cx="555069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The Double Helix Structure</a:t>
            </a:r>
            <a:endParaRPr/>
          </a:p>
        </p:txBody>
      </p:sp>
      <p:sp>
        <p:nvSpPr>
          <p:cNvPr id="131" name="Google Shape;131;p17"/>
          <p:cNvSpPr txBox="1"/>
          <p:nvPr/>
        </p:nvSpPr>
        <p:spPr>
          <a:xfrm>
            <a:off x="571500" y="2981325"/>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Deoxyribonucleic acid (DNA) is a robust, double-stranded molecule responsible for the long-term storage of the genetic code.</a:t>
            </a:r>
            <a:endParaRPr/>
          </a:p>
        </p:txBody>
      </p:sp>
      <p:sp>
        <p:nvSpPr>
          <p:cNvPr id="132" name="Google Shape;132;p17"/>
          <p:cNvSpPr txBox="1"/>
          <p:nvPr/>
        </p:nvSpPr>
        <p:spPr>
          <a:xfrm>
            <a:off x="571500" y="4038600"/>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two strands are antiparallel and are firmly held together by hydrogen bonds between complementary nucleotide base pairs: Adenine (A) pairs with Thymine (T), and Cytosine (C) pairs with Guanine (G).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6" name="Shape 136"/>
        <p:cNvGrpSpPr/>
        <p:nvPr/>
      </p:nvGrpSpPr>
      <p:grpSpPr>
        <a:xfrm>
          <a:off x="0" y="0"/>
          <a:ext cx="0" cy="0"/>
          <a:chOff x="0" y="0"/>
          <a:chExt cx="0" cy="0"/>
        </a:xfrm>
      </p:grpSpPr>
      <p:pic>
        <p:nvPicPr>
          <p:cNvPr descr="image.png" id="137" name="Google Shape;13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8" name="Google Shape;138;p18"/>
          <p:cNvPicPr preferRelativeResize="0"/>
          <p:nvPr/>
        </p:nvPicPr>
        <p:blipFill rotWithShape="1">
          <a:blip r:embed="rId4">
            <a:alphaModFix/>
          </a:blip>
          <a:srcRect b="0" l="0" r="0" t="0"/>
          <a:stretch/>
        </p:blipFill>
        <p:spPr>
          <a:xfrm>
            <a:off x="571500" y="1952625"/>
            <a:ext cx="5334000" cy="3933825"/>
          </a:xfrm>
          <a:prstGeom prst="rect">
            <a:avLst/>
          </a:prstGeom>
          <a:noFill/>
          <a:ln>
            <a:noFill/>
          </a:ln>
        </p:spPr>
      </p:pic>
      <p:pic>
        <p:nvPicPr>
          <p:cNvPr descr="image.png" id="139" name="Google Shape;139;p18"/>
          <p:cNvPicPr preferRelativeResize="0"/>
          <p:nvPr/>
        </p:nvPicPr>
        <p:blipFill rotWithShape="1">
          <a:blip r:embed="rId5">
            <a:alphaModFix/>
          </a:blip>
          <a:srcRect b="0" l="0" r="0" t="0"/>
          <a:stretch/>
        </p:blipFill>
        <p:spPr>
          <a:xfrm>
            <a:off x="6286500" y="1952625"/>
            <a:ext cx="5334000" cy="3933825"/>
          </a:xfrm>
          <a:prstGeom prst="rect">
            <a:avLst/>
          </a:prstGeom>
          <a:noFill/>
          <a:ln>
            <a:noFill/>
          </a:ln>
        </p:spPr>
      </p:pic>
      <p:sp>
        <p:nvSpPr>
          <p:cNvPr id="140" name="Google Shape;140;p18"/>
          <p:cNvSpPr txBox="1"/>
          <p:nvPr/>
        </p:nvSpPr>
        <p:spPr>
          <a:xfrm>
            <a:off x="962025" y="2343150"/>
            <a:ext cx="4780597" cy="419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284C7"/>
                </a:solidFill>
                <a:latin typeface="Poppins SemiBold"/>
                <a:ea typeface="Poppins SemiBold"/>
                <a:cs typeface="Poppins SemiBold"/>
                <a:sym typeface="Poppins SemiBold"/>
              </a:rPr>
              <a:t>Deoxyribonucleic Acid (DNA)</a:t>
            </a:r>
            <a:endParaRPr/>
          </a:p>
        </p:txBody>
      </p:sp>
      <p:sp>
        <p:nvSpPr>
          <p:cNvPr id="141" name="Google Shape;141;p18"/>
          <p:cNvSpPr/>
          <p:nvPr/>
        </p:nvSpPr>
        <p:spPr>
          <a:xfrm>
            <a:off x="962025" y="2886075"/>
            <a:ext cx="4552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8"/>
          <p:cNvSpPr txBox="1"/>
          <p:nvPr/>
        </p:nvSpPr>
        <p:spPr>
          <a:xfrm>
            <a:off x="6677025" y="2343150"/>
            <a:ext cx="4780597" cy="419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284C7"/>
                </a:solidFill>
                <a:latin typeface="Poppins SemiBold"/>
                <a:ea typeface="Poppins SemiBold"/>
                <a:cs typeface="Poppins SemiBold"/>
                <a:sym typeface="Poppins SemiBold"/>
              </a:rPr>
              <a:t>Ribonucleic Acid (RNA)</a:t>
            </a:r>
            <a:endParaRPr/>
          </a:p>
        </p:txBody>
      </p:sp>
      <p:sp>
        <p:nvSpPr>
          <p:cNvPr id="143" name="Google Shape;143;p18"/>
          <p:cNvSpPr/>
          <p:nvPr/>
        </p:nvSpPr>
        <p:spPr>
          <a:xfrm>
            <a:off x="6677025" y="2886075"/>
            <a:ext cx="4552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8"/>
          <p:cNvSpPr txBox="1"/>
          <p:nvPr/>
        </p:nvSpPr>
        <p:spPr>
          <a:xfrm>
            <a:off x="1200150" y="3095625"/>
            <a:ext cx="4314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Structure:</a:t>
            </a:r>
            <a:r>
              <a:rPr b="0" i="0" lang="en-US" sz="1500" u="none" cap="none" strike="noStrike">
                <a:solidFill>
                  <a:srgbClr val="475569"/>
                </a:solidFill>
                <a:latin typeface="Lato"/>
                <a:ea typeface="Lato"/>
                <a:cs typeface="Lato"/>
                <a:sym typeface="Lato"/>
              </a:rPr>
              <a:t> Stable, double-stranded helix.</a:t>
            </a:r>
            <a:endParaRPr/>
          </a:p>
        </p:txBody>
      </p:sp>
      <p:sp>
        <p:nvSpPr>
          <p:cNvPr id="145" name="Google Shape;145;p18"/>
          <p:cNvSpPr txBox="1"/>
          <p:nvPr/>
        </p:nvSpPr>
        <p:spPr>
          <a:xfrm>
            <a:off x="1200150" y="3543300"/>
            <a:ext cx="4314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Sugar Base:</a:t>
            </a:r>
            <a:r>
              <a:rPr b="0" i="0" lang="en-US" sz="1500" u="none" cap="none" strike="noStrike">
                <a:solidFill>
                  <a:srgbClr val="475569"/>
                </a:solidFill>
                <a:latin typeface="Lato"/>
                <a:ea typeface="Lato"/>
                <a:cs typeface="Lato"/>
                <a:sym typeface="Lato"/>
              </a:rPr>
              <a:t> Deoxyribose.</a:t>
            </a:r>
            <a:endParaRPr/>
          </a:p>
        </p:txBody>
      </p:sp>
      <p:sp>
        <p:nvSpPr>
          <p:cNvPr id="146" name="Google Shape;146;p18"/>
          <p:cNvSpPr txBox="1"/>
          <p:nvPr/>
        </p:nvSpPr>
        <p:spPr>
          <a:xfrm>
            <a:off x="1200150" y="3990975"/>
            <a:ext cx="4314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Nucleobases:</a:t>
            </a:r>
            <a:r>
              <a:rPr b="0" i="0" lang="en-US" sz="1500" u="none" cap="none" strike="noStrike">
                <a:solidFill>
                  <a:srgbClr val="475569"/>
                </a:solidFill>
                <a:latin typeface="Lato"/>
                <a:ea typeface="Lato"/>
                <a:cs typeface="Lato"/>
                <a:sym typeface="Lato"/>
              </a:rPr>
              <a:t> Adenine, Thymine, Cytosine, Guanine.</a:t>
            </a:r>
            <a:endParaRPr/>
          </a:p>
        </p:txBody>
      </p:sp>
      <p:sp>
        <p:nvSpPr>
          <p:cNvPr id="147" name="Google Shape;147;p18"/>
          <p:cNvSpPr txBox="1"/>
          <p:nvPr/>
        </p:nvSpPr>
        <p:spPr>
          <a:xfrm>
            <a:off x="1200150" y="4438650"/>
            <a:ext cx="4314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Function:</a:t>
            </a:r>
            <a:r>
              <a:rPr b="0" i="0" lang="en-US" sz="1500" u="none" cap="none" strike="noStrike">
                <a:solidFill>
                  <a:srgbClr val="475569"/>
                </a:solidFill>
                <a:latin typeface="Lato"/>
                <a:ea typeface="Lato"/>
                <a:cs typeface="Lato"/>
                <a:sym typeface="Lato"/>
              </a:rPr>
              <a:t> Long-term, secure storage of genetic information within the nucleus.</a:t>
            </a:r>
            <a:endParaRPr/>
          </a:p>
        </p:txBody>
      </p:sp>
      <p:sp>
        <p:nvSpPr>
          <p:cNvPr id="148" name="Google Shape;148;p18"/>
          <p:cNvSpPr txBox="1"/>
          <p:nvPr/>
        </p:nvSpPr>
        <p:spPr>
          <a:xfrm>
            <a:off x="6915150" y="3095625"/>
            <a:ext cx="4314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Structure:</a:t>
            </a:r>
            <a:r>
              <a:rPr b="0" i="0" lang="en-US" sz="1500" u="none" cap="none" strike="noStrike">
                <a:solidFill>
                  <a:srgbClr val="475569"/>
                </a:solidFill>
                <a:latin typeface="Lato"/>
                <a:ea typeface="Lato"/>
                <a:cs typeface="Lato"/>
                <a:sym typeface="Lato"/>
              </a:rPr>
              <a:t> Typically single-stranded and flexible.</a:t>
            </a:r>
            <a:endParaRPr/>
          </a:p>
        </p:txBody>
      </p:sp>
      <p:sp>
        <p:nvSpPr>
          <p:cNvPr id="149" name="Google Shape;149;p18"/>
          <p:cNvSpPr txBox="1"/>
          <p:nvPr/>
        </p:nvSpPr>
        <p:spPr>
          <a:xfrm>
            <a:off x="6915150" y="3543300"/>
            <a:ext cx="4314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Sugar Base:</a:t>
            </a:r>
            <a:r>
              <a:rPr b="0" i="0" lang="en-US" sz="1500" u="none" cap="none" strike="noStrike">
                <a:solidFill>
                  <a:srgbClr val="475569"/>
                </a:solidFill>
                <a:latin typeface="Lato"/>
                <a:ea typeface="Lato"/>
                <a:cs typeface="Lato"/>
                <a:sym typeface="Lato"/>
              </a:rPr>
              <a:t> Ribose.</a:t>
            </a:r>
            <a:endParaRPr/>
          </a:p>
        </p:txBody>
      </p:sp>
      <p:sp>
        <p:nvSpPr>
          <p:cNvPr id="150" name="Google Shape;150;p18"/>
          <p:cNvSpPr txBox="1"/>
          <p:nvPr/>
        </p:nvSpPr>
        <p:spPr>
          <a:xfrm>
            <a:off x="6915150" y="3990975"/>
            <a:ext cx="4314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Nucleobases:</a:t>
            </a:r>
            <a:r>
              <a:rPr b="0" i="0" lang="en-US" sz="1500" u="none" cap="none" strike="noStrike">
                <a:solidFill>
                  <a:srgbClr val="475569"/>
                </a:solidFill>
                <a:latin typeface="Lato"/>
                <a:ea typeface="Lato"/>
                <a:cs typeface="Lato"/>
                <a:sym typeface="Lato"/>
              </a:rPr>
              <a:t> Adenine, Uracil (replaces T), Cytosine, Guanine.</a:t>
            </a:r>
            <a:endParaRPr/>
          </a:p>
        </p:txBody>
      </p:sp>
      <p:sp>
        <p:nvSpPr>
          <p:cNvPr id="151" name="Google Shape;151;p18"/>
          <p:cNvSpPr txBox="1"/>
          <p:nvPr/>
        </p:nvSpPr>
        <p:spPr>
          <a:xfrm>
            <a:off x="6915150" y="4743450"/>
            <a:ext cx="4314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Function:</a:t>
            </a:r>
            <a:r>
              <a:rPr b="0" i="0" lang="en-US" sz="1500" u="none" cap="none" strike="noStrike">
                <a:solidFill>
                  <a:srgbClr val="475569"/>
                </a:solidFill>
                <a:latin typeface="Lato"/>
                <a:ea typeface="Lato"/>
                <a:cs typeface="Lato"/>
                <a:sym typeface="Lato"/>
              </a:rPr>
              <a:t> Transfers genetic instructions and actively synthesizes proteins.</a:t>
            </a:r>
            <a:endParaRPr/>
          </a:p>
        </p:txBody>
      </p:sp>
      <p:sp>
        <p:nvSpPr>
          <p:cNvPr id="152" name="Google Shape;152;p18"/>
          <p:cNvSpPr txBox="1"/>
          <p:nvPr/>
        </p:nvSpPr>
        <p:spPr>
          <a:xfrm>
            <a:off x="962025" y="3048000"/>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3" name="Google Shape;153;p18"/>
          <p:cNvSpPr txBox="1"/>
          <p:nvPr/>
        </p:nvSpPr>
        <p:spPr>
          <a:xfrm>
            <a:off x="962025" y="3495675"/>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4" name="Google Shape;154;p18"/>
          <p:cNvSpPr txBox="1"/>
          <p:nvPr/>
        </p:nvSpPr>
        <p:spPr>
          <a:xfrm>
            <a:off x="962025" y="3943350"/>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5" name="Google Shape;155;p18"/>
          <p:cNvSpPr txBox="1"/>
          <p:nvPr/>
        </p:nvSpPr>
        <p:spPr>
          <a:xfrm>
            <a:off x="962025" y="4391025"/>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6" name="Google Shape;156;p18"/>
          <p:cNvSpPr txBox="1"/>
          <p:nvPr/>
        </p:nvSpPr>
        <p:spPr>
          <a:xfrm>
            <a:off x="6677025" y="3048000"/>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7" name="Google Shape;157;p18"/>
          <p:cNvSpPr txBox="1"/>
          <p:nvPr/>
        </p:nvSpPr>
        <p:spPr>
          <a:xfrm>
            <a:off x="6677025" y="3495675"/>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8" name="Google Shape;158;p18"/>
          <p:cNvSpPr txBox="1"/>
          <p:nvPr/>
        </p:nvSpPr>
        <p:spPr>
          <a:xfrm>
            <a:off x="6677025" y="3943350"/>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59" name="Google Shape;159;p18"/>
          <p:cNvSpPr txBox="1"/>
          <p:nvPr/>
        </p:nvSpPr>
        <p:spPr>
          <a:xfrm>
            <a:off x="6677025" y="4695825"/>
            <a:ext cx="133350"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0D9488"/>
                </a:solidFill>
                <a:latin typeface="Lato"/>
                <a:ea typeface="Lato"/>
                <a:cs typeface="Lato"/>
                <a:sym typeface="Lato"/>
              </a:rPr>
              <a:t>•</a:t>
            </a:r>
            <a:endParaRPr/>
          </a:p>
        </p:txBody>
      </p:sp>
      <p:sp>
        <p:nvSpPr>
          <p:cNvPr id="160" name="Google Shape;160;p18"/>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DNA versus RNA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4" name="Shape 164"/>
        <p:cNvGrpSpPr/>
        <p:nvPr/>
      </p:nvGrpSpPr>
      <p:grpSpPr>
        <a:xfrm>
          <a:off x="0" y="0"/>
          <a:ext cx="0" cy="0"/>
          <a:chOff x="0" y="0"/>
          <a:chExt cx="0" cy="0"/>
        </a:xfrm>
      </p:grpSpPr>
      <p:pic>
        <p:nvPicPr>
          <p:cNvPr descr="image.png" id="165" name="Google Shape;165;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6" name="Google Shape;166;p19"/>
          <p:cNvSpPr/>
          <p:nvPr/>
        </p:nvSpPr>
        <p:spPr>
          <a:xfrm>
            <a:off x="5524500" y="2583209"/>
            <a:ext cx="1143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9"/>
          <p:cNvSpPr txBox="1"/>
          <p:nvPr/>
        </p:nvSpPr>
        <p:spPr>
          <a:xfrm>
            <a:off x="2340530" y="2926109"/>
            <a:ext cx="7510938"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Poppins"/>
                <a:ea typeface="Poppins"/>
                <a:cs typeface="Poppins"/>
                <a:sym typeface="Poppins"/>
              </a:rPr>
              <a:t>Part 2: DNA Replication</a:t>
            </a:r>
            <a:endParaRPr/>
          </a:p>
        </p:txBody>
      </p:sp>
      <p:sp>
        <p:nvSpPr>
          <p:cNvPr id="168" name="Google Shape;168;p19"/>
          <p:cNvSpPr txBox="1"/>
          <p:nvPr/>
        </p:nvSpPr>
        <p:spPr>
          <a:xfrm>
            <a:off x="4786312" y="4021484"/>
            <a:ext cx="261937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475569"/>
                </a:solidFill>
                <a:latin typeface="Lato"/>
                <a:ea typeface="Lato"/>
                <a:cs typeface="Lato"/>
                <a:sym typeface="Lato"/>
              </a:rPr>
              <a:t>Duplicating the Genome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2" name="Shape 172"/>
        <p:cNvGrpSpPr/>
        <p:nvPr/>
      </p:nvGrpSpPr>
      <p:grpSpPr>
        <a:xfrm>
          <a:off x="0" y="0"/>
          <a:ext cx="0" cy="0"/>
          <a:chOff x="0" y="0"/>
          <a:chExt cx="0" cy="0"/>
        </a:xfrm>
      </p:grpSpPr>
      <p:pic>
        <p:nvPicPr>
          <p:cNvPr descr="image.png" id="173" name="Google Shape;173;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20"/>
          <p:cNvPicPr preferRelativeResize="0"/>
          <p:nvPr/>
        </p:nvPicPr>
        <p:blipFill rotWithShape="1">
          <a:blip r:embed="rId4">
            <a:alphaModFix/>
          </a:blip>
          <a:srcRect b="0" l="0" r="0" t="0"/>
          <a:stretch/>
        </p:blipFill>
        <p:spPr>
          <a:xfrm>
            <a:off x="6381750" y="2014537"/>
            <a:ext cx="5238750" cy="3810000"/>
          </a:xfrm>
          <a:prstGeom prst="rect">
            <a:avLst/>
          </a:prstGeom>
          <a:noFill/>
          <a:ln>
            <a:noFill/>
          </a:ln>
        </p:spPr>
      </p:pic>
      <p:sp>
        <p:nvSpPr>
          <p:cNvPr id="175" name="Google Shape;175;p20"/>
          <p:cNvSpPr txBox="1"/>
          <p:nvPr/>
        </p:nvSpPr>
        <p:spPr>
          <a:xfrm>
            <a:off x="571500" y="2333625"/>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DNA replication is a </a:t>
            </a:r>
            <a:r>
              <a:rPr b="1" i="0" lang="en-US" sz="1500" u="none" cap="none" strike="noStrike">
                <a:solidFill>
                  <a:srgbClr val="475569"/>
                </a:solidFill>
                <a:latin typeface="Lato"/>
                <a:ea typeface="Lato"/>
                <a:cs typeface="Lato"/>
                <a:sym typeface="Lato"/>
              </a:rPr>
              <a:t>semi-conservative</a:t>
            </a:r>
            <a:r>
              <a:rPr b="0" i="0" lang="en-US" sz="1500" u="none" cap="none" strike="noStrike">
                <a:solidFill>
                  <a:srgbClr val="475569"/>
                </a:solidFill>
                <a:latin typeface="Lato"/>
                <a:ea typeface="Lato"/>
                <a:cs typeface="Lato"/>
                <a:sym typeface="Lato"/>
              </a:rPr>
              <a:t> process. This means each newly formed double helix contains one original parent strand and one newly synthesized strand.</a:t>
            </a:r>
            <a:endParaRPr/>
          </a:p>
        </p:txBody>
      </p:sp>
      <p:sp>
        <p:nvSpPr>
          <p:cNvPr id="176" name="Google Shape;176;p20"/>
          <p:cNvSpPr txBox="1"/>
          <p:nvPr/>
        </p:nvSpPr>
        <p:spPr>
          <a:xfrm>
            <a:off x="571500" y="339090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origin of replication is the site where the double helix unwinds, forming a characteristic Y-shaped structure known as the "replication fork."</a:t>
            </a:r>
            <a:endParaRPr/>
          </a:p>
        </p:txBody>
      </p:sp>
      <p:sp>
        <p:nvSpPr>
          <p:cNvPr id="177" name="Google Shape;177;p20"/>
          <p:cNvSpPr txBox="1"/>
          <p:nvPr/>
        </p:nvSpPr>
        <p:spPr>
          <a:xfrm>
            <a:off x="571500" y="4448175"/>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Because DNA strands run antiparallel, enzymatic synthesis occurs continuously on the </a:t>
            </a:r>
            <a:r>
              <a:rPr b="1" i="0" lang="en-US" sz="1500" u="none" cap="none" strike="noStrike">
                <a:solidFill>
                  <a:srgbClr val="475569"/>
                </a:solidFill>
                <a:latin typeface="Lato"/>
                <a:ea typeface="Lato"/>
                <a:cs typeface="Lato"/>
                <a:sym typeface="Lato"/>
              </a:rPr>
              <a:t>leading strand</a:t>
            </a:r>
            <a:r>
              <a:rPr b="0" i="0" lang="en-US" sz="1500" u="none" cap="none" strike="noStrike">
                <a:solidFill>
                  <a:srgbClr val="475569"/>
                </a:solidFill>
                <a:latin typeface="Lato"/>
                <a:ea typeface="Lato"/>
                <a:cs typeface="Lato"/>
                <a:sym typeface="Lato"/>
              </a:rPr>
              <a:t>, but discontinuously in small sections (Okazaki fragments) on the </a:t>
            </a:r>
            <a:r>
              <a:rPr b="1" i="0" lang="en-US" sz="1500" u="none" cap="none" strike="noStrike">
                <a:solidFill>
                  <a:srgbClr val="475569"/>
                </a:solidFill>
                <a:latin typeface="Lato"/>
                <a:ea typeface="Lato"/>
                <a:cs typeface="Lato"/>
                <a:sym typeface="Lato"/>
              </a:rPr>
              <a:t>lagging strand</a:t>
            </a:r>
            <a:r>
              <a:rPr b="0" i="0" lang="en-US" sz="1500" u="none" cap="none" strike="noStrike">
                <a:solidFill>
                  <a:srgbClr val="475569"/>
                </a:solidFill>
                <a:latin typeface="Lato"/>
                <a:ea typeface="Lato"/>
                <a:cs typeface="Lato"/>
                <a:sym typeface="Lato"/>
              </a:rPr>
              <a:t>.</a:t>
            </a:r>
            <a:endParaRPr/>
          </a:p>
        </p:txBody>
      </p:sp>
      <p:pic>
        <p:nvPicPr>
          <p:cNvPr descr="image.png" id="178" name="Google Shape;178;p20"/>
          <p:cNvPicPr preferRelativeResize="0"/>
          <p:nvPr/>
        </p:nvPicPr>
        <p:blipFill rotWithShape="1">
          <a:blip r:embed="rId5">
            <a:alphaModFix/>
          </a:blip>
          <a:srcRect b="0" l="0" r="0" t="0"/>
          <a:stretch/>
        </p:blipFill>
        <p:spPr>
          <a:xfrm>
            <a:off x="6381750" y="2014537"/>
            <a:ext cx="5238750" cy="3810000"/>
          </a:xfrm>
          <a:prstGeom prst="rect">
            <a:avLst/>
          </a:prstGeom>
          <a:noFill/>
          <a:ln>
            <a:noFill/>
          </a:ln>
        </p:spPr>
      </p:pic>
      <p:sp>
        <p:nvSpPr>
          <p:cNvPr id="179" name="Google Shape;179;p20"/>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Replication Fork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3" name="Shape 183"/>
        <p:cNvGrpSpPr/>
        <p:nvPr/>
      </p:nvGrpSpPr>
      <p:grpSpPr>
        <a:xfrm>
          <a:off x="0" y="0"/>
          <a:ext cx="0" cy="0"/>
          <a:chOff x="0" y="0"/>
          <a:chExt cx="0" cy="0"/>
        </a:xfrm>
      </p:grpSpPr>
      <p:pic>
        <p:nvPicPr>
          <p:cNvPr descr="image.png" id="184" name="Google Shape;18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5" name="Google Shape;185;p21"/>
          <p:cNvSpPr/>
          <p:nvPr/>
        </p:nvSpPr>
        <p:spPr>
          <a:xfrm>
            <a:off x="1333500" y="201215"/>
            <a:ext cx="9525000" cy="1773435"/>
          </a:xfrm>
          <a:prstGeom prst="roundRect">
            <a:avLst>
              <a:gd fmla="val 4296"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21"/>
          <p:cNvSpPr txBox="1"/>
          <p:nvPr/>
        </p:nvSpPr>
        <p:spPr>
          <a:xfrm>
            <a:off x="2000250" y="439340"/>
            <a:ext cx="8620125" cy="1297185"/>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Helicase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Unzips the DNA double helix by breaking the hydrogen bonds between base pairs, creating the replication fork.</a:t>
            </a:r>
            <a:endParaRPr/>
          </a:p>
        </p:txBody>
      </p:sp>
      <p:sp>
        <p:nvSpPr>
          <p:cNvPr id="187" name="Google Shape;187;p21"/>
          <p:cNvSpPr/>
          <p:nvPr/>
        </p:nvSpPr>
        <p:spPr>
          <a:xfrm>
            <a:off x="1333500" y="201215"/>
            <a:ext cx="47625" cy="177343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21"/>
          <p:cNvSpPr/>
          <p:nvPr/>
        </p:nvSpPr>
        <p:spPr>
          <a:xfrm>
            <a:off x="1333500" y="2212776"/>
            <a:ext cx="9525000" cy="1468635"/>
          </a:xfrm>
          <a:prstGeom prst="roundRect">
            <a:avLst>
              <a:gd fmla="val 5188"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21"/>
          <p:cNvSpPr txBox="1"/>
          <p:nvPr/>
        </p:nvSpPr>
        <p:spPr>
          <a:xfrm>
            <a:off x="2000250" y="2450901"/>
            <a:ext cx="8620200" cy="11544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Primase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Synthesizes a short RNA primer, providing a starting point for DNA synthesis.</a:t>
            </a:r>
            <a:endParaRPr b="0" i="0" sz="1500" u="none" cap="none" strike="noStrike">
              <a:solidFill>
                <a:srgbClr val="475569"/>
              </a:solidFill>
              <a:latin typeface="Lato"/>
              <a:ea typeface="Lato"/>
              <a:cs typeface="Lato"/>
              <a:sym typeface="Lato"/>
            </a:endParaRPr>
          </a:p>
          <a:p>
            <a:pPr indent="0" lvl="0" marL="0" marR="0" rtl="0" algn="l">
              <a:lnSpc>
                <a:spcPct val="133333"/>
              </a:lnSpc>
              <a:spcBef>
                <a:spcPts val="0"/>
              </a:spcBef>
              <a:spcAft>
                <a:spcPts val="0"/>
              </a:spcAft>
              <a:buNone/>
            </a:pPr>
            <a:r>
              <a:rPr b="1" lang="en-US" sz="1500">
                <a:solidFill>
                  <a:srgbClr val="475569"/>
                </a:solidFill>
                <a:latin typeface="Courier New"/>
                <a:ea typeface="Courier New"/>
                <a:cs typeface="Courier New"/>
                <a:sym typeface="Courier New"/>
              </a:rPr>
              <a:t>DNA:       ACGATCAGCTAGCA…</a:t>
            </a:r>
            <a:br>
              <a:rPr b="1" lang="en-US" sz="1500">
                <a:solidFill>
                  <a:srgbClr val="475569"/>
                </a:solidFill>
                <a:latin typeface="Courier New"/>
                <a:ea typeface="Courier New"/>
                <a:cs typeface="Courier New"/>
                <a:sym typeface="Courier New"/>
              </a:rPr>
            </a:br>
            <a:r>
              <a:rPr b="1" lang="en-US" sz="1500">
                <a:solidFill>
                  <a:srgbClr val="475569"/>
                </a:solidFill>
                <a:latin typeface="Courier New"/>
                <a:ea typeface="Courier New"/>
                <a:cs typeface="Courier New"/>
                <a:sym typeface="Courier New"/>
              </a:rPr>
              <a:t>Primer:    </a:t>
            </a:r>
            <a:r>
              <a:rPr b="1" lang="en-US" sz="1500">
                <a:solidFill>
                  <a:srgbClr val="FF00FF"/>
                </a:solidFill>
                <a:latin typeface="Courier New"/>
                <a:ea typeface="Courier New"/>
                <a:cs typeface="Courier New"/>
                <a:sym typeface="Courier New"/>
              </a:rPr>
              <a:t>?????</a:t>
            </a:r>
            <a:endParaRPr b="1" sz="1500">
              <a:solidFill>
                <a:srgbClr val="FF00FF"/>
              </a:solidFill>
              <a:latin typeface="Courier New"/>
              <a:ea typeface="Courier New"/>
              <a:cs typeface="Courier New"/>
              <a:sym typeface="Courier New"/>
            </a:endParaRPr>
          </a:p>
        </p:txBody>
      </p:sp>
      <p:sp>
        <p:nvSpPr>
          <p:cNvPr id="190" name="Google Shape;190;p21"/>
          <p:cNvSpPr/>
          <p:nvPr/>
        </p:nvSpPr>
        <p:spPr>
          <a:xfrm>
            <a:off x="1333500" y="2212776"/>
            <a:ext cx="47625" cy="146863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21"/>
          <p:cNvSpPr/>
          <p:nvPr/>
        </p:nvSpPr>
        <p:spPr>
          <a:xfrm>
            <a:off x="1333500" y="3919537"/>
            <a:ext cx="9525000" cy="1468635"/>
          </a:xfrm>
          <a:prstGeom prst="roundRect">
            <a:avLst>
              <a:gd fmla="val 5188"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21"/>
          <p:cNvSpPr txBox="1"/>
          <p:nvPr/>
        </p:nvSpPr>
        <p:spPr>
          <a:xfrm>
            <a:off x="2000250" y="4157662"/>
            <a:ext cx="8620200" cy="11544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DNA Polymerase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Binds to the primer and adds complementary nucleotides to build the new, growing DNA strand.</a:t>
            </a:r>
            <a:endParaRPr b="0" i="0" sz="1500" u="none" cap="none" strike="noStrike">
              <a:solidFill>
                <a:srgbClr val="475569"/>
              </a:solidFill>
              <a:latin typeface="Lato"/>
              <a:ea typeface="Lato"/>
              <a:cs typeface="Lato"/>
              <a:sym typeface="Lato"/>
            </a:endParaRPr>
          </a:p>
          <a:p>
            <a:pPr indent="0" lvl="0" marL="0" rtl="0" algn="l">
              <a:lnSpc>
                <a:spcPct val="133333"/>
              </a:lnSpc>
              <a:spcBef>
                <a:spcPts val="0"/>
              </a:spcBef>
              <a:spcAft>
                <a:spcPts val="0"/>
              </a:spcAft>
              <a:buClr>
                <a:schemeClr val="dk1"/>
              </a:buClr>
              <a:buFont typeface="Arial"/>
              <a:buNone/>
            </a:pPr>
            <a:r>
              <a:rPr b="1" lang="en-US" sz="1500">
                <a:solidFill>
                  <a:srgbClr val="475569"/>
                </a:solidFill>
                <a:latin typeface="Courier New"/>
                <a:ea typeface="Courier New"/>
                <a:cs typeface="Courier New"/>
                <a:sym typeface="Courier New"/>
              </a:rPr>
              <a:t>DNA:       ACGATCAGCTAGCA…</a:t>
            </a:r>
            <a:br>
              <a:rPr b="1" lang="en-US" sz="1500">
                <a:solidFill>
                  <a:srgbClr val="475569"/>
                </a:solidFill>
                <a:latin typeface="Courier New"/>
                <a:ea typeface="Courier New"/>
                <a:cs typeface="Courier New"/>
                <a:sym typeface="Courier New"/>
              </a:rPr>
            </a:br>
            <a:r>
              <a:rPr b="1" lang="en-US" sz="1500">
                <a:solidFill>
                  <a:srgbClr val="475569"/>
                </a:solidFill>
                <a:latin typeface="Courier New"/>
                <a:ea typeface="Courier New"/>
                <a:cs typeface="Courier New"/>
                <a:sym typeface="Courier New"/>
              </a:rPr>
              <a:t>Primer:    </a:t>
            </a:r>
            <a:r>
              <a:rPr b="1" lang="en-US" sz="1500">
                <a:solidFill>
                  <a:srgbClr val="FF00FF"/>
                </a:solidFill>
                <a:latin typeface="Courier New"/>
                <a:ea typeface="Courier New"/>
                <a:cs typeface="Courier New"/>
                <a:sym typeface="Courier New"/>
              </a:rPr>
              <a:t>?????</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p:txBody>
      </p:sp>
      <p:sp>
        <p:nvSpPr>
          <p:cNvPr id="193" name="Google Shape;193;p21"/>
          <p:cNvSpPr/>
          <p:nvPr/>
        </p:nvSpPr>
        <p:spPr>
          <a:xfrm>
            <a:off x="1333500" y="3919537"/>
            <a:ext cx="47625" cy="146863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1"/>
          <p:cNvSpPr/>
          <p:nvPr/>
        </p:nvSpPr>
        <p:spPr>
          <a:xfrm>
            <a:off x="1333500" y="5626298"/>
            <a:ext cx="9525000" cy="1773435"/>
          </a:xfrm>
          <a:prstGeom prst="roundRect">
            <a:avLst>
              <a:gd fmla="val 4296"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21"/>
          <p:cNvSpPr txBox="1"/>
          <p:nvPr/>
        </p:nvSpPr>
        <p:spPr>
          <a:xfrm>
            <a:off x="2000250" y="5864423"/>
            <a:ext cx="8620125" cy="993576"/>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Ligase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Seals the gaps between Okazaki fragments on the lagging strand, ensuring a continuous sugar-phosphate backbone.</a:t>
            </a:r>
            <a:endParaRPr/>
          </a:p>
        </p:txBody>
      </p:sp>
      <p:sp>
        <p:nvSpPr>
          <p:cNvPr id="196" name="Google Shape;196;p21"/>
          <p:cNvSpPr/>
          <p:nvPr/>
        </p:nvSpPr>
        <p:spPr>
          <a:xfrm>
            <a:off x="1333500" y="5626298"/>
            <a:ext cx="47625" cy="177343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7" name="Google Shape;197;p21"/>
          <p:cNvPicPr preferRelativeResize="0"/>
          <p:nvPr/>
        </p:nvPicPr>
        <p:blipFill rotWithShape="1">
          <a:blip r:embed="rId4">
            <a:alphaModFix/>
          </a:blip>
          <a:srcRect b="0" l="0" r="0" t="0"/>
          <a:stretch/>
        </p:blipFill>
        <p:spPr>
          <a:xfrm>
            <a:off x="1571625" y="949821"/>
            <a:ext cx="266700" cy="276225"/>
          </a:xfrm>
          <a:prstGeom prst="rect">
            <a:avLst/>
          </a:prstGeom>
          <a:noFill/>
          <a:ln>
            <a:noFill/>
          </a:ln>
        </p:spPr>
      </p:pic>
      <p:pic>
        <p:nvPicPr>
          <p:cNvPr descr="image.png" id="198" name="Google Shape;198;p21"/>
          <p:cNvPicPr preferRelativeResize="0"/>
          <p:nvPr/>
        </p:nvPicPr>
        <p:blipFill rotWithShape="1">
          <a:blip r:embed="rId5">
            <a:alphaModFix/>
          </a:blip>
          <a:srcRect b="0" l="0" r="0" t="0"/>
          <a:stretch/>
        </p:blipFill>
        <p:spPr>
          <a:xfrm>
            <a:off x="1571625" y="2808982"/>
            <a:ext cx="304800" cy="276225"/>
          </a:xfrm>
          <a:prstGeom prst="rect">
            <a:avLst/>
          </a:prstGeom>
          <a:noFill/>
          <a:ln>
            <a:noFill/>
          </a:ln>
        </p:spPr>
      </p:pic>
      <p:pic>
        <p:nvPicPr>
          <p:cNvPr descr="image.png" id="199" name="Google Shape;199;p21"/>
          <p:cNvPicPr preferRelativeResize="0"/>
          <p:nvPr/>
        </p:nvPicPr>
        <p:blipFill rotWithShape="1">
          <a:blip r:embed="rId6">
            <a:alphaModFix/>
          </a:blip>
          <a:srcRect b="0" l="0" r="0" t="0"/>
          <a:stretch/>
        </p:blipFill>
        <p:spPr>
          <a:xfrm>
            <a:off x="1571625" y="4515742"/>
            <a:ext cx="304800" cy="276225"/>
          </a:xfrm>
          <a:prstGeom prst="rect">
            <a:avLst/>
          </a:prstGeom>
          <a:noFill/>
          <a:ln>
            <a:noFill/>
          </a:ln>
        </p:spPr>
      </p:pic>
      <p:pic>
        <p:nvPicPr>
          <p:cNvPr descr="image.png" id="200" name="Google Shape;200;p21"/>
          <p:cNvPicPr preferRelativeResize="0"/>
          <p:nvPr/>
        </p:nvPicPr>
        <p:blipFill rotWithShape="1">
          <a:blip r:embed="rId7">
            <a:alphaModFix/>
          </a:blip>
          <a:srcRect b="0" l="0" r="0" t="0"/>
          <a:stretch/>
        </p:blipFill>
        <p:spPr>
          <a:xfrm>
            <a:off x="1571625" y="6374903"/>
            <a:ext cx="333375" cy="276225"/>
          </a:xfrm>
          <a:prstGeom prst="rect">
            <a:avLst/>
          </a:prstGeom>
          <a:noFill/>
          <a:ln>
            <a:noFill/>
          </a:ln>
        </p:spPr>
      </p:pic>
      <p:sp>
        <p:nvSpPr>
          <p:cNvPr id="201" name="Google Shape;201;p21"/>
          <p:cNvSpPr txBox="1"/>
          <p:nvPr/>
        </p:nvSpPr>
        <p:spPr>
          <a:xfrm>
            <a:off x="571500" y="-779859"/>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Key Enzymes in Replication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5" name="Shape 205"/>
        <p:cNvGrpSpPr/>
        <p:nvPr/>
      </p:nvGrpSpPr>
      <p:grpSpPr>
        <a:xfrm>
          <a:off x="0" y="0"/>
          <a:ext cx="0" cy="0"/>
          <a:chOff x="0" y="0"/>
          <a:chExt cx="0" cy="0"/>
        </a:xfrm>
      </p:grpSpPr>
      <p:sp>
        <p:nvSpPr>
          <p:cNvPr id="206" name="Google Shape;206;p22"/>
          <p:cNvSpPr/>
          <p:nvPr/>
        </p:nvSpPr>
        <p:spPr>
          <a:xfrm>
            <a:off x="1333500" y="201223"/>
            <a:ext cx="9525000" cy="1405500"/>
          </a:xfrm>
          <a:prstGeom prst="roundRect">
            <a:avLst>
              <a:gd fmla="val 4296"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2"/>
          <p:cNvSpPr txBox="1"/>
          <p:nvPr/>
        </p:nvSpPr>
        <p:spPr>
          <a:xfrm>
            <a:off x="2000250" y="439340"/>
            <a:ext cx="86202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Helicase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Unzips the DNA double helix by breaking the hydrogen bonds between base pairs, creating the replication fork.</a:t>
            </a:r>
            <a:endParaRPr/>
          </a:p>
        </p:txBody>
      </p:sp>
      <p:sp>
        <p:nvSpPr>
          <p:cNvPr id="208" name="Google Shape;208;p22"/>
          <p:cNvSpPr/>
          <p:nvPr/>
        </p:nvSpPr>
        <p:spPr>
          <a:xfrm flipH="1">
            <a:off x="1368137" y="201222"/>
            <a:ext cx="47700" cy="12618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2"/>
          <p:cNvSpPr/>
          <p:nvPr/>
        </p:nvSpPr>
        <p:spPr>
          <a:xfrm>
            <a:off x="1333500" y="1585759"/>
            <a:ext cx="9525000" cy="1468500"/>
          </a:xfrm>
          <a:prstGeom prst="roundRect">
            <a:avLst>
              <a:gd fmla="val 5188"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2"/>
          <p:cNvSpPr txBox="1"/>
          <p:nvPr/>
        </p:nvSpPr>
        <p:spPr>
          <a:xfrm>
            <a:off x="2000250" y="1823884"/>
            <a:ext cx="8620200" cy="11544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Primase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Synthesizes a short RNA primer, providing a starting point for DNA synthesis.</a:t>
            </a:r>
            <a:endParaRPr b="0" i="0" sz="1500" u="none" cap="none" strike="noStrike">
              <a:solidFill>
                <a:srgbClr val="475569"/>
              </a:solidFill>
              <a:latin typeface="Lato"/>
              <a:ea typeface="Lato"/>
              <a:cs typeface="Lato"/>
              <a:sym typeface="Lato"/>
            </a:endParaRPr>
          </a:p>
          <a:p>
            <a:pPr indent="0" lvl="0" marL="0" marR="0" rtl="0" algn="l">
              <a:lnSpc>
                <a:spcPct val="133333"/>
              </a:lnSpc>
              <a:spcBef>
                <a:spcPts val="0"/>
              </a:spcBef>
              <a:spcAft>
                <a:spcPts val="0"/>
              </a:spcAft>
              <a:buNone/>
            </a:pPr>
            <a:r>
              <a:rPr lang="en-US" sz="1500">
                <a:solidFill>
                  <a:srgbClr val="475569"/>
                </a:solidFill>
                <a:latin typeface="Lato"/>
                <a:ea typeface="Lato"/>
                <a:cs typeface="Lato"/>
                <a:sym typeface="Lato"/>
              </a:rPr>
              <a:t>DNA:         ACGATCAGCTAGCA…</a:t>
            </a:r>
            <a:br>
              <a:rPr lang="en-US" sz="1500">
                <a:solidFill>
                  <a:srgbClr val="475569"/>
                </a:solidFill>
                <a:latin typeface="Lato"/>
                <a:ea typeface="Lato"/>
                <a:cs typeface="Lato"/>
                <a:sym typeface="Lato"/>
              </a:rPr>
            </a:br>
            <a:r>
              <a:rPr lang="en-US" sz="1500">
                <a:solidFill>
                  <a:srgbClr val="475569"/>
                </a:solidFill>
                <a:latin typeface="Lato"/>
                <a:ea typeface="Lato"/>
                <a:cs typeface="Lato"/>
                <a:sym typeface="Lato"/>
              </a:rPr>
              <a:t>Primer:    </a:t>
            </a:r>
            <a:r>
              <a:rPr lang="en-US" sz="1500">
                <a:solidFill>
                  <a:srgbClr val="FF00FF"/>
                </a:solidFill>
                <a:latin typeface="Lato"/>
                <a:ea typeface="Lato"/>
                <a:cs typeface="Lato"/>
                <a:sym typeface="Lato"/>
              </a:rPr>
              <a:t>UGCUA</a:t>
            </a:r>
            <a:endParaRPr sz="1500">
              <a:solidFill>
                <a:srgbClr val="FF00FF"/>
              </a:solidFill>
              <a:latin typeface="Lato"/>
              <a:ea typeface="Lato"/>
              <a:cs typeface="Lato"/>
              <a:sym typeface="Lato"/>
            </a:endParaRPr>
          </a:p>
        </p:txBody>
      </p:sp>
      <p:sp>
        <p:nvSpPr>
          <p:cNvPr id="211" name="Google Shape;211;p22"/>
          <p:cNvSpPr/>
          <p:nvPr/>
        </p:nvSpPr>
        <p:spPr>
          <a:xfrm>
            <a:off x="1333500" y="1585759"/>
            <a:ext cx="47700" cy="14685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2"/>
          <p:cNvSpPr/>
          <p:nvPr/>
        </p:nvSpPr>
        <p:spPr>
          <a:xfrm>
            <a:off x="1333500" y="3292520"/>
            <a:ext cx="9525000" cy="1468500"/>
          </a:xfrm>
          <a:prstGeom prst="roundRect">
            <a:avLst>
              <a:gd fmla="val 5188"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2"/>
          <p:cNvSpPr txBox="1"/>
          <p:nvPr/>
        </p:nvSpPr>
        <p:spPr>
          <a:xfrm>
            <a:off x="2000250" y="3530645"/>
            <a:ext cx="8620200" cy="11544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DNA Polymerase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Binds to the primer and adds complementary nucleotides to build the new, growing DNA strand.</a:t>
            </a:r>
            <a:endParaRPr b="0" i="0" sz="1500" u="none" cap="none" strike="noStrike">
              <a:solidFill>
                <a:srgbClr val="475569"/>
              </a:solidFill>
              <a:latin typeface="Lato"/>
              <a:ea typeface="Lato"/>
              <a:cs typeface="Lato"/>
              <a:sym typeface="Lato"/>
            </a:endParaRPr>
          </a:p>
          <a:p>
            <a:pPr indent="0" lvl="0" marL="0" rtl="0" algn="l">
              <a:lnSpc>
                <a:spcPct val="133333"/>
              </a:lnSpc>
              <a:spcBef>
                <a:spcPts val="0"/>
              </a:spcBef>
              <a:spcAft>
                <a:spcPts val="0"/>
              </a:spcAft>
              <a:buNone/>
            </a:pPr>
            <a:r>
              <a:rPr lang="en-US" sz="1500">
                <a:solidFill>
                  <a:srgbClr val="475569"/>
                </a:solidFill>
                <a:latin typeface="Lato"/>
                <a:ea typeface="Lato"/>
                <a:cs typeface="Lato"/>
                <a:sym typeface="Lato"/>
              </a:rPr>
              <a:t>DNA:         ACGATCAGCTAGCA…</a:t>
            </a:r>
            <a:br>
              <a:rPr lang="en-US" sz="1500">
                <a:solidFill>
                  <a:srgbClr val="475569"/>
                </a:solidFill>
                <a:latin typeface="Lato"/>
                <a:ea typeface="Lato"/>
                <a:cs typeface="Lato"/>
                <a:sym typeface="Lato"/>
              </a:rPr>
            </a:br>
            <a:r>
              <a:rPr lang="en-US" sz="1500">
                <a:solidFill>
                  <a:srgbClr val="475569"/>
                </a:solidFill>
                <a:latin typeface="Lato"/>
                <a:ea typeface="Lato"/>
                <a:cs typeface="Lato"/>
                <a:sym typeface="Lato"/>
              </a:rPr>
              <a:t>Primer:    </a:t>
            </a:r>
            <a:r>
              <a:rPr lang="en-US" sz="1500">
                <a:solidFill>
                  <a:srgbClr val="FF00FF"/>
                </a:solidFill>
                <a:latin typeface="Lato"/>
                <a:ea typeface="Lato"/>
                <a:cs typeface="Lato"/>
                <a:sym typeface="Lato"/>
              </a:rPr>
              <a:t>UGCUA</a:t>
            </a:r>
            <a:r>
              <a:rPr lang="en-US" sz="1500">
                <a:solidFill>
                  <a:schemeClr val="dk1"/>
                </a:solidFill>
                <a:latin typeface="Lato"/>
                <a:ea typeface="Lato"/>
                <a:cs typeface="Lato"/>
                <a:sym typeface="Lato"/>
              </a:rPr>
              <a:t>GTCGATCGT…</a:t>
            </a:r>
            <a:endParaRPr sz="1500">
              <a:solidFill>
                <a:schemeClr val="dk1"/>
              </a:solidFill>
              <a:latin typeface="Lato"/>
              <a:ea typeface="Lato"/>
              <a:cs typeface="Lato"/>
              <a:sym typeface="Lato"/>
            </a:endParaRPr>
          </a:p>
        </p:txBody>
      </p:sp>
      <p:sp>
        <p:nvSpPr>
          <p:cNvPr id="214" name="Google Shape;214;p22"/>
          <p:cNvSpPr/>
          <p:nvPr/>
        </p:nvSpPr>
        <p:spPr>
          <a:xfrm>
            <a:off x="1333500" y="3292520"/>
            <a:ext cx="47700" cy="14685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22"/>
          <p:cNvSpPr/>
          <p:nvPr/>
        </p:nvSpPr>
        <p:spPr>
          <a:xfrm>
            <a:off x="1333500" y="4999281"/>
            <a:ext cx="9525000" cy="1773300"/>
          </a:xfrm>
          <a:prstGeom prst="roundRect">
            <a:avLst>
              <a:gd fmla="val 4296"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2"/>
          <p:cNvSpPr txBox="1"/>
          <p:nvPr/>
        </p:nvSpPr>
        <p:spPr>
          <a:xfrm>
            <a:off x="2000250" y="5237406"/>
            <a:ext cx="8620200" cy="8466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1" i="0" lang="en-US" sz="1500" u="none" cap="none" strike="noStrike">
                <a:solidFill>
                  <a:srgbClr val="0F172A"/>
                </a:solidFill>
                <a:latin typeface="Lato"/>
                <a:ea typeface="Lato"/>
                <a:cs typeface="Lato"/>
                <a:sym typeface="Lato"/>
              </a:rPr>
              <a:t>Ligase</a:t>
            </a:r>
            <a:r>
              <a:rPr b="0" i="0" lang="en-US" sz="1500" u="none" cap="none" strike="noStrike">
                <a:solidFill>
                  <a:srgbClr val="475569"/>
                </a:solidFill>
                <a:latin typeface="Lato"/>
                <a:ea typeface="Lato"/>
                <a:cs typeface="Lato"/>
                <a:sym typeface="Lato"/>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Seals the gaps between Okazaki fragments on the lagging strand, ensuring a continuous sugar-phosphate backbone.</a:t>
            </a:r>
            <a:endParaRPr/>
          </a:p>
        </p:txBody>
      </p:sp>
      <p:sp>
        <p:nvSpPr>
          <p:cNvPr id="217" name="Google Shape;217;p22"/>
          <p:cNvSpPr/>
          <p:nvPr/>
        </p:nvSpPr>
        <p:spPr>
          <a:xfrm>
            <a:off x="1333500" y="4999281"/>
            <a:ext cx="47700" cy="1773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8" name="Google Shape;218;p22"/>
          <p:cNvPicPr preferRelativeResize="0"/>
          <p:nvPr/>
        </p:nvPicPr>
        <p:blipFill rotWithShape="1">
          <a:blip r:embed="rId3">
            <a:alphaModFix/>
          </a:blip>
          <a:srcRect b="0" l="0" r="0" t="0"/>
          <a:stretch/>
        </p:blipFill>
        <p:spPr>
          <a:xfrm>
            <a:off x="1571625" y="949821"/>
            <a:ext cx="266700" cy="276225"/>
          </a:xfrm>
          <a:prstGeom prst="rect">
            <a:avLst/>
          </a:prstGeom>
          <a:noFill/>
          <a:ln>
            <a:noFill/>
          </a:ln>
        </p:spPr>
      </p:pic>
      <p:pic>
        <p:nvPicPr>
          <p:cNvPr descr="image.png" id="219" name="Google Shape;219;p22"/>
          <p:cNvPicPr preferRelativeResize="0"/>
          <p:nvPr/>
        </p:nvPicPr>
        <p:blipFill rotWithShape="1">
          <a:blip r:embed="rId4">
            <a:alphaModFix/>
          </a:blip>
          <a:srcRect b="0" l="0" r="0" t="0"/>
          <a:stretch/>
        </p:blipFill>
        <p:spPr>
          <a:xfrm>
            <a:off x="1571625" y="2181965"/>
            <a:ext cx="304800" cy="276225"/>
          </a:xfrm>
          <a:prstGeom prst="rect">
            <a:avLst/>
          </a:prstGeom>
          <a:noFill/>
          <a:ln>
            <a:noFill/>
          </a:ln>
        </p:spPr>
      </p:pic>
      <p:pic>
        <p:nvPicPr>
          <p:cNvPr descr="image.png" id="220" name="Google Shape;220;p22"/>
          <p:cNvPicPr preferRelativeResize="0"/>
          <p:nvPr/>
        </p:nvPicPr>
        <p:blipFill rotWithShape="1">
          <a:blip r:embed="rId5">
            <a:alphaModFix/>
          </a:blip>
          <a:srcRect b="0" l="0" r="0" t="0"/>
          <a:stretch/>
        </p:blipFill>
        <p:spPr>
          <a:xfrm>
            <a:off x="1571625" y="3888725"/>
            <a:ext cx="304800" cy="276225"/>
          </a:xfrm>
          <a:prstGeom prst="rect">
            <a:avLst/>
          </a:prstGeom>
          <a:noFill/>
          <a:ln>
            <a:noFill/>
          </a:ln>
        </p:spPr>
      </p:pic>
      <p:sp>
        <p:nvSpPr>
          <p:cNvPr id="221" name="Google Shape;221;p22"/>
          <p:cNvSpPr txBox="1"/>
          <p:nvPr/>
        </p:nvSpPr>
        <p:spPr>
          <a:xfrm>
            <a:off x="571500" y="-779859"/>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Key Enzymes in Replication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5" name="Shape 225"/>
        <p:cNvGrpSpPr/>
        <p:nvPr/>
      </p:nvGrpSpPr>
      <p:grpSpPr>
        <a:xfrm>
          <a:off x="0" y="0"/>
          <a:ext cx="0" cy="0"/>
          <a:chOff x="0" y="0"/>
          <a:chExt cx="0" cy="0"/>
        </a:xfrm>
      </p:grpSpPr>
      <p:pic>
        <p:nvPicPr>
          <p:cNvPr descr="image.png" id="226" name="Google Shape;22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7" name="Google Shape;227;p23"/>
          <p:cNvSpPr/>
          <p:nvPr/>
        </p:nvSpPr>
        <p:spPr>
          <a:xfrm>
            <a:off x="5524500" y="2583209"/>
            <a:ext cx="1143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3"/>
          <p:cNvSpPr txBox="1"/>
          <p:nvPr/>
        </p:nvSpPr>
        <p:spPr>
          <a:xfrm>
            <a:off x="2730579" y="2926109"/>
            <a:ext cx="6730841"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Poppins"/>
                <a:ea typeface="Poppins"/>
                <a:cs typeface="Poppins"/>
                <a:sym typeface="Poppins"/>
              </a:rPr>
              <a:t>Part 3: Transcription</a:t>
            </a:r>
            <a:endParaRPr/>
          </a:p>
        </p:txBody>
      </p:sp>
      <p:sp>
        <p:nvSpPr>
          <p:cNvPr id="229" name="Google Shape;229;p23"/>
          <p:cNvSpPr txBox="1"/>
          <p:nvPr/>
        </p:nvSpPr>
        <p:spPr>
          <a:xfrm>
            <a:off x="5395912" y="4021484"/>
            <a:ext cx="140017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475569"/>
                </a:solidFill>
                <a:latin typeface="Lato"/>
                <a:ea typeface="Lato"/>
                <a:cs typeface="Lato"/>
                <a:sym typeface="Lato"/>
              </a:rPr>
              <a:t>DNA to RNA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3" name="Shape 233"/>
        <p:cNvGrpSpPr/>
        <p:nvPr/>
      </p:nvGrpSpPr>
      <p:grpSpPr>
        <a:xfrm>
          <a:off x="0" y="0"/>
          <a:ext cx="0" cy="0"/>
          <a:chOff x="0" y="0"/>
          <a:chExt cx="0" cy="0"/>
        </a:xfrm>
      </p:grpSpPr>
      <p:pic>
        <p:nvPicPr>
          <p:cNvPr descr="image.png" id="234" name="Google Shape;234;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5" name="Google Shape;235;p24"/>
          <p:cNvPicPr preferRelativeResize="0"/>
          <p:nvPr/>
        </p:nvPicPr>
        <p:blipFill rotWithShape="1">
          <a:blip r:embed="rId4">
            <a:alphaModFix/>
          </a:blip>
          <a:srcRect b="0" l="0" r="0" t="0"/>
          <a:stretch/>
        </p:blipFill>
        <p:spPr>
          <a:xfrm>
            <a:off x="571500" y="1995487"/>
            <a:ext cx="3492549" cy="3848100"/>
          </a:xfrm>
          <a:prstGeom prst="rect">
            <a:avLst/>
          </a:prstGeom>
          <a:noFill/>
          <a:ln>
            <a:noFill/>
          </a:ln>
        </p:spPr>
      </p:pic>
      <p:pic>
        <p:nvPicPr>
          <p:cNvPr descr="image.png" id="236" name="Google Shape;236;p24"/>
          <p:cNvPicPr preferRelativeResize="0"/>
          <p:nvPr/>
        </p:nvPicPr>
        <p:blipFill rotWithShape="1">
          <a:blip r:embed="rId5">
            <a:alphaModFix/>
          </a:blip>
          <a:srcRect b="0" l="0" r="0" t="0"/>
          <a:stretch/>
        </p:blipFill>
        <p:spPr>
          <a:xfrm>
            <a:off x="4349799" y="1995487"/>
            <a:ext cx="3492549" cy="3848100"/>
          </a:xfrm>
          <a:prstGeom prst="rect">
            <a:avLst/>
          </a:prstGeom>
          <a:noFill/>
          <a:ln>
            <a:noFill/>
          </a:ln>
        </p:spPr>
      </p:pic>
      <p:pic>
        <p:nvPicPr>
          <p:cNvPr descr="image.png" id="237" name="Google Shape;237;p24"/>
          <p:cNvPicPr preferRelativeResize="0"/>
          <p:nvPr/>
        </p:nvPicPr>
        <p:blipFill rotWithShape="1">
          <a:blip r:embed="rId6">
            <a:alphaModFix/>
          </a:blip>
          <a:srcRect b="0" l="0" r="0" t="0"/>
          <a:stretch/>
        </p:blipFill>
        <p:spPr>
          <a:xfrm>
            <a:off x="8128099" y="1995487"/>
            <a:ext cx="3492549" cy="3848100"/>
          </a:xfrm>
          <a:prstGeom prst="rect">
            <a:avLst/>
          </a:prstGeom>
          <a:noFill/>
          <a:ln>
            <a:noFill/>
          </a:ln>
        </p:spPr>
      </p:pic>
      <p:sp>
        <p:nvSpPr>
          <p:cNvPr id="238" name="Google Shape;238;p24"/>
          <p:cNvSpPr txBox="1"/>
          <p:nvPr/>
        </p:nvSpPr>
        <p:spPr>
          <a:xfrm>
            <a:off x="1672619" y="3243262"/>
            <a:ext cx="1290161"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Initiation</a:t>
            </a:r>
            <a:endParaRPr/>
          </a:p>
        </p:txBody>
      </p:sp>
      <p:sp>
        <p:nvSpPr>
          <p:cNvPr id="239" name="Google Shape;239;p24"/>
          <p:cNvSpPr txBox="1"/>
          <p:nvPr/>
        </p:nvSpPr>
        <p:spPr>
          <a:xfrm>
            <a:off x="866775" y="3786187"/>
            <a:ext cx="2901999"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RNA Polymerase recognizes and binds to a specific promoter sequence on the DNA, unwinding a small portion of the helix to begin synthesis.</a:t>
            </a:r>
            <a:endParaRPr/>
          </a:p>
        </p:txBody>
      </p:sp>
      <p:sp>
        <p:nvSpPr>
          <p:cNvPr id="240" name="Google Shape;240;p24"/>
          <p:cNvSpPr txBox="1"/>
          <p:nvPr/>
        </p:nvSpPr>
        <p:spPr>
          <a:xfrm>
            <a:off x="5325903" y="3243262"/>
            <a:ext cx="1540192"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Elongation</a:t>
            </a:r>
            <a:endParaRPr/>
          </a:p>
        </p:txBody>
      </p:sp>
      <p:sp>
        <p:nvSpPr>
          <p:cNvPr id="241" name="Google Shape;241;p24"/>
          <p:cNvSpPr txBox="1"/>
          <p:nvPr/>
        </p:nvSpPr>
        <p:spPr>
          <a:xfrm>
            <a:off x="4645074" y="3786187"/>
            <a:ext cx="2901999"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polymerase enzyme moves along the template strand, accurately assembling the RNA transcript using complementary base pairing.</a:t>
            </a:r>
            <a:endParaRPr/>
          </a:p>
        </p:txBody>
      </p:sp>
      <p:sp>
        <p:nvSpPr>
          <p:cNvPr id="242" name="Google Shape;242;p24"/>
          <p:cNvSpPr txBox="1"/>
          <p:nvPr/>
        </p:nvSpPr>
        <p:spPr>
          <a:xfrm>
            <a:off x="8994189" y="3243262"/>
            <a:ext cx="176022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Termination</a:t>
            </a:r>
            <a:endParaRPr/>
          </a:p>
        </p:txBody>
      </p:sp>
      <p:sp>
        <p:nvSpPr>
          <p:cNvPr id="243" name="Google Shape;243;p24"/>
          <p:cNvSpPr txBox="1"/>
          <p:nvPr/>
        </p:nvSpPr>
        <p:spPr>
          <a:xfrm>
            <a:off x="8423374" y="37861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Upon reaching a terminator sequence, the polymerase detaches from the template, and the newly formed RNA strand is released.</a:t>
            </a:r>
            <a:endParaRPr/>
          </a:p>
        </p:txBody>
      </p:sp>
      <p:pic>
        <p:nvPicPr>
          <p:cNvPr descr="image.png" id="244" name="Google Shape;244;p24"/>
          <p:cNvPicPr preferRelativeResize="0"/>
          <p:nvPr/>
        </p:nvPicPr>
        <p:blipFill rotWithShape="1">
          <a:blip r:embed="rId7">
            <a:alphaModFix/>
          </a:blip>
          <a:srcRect b="0" l="0" r="0" t="0"/>
          <a:stretch/>
        </p:blipFill>
        <p:spPr>
          <a:xfrm>
            <a:off x="2122437" y="2443162"/>
            <a:ext cx="390525" cy="514350"/>
          </a:xfrm>
          <a:prstGeom prst="rect">
            <a:avLst/>
          </a:prstGeom>
          <a:noFill/>
          <a:ln>
            <a:noFill/>
          </a:ln>
        </p:spPr>
      </p:pic>
      <p:pic>
        <p:nvPicPr>
          <p:cNvPr descr="image.png" id="245" name="Google Shape;245;p24"/>
          <p:cNvPicPr preferRelativeResize="0"/>
          <p:nvPr/>
        </p:nvPicPr>
        <p:blipFill rotWithShape="1">
          <a:blip r:embed="rId8">
            <a:alphaModFix/>
          </a:blip>
          <a:srcRect b="0" l="0" r="0" t="0"/>
          <a:stretch/>
        </p:blipFill>
        <p:spPr>
          <a:xfrm>
            <a:off x="5838825" y="2443162"/>
            <a:ext cx="514350" cy="514350"/>
          </a:xfrm>
          <a:prstGeom prst="rect">
            <a:avLst/>
          </a:prstGeom>
          <a:noFill/>
          <a:ln>
            <a:noFill/>
          </a:ln>
        </p:spPr>
      </p:pic>
      <p:pic>
        <p:nvPicPr>
          <p:cNvPr descr="image.png" id="246" name="Google Shape;246;p24"/>
          <p:cNvPicPr preferRelativeResize="0"/>
          <p:nvPr/>
        </p:nvPicPr>
        <p:blipFill rotWithShape="1">
          <a:blip r:embed="rId9">
            <a:alphaModFix/>
          </a:blip>
          <a:srcRect b="0" l="0" r="0" t="0"/>
          <a:stretch/>
        </p:blipFill>
        <p:spPr>
          <a:xfrm>
            <a:off x="9679037" y="2443162"/>
            <a:ext cx="390525" cy="514350"/>
          </a:xfrm>
          <a:prstGeom prst="rect">
            <a:avLst/>
          </a:prstGeom>
          <a:noFill/>
          <a:ln>
            <a:noFill/>
          </a:ln>
        </p:spPr>
      </p:pic>
      <p:sp>
        <p:nvSpPr>
          <p:cNvPr id="247" name="Google Shape;247;p2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Stages of Transcription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1" name="Shape 251"/>
        <p:cNvGrpSpPr/>
        <p:nvPr/>
      </p:nvGrpSpPr>
      <p:grpSpPr>
        <a:xfrm>
          <a:off x="0" y="0"/>
          <a:ext cx="0" cy="0"/>
          <a:chOff x="0" y="0"/>
          <a:chExt cx="0" cy="0"/>
        </a:xfrm>
      </p:grpSpPr>
      <p:pic>
        <p:nvPicPr>
          <p:cNvPr descr="image.png" id="252" name="Google Shape;25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3" name="Google Shape;253;p25"/>
          <p:cNvPicPr preferRelativeResize="0"/>
          <p:nvPr/>
        </p:nvPicPr>
        <p:blipFill rotWithShape="1">
          <a:blip r:embed="rId4">
            <a:alphaModFix/>
          </a:blip>
          <a:srcRect b="0" l="0" r="0" t="0"/>
          <a:stretch/>
        </p:blipFill>
        <p:spPr>
          <a:xfrm>
            <a:off x="571500" y="1657350"/>
            <a:ext cx="3492549" cy="4524375"/>
          </a:xfrm>
          <a:prstGeom prst="rect">
            <a:avLst/>
          </a:prstGeom>
          <a:noFill/>
          <a:ln>
            <a:noFill/>
          </a:ln>
        </p:spPr>
      </p:pic>
      <p:pic>
        <p:nvPicPr>
          <p:cNvPr descr="image.png" id="254" name="Google Shape;254;p25"/>
          <p:cNvPicPr preferRelativeResize="0"/>
          <p:nvPr/>
        </p:nvPicPr>
        <p:blipFill rotWithShape="1">
          <a:blip r:embed="rId5">
            <a:alphaModFix/>
          </a:blip>
          <a:srcRect b="0" l="0" r="0" t="0"/>
          <a:stretch/>
        </p:blipFill>
        <p:spPr>
          <a:xfrm>
            <a:off x="4349799" y="1657350"/>
            <a:ext cx="3492549" cy="4524375"/>
          </a:xfrm>
          <a:prstGeom prst="rect">
            <a:avLst/>
          </a:prstGeom>
          <a:noFill/>
          <a:ln>
            <a:noFill/>
          </a:ln>
        </p:spPr>
      </p:pic>
      <p:pic>
        <p:nvPicPr>
          <p:cNvPr descr="image.png" id="255" name="Google Shape;255;p25"/>
          <p:cNvPicPr preferRelativeResize="0"/>
          <p:nvPr/>
        </p:nvPicPr>
        <p:blipFill rotWithShape="1">
          <a:blip r:embed="rId6">
            <a:alphaModFix/>
          </a:blip>
          <a:srcRect b="0" l="0" r="0" t="0"/>
          <a:stretch/>
        </p:blipFill>
        <p:spPr>
          <a:xfrm>
            <a:off x="8128099" y="1657350"/>
            <a:ext cx="3492549" cy="4524375"/>
          </a:xfrm>
          <a:prstGeom prst="rect">
            <a:avLst/>
          </a:prstGeom>
          <a:noFill/>
          <a:ln>
            <a:noFill/>
          </a:ln>
        </p:spPr>
      </p:pic>
      <p:pic>
        <p:nvPicPr>
          <p:cNvPr descr="image.png" id="256" name="Google Shape;256;p25"/>
          <p:cNvPicPr preferRelativeResize="0"/>
          <p:nvPr/>
        </p:nvPicPr>
        <p:blipFill rotWithShape="1">
          <a:blip r:embed="rId7">
            <a:alphaModFix/>
          </a:blip>
          <a:srcRect b="0" l="0" r="0" t="0"/>
          <a:stretch/>
        </p:blipFill>
        <p:spPr>
          <a:xfrm>
            <a:off x="771525" y="1857375"/>
            <a:ext cx="3092499" cy="2286000"/>
          </a:xfrm>
          <a:prstGeom prst="rect">
            <a:avLst/>
          </a:prstGeom>
          <a:noFill/>
          <a:ln>
            <a:noFill/>
          </a:ln>
        </p:spPr>
      </p:pic>
      <p:pic>
        <p:nvPicPr>
          <p:cNvPr descr="image.png" id="257" name="Google Shape;257;p25"/>
          <p:cNvPicPr preferRelativeResize="0"/>
          <p:nvPr/>
        </p:nvPicPr>
        <p:blipFill rotWithShape="1">
          <a:blip r:embed="rId8">
            <a:alphaModFix/>
          </a:blip>
          <a:srcRect b="0" l="0" r="0" t="0"/>
          <a:stretch/>
        </p:blipFill>
        <p:spPr>
          <a:xfrm>
            <a:off x="4549824" y="1857375"/>
            <a:ext cx="3092499" cy="2286000"/>
          </a:xfrm>
          <a:prstGeom prst="rect">
            <a:avLst/>
          </a:prstGeom>
          <a:noFill/>
          <a:ln>
            <a:noFill/>
          </a:ln>
        </p:spPr>
      </p:pic>
      <p:pic>
        <p:nvPicPr>
          <p:cNvPr descr="image.png" id="258" name="Google Shape;258;p25"/>
          <p:cNvPicPr preferRelativeResize="0"/>
          <p:nvPr/>
        </p:nvPicPr>
        <p:blipFill rotWithShape="1">
          <a:blip r:embed="rId9">
            <a:alphaModFix/>
          </a:blip>
          <a:srcRect b="0" l="0" r="0" t="0"/>
          <a:stretch/>
        </p:blipFill>
        <p:spPr>
          <a:xfrm>
            <a:off x="8328124" y="1857375"/>
            <a:ext cx="3092499" cy="2286000"/>
          </a:xfrm>
          <a:prstGeom prst="rect">
            <a:avLst/>
          </a:prstGeom>
          <a:noFill/>
          <a:ln>
            <a:noFill/>
          </a:ln>
        </p:spPr>
      </p:pic>
      <p:sp>
        <p:nvSpPr>
          <p:cNvPr id="259" name="Google Shape;259;p25"/>
          <p:cNvSpPr txBox="1"/>
          <p:nvPr/>
        </p:nvSpPr>
        <p:spPr>
          <a:xfrm>
            <a:off x="694212" y="4381500"/>
            <a:ext cx="3247124"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Messenger (mRNA)</a:t>
            </a:r>
            <a:endParaRPr/>
          </a:p>
        </p:txBody>
      </p:sp>
      <p:sp>
        <p:nvSpPr>
          <p:cNvPr id="260" name="Google Shape;260;p25"/>
          <p:cNvSpPr txBox="1"/>
          <p:nvPr/>
        </p:nvSpPr>
        <p:spPr>
          <a:xfrm>
            <a:off x="771525" y="4924425"/>
            <a:ext cx="309249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Carries the vital genetic instructions copied from DNA out to the ribosomes in the cytoplasm.</a:t>
            </a:r>
            <a:endParaRPr/>
          </a:p>
        </p:txBody>
      </p:sp>
      <p:sp>
        <p:nvSpPr>
          <p:cNvPr id="261" name="Google Shape;261;p25"/>
          <p:cNvSpPr txBox="1"/>
          <p:nvPr/>
        </p:nvSpPr>
        <p:spPr>
          <a:xfrm>
            <a:off x="4472512" y="4381500"/>
            <a:ext cx="3247124"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Transfer (tRNA)</a:t>
            </a:r>
            <a:endParaRPr/>
          </a:p>
        </p:txBody>
      </p:sp>
      <p:sp>
        <p:nvSpPr>
          <p:cNvPr id="262" name="Google Shape;262;p25"/>
          <p:cNvSpPr txBox="1"/>
          <p:nvPr/>
        </p:nvSpPr>
        <p:spPr>
          <a:xfrm>
            <a:off x="4549824" y="4924425"/>
            <a:ext cx="309249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Matches specific individual amino acids to the corresponding mRNA codons during protein synthesis.</a:t>
            </a:r>
            <a:endParaRPr/>
          </a:p>
        </p:txBody>
      </p:sp>
      <p:sp>
        <p:nvSpPr>
          <p:cNvPr id="263" name="Google Shape;263;p25"/>
          <p:cNvSpPr txBox="1"/>
          <p:nvPr/>
        </p:nvSpPr>
        <p:spPr>
          <a:xfrm>
            <a:off x="8250811" y="4381500"/>
            <a:ext cx="3247124"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Ribosomal (rRNA)</a:t>
            </a:r>
            <a:endParaRPr/>
          </a:p>
        </p:txBody>
      </p:sp>
      <p:sp>
        <p:nvSpPr>
          <p:cNvPr id="264" name="Google Shape;264;p25"/>
          <p:cNvSpPr txBox="1"/>
          <p:nvPr/>
        </p:nvSpPr>
        <p:spPr>
          <a:xfrm>
            <a:off x="8328124" y="4924425"/>
            <a:ext cx="309249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Forms the core physical framework and provides the crucial catalytic activity of the ribosome.</a:t>
            </a:r>
            <a:endParaRPr/>
          </a:p>
        </p:txBody>
      </p:sp>
      <p:pic>
        <p:nvPicPr>
          <p:cNvPr descr="image.png" id="265" name="Google Shape;265;p25"/>
          <p:cNvPicPr preferRelativeResize="0"/>
          <p:nvPr/>
        </p:nvPicPr>
        <p:blipFill rotWithShape="1">
          <a:blip r:embed="rId10">
            <a:alphaModFix/>
          </a:blip>
          <a:srcRect b="0" l="0" r="0" t="0"/>
          <a:stretch/>
        </p:blipFill>
        <p:spPr>
          <a:xfrm>
            <a:off x="781050" y="1866900"/>
            <a:ext cx="3073449" cy="2266950"/>
          </a:xfrm>
          <a:prstGeom prst="rect">
            <a:avLst/>
          </a:prstGeom>
          <a:noFill/>
          <a:ln>
            <a:noFill/>
          </a:ln>
        </p:spPr>
      </p:pic>
      <p:pic>
        <p:nvPicPr>
          <p:cNvPr descr="image.png" id="266" name="Google Shape;266;p25"/>
          <p:cNvPicPr preferRelativeResize="0"/>
          <p:nvPr/>
        </p:nvPicPr>
        <p:blipFill rotWithShape="1">
          <a:blip r:embed="rId11">
            <a:alphaModFix/>
          </a:blip>
          <a:srcRect b="0" l="0" r="0" t="0"/>
          <a:stretch/>
        </p:blipFill>
        <p:spPr>
          <a:xfrm>
            <a:off x="4559349" y="1866900"/>
            <a:ext cx="3073449" cy="2266950"/>
          </a:xfrm>
          <a:prstGeom prst="rect">
            <a:avLst/>
          </a:prstGeom>
          <a:noFill/>
          <a:ln>
            <a:noFill/>
          </a:ln>
        </p:spPr>
      </p:pic>
      <p:pic>
        <p:nvPicPr>
          <p:cNvPr descr="image.png" id="267" name="Google Shape;267;p25"/>
          <p:cNvPicPr preferRelativeResize="0"/>
          <p:nvPr/>
        </p:nvPicPr>
        <p:blipFill rotWithShape="1">
          <a:blip r:embed="rId12">
            <a:alphaModFix/>
          </a:blip>
          <a:srcRect b="0" l="0" r="0" t="0"/>
          <a:stretch/>
        </p:blipFill>
        <p:spPr>
          <a:xfrm>
            <a:off x="8337649" y="1866900"/>
            <a:ext cx="3073449" cy="2266950"/>
          </a:xfrm>
          <a:prstGeom prst="rect">
            <a:avLst/>
          </a:prstGeom>
          <a:noFill/>
          <a:ln>
            <a:noFill/>
          </a:ln>
        </p:spPr>
      </p:pic>
      <p:sp>
        <p:nvSpPr>
          <p:cNvPr id="268" name="Google Shape;268;p2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Three Types of RNA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2" name="Shape 272"/>
        <p:cNvGrpSpPr/>
        <p:nvPr/>
      </p:nvGrpSpPr>
      <p:grpSpPr>
        <a:xfrm>
          <a:off x="0" y="0"/>
          <a:ext cx="0" cy="0"/>
          <a:chOff x="0" y="0"/>
          <a:chExt cx="0" cy="0"/>
        </a:xfrm>
      </p:grpSpPr>
      <p:pic>
        <p:nvPicPr>
          <p:cNvPr descr="image.png" id="273" name="Google Shape;273;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4" name="Google Shape;274;p26"/>
          <p:cNvSpPr/>
          <p:nvPr/>
        </p:nvSpPr>
        <p:spPr>
          <a:xfrm>
            <a:off x="5524500" y="2583209"/>
            <a:ext cx="1143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6"/>
          <p:cNvSpPr txBox="1"/>
          <p:nvPr/>
        </p:nvSpPr>
        <p:spPr>
          <a:xfrm>
            <a:off x="3040618" y="2926109"/>
            <a:ext cx="6110763"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Poppins"/>
                <a:ea typeface="Poppins"/>
                <a:cs typeface="Poppins"/>
                <a:sym typeface="Poppins"/>
              </a:rPr>
              <a:t>Part 4: Translation</a:t>
            </a:r>
            <a:endParaRPr/>
          </a:p>
        </p:txBody>
      </p:sp>
      <p:sp>
        <p:nvSpPr>
          <p:cNvPr id="276" name="Google Shape;276;p26"/>
          <p:cNvSpPr txBox="1"/>
          <p:nvPr/>
        </p:nvSpPr>
        <p:spPr>
          <a:xfrm>
            <a:off x="5267325" y="4021484"/>
            <a:ext cx="165735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475569"/>
                </a:solidFill>
                <a:latin typeface="Lato"/>
                <a:ea typeface="Lato"/>
                <a:cs typeface="Lato"/>
                <a:sym typeface="Lato"/>
              </a:rPr>
              <a:t>RNA to Protein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0" name="Shape 280"/>
        <p:cNvGrpSpPr/>
        <p:nvPr/>
      </p:nvGrpSpPr>
      <p:grpSpPr>
        <a:xfrm>
          <a:off x="0" y="0"/>
          <a:ext cx="0" cy="0"/>
          <a:chOff x="0" y="0"/>
          <a:chExt cx="0" cy="0"/>
        </a:xfrm>
      </p:grpSpPr>
      <p:pic>
        <p:nvPicPr>
          <p:cNvPr descr="image.png" id="281" name="Google Shape;28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2" name="Google Shape;282;p27"/>
          <p:cNvPicPr preferRelativeResize="0"/>
          <p:nvPr/>
        </p:nvPicPr>
        <p:blipFill rotWithShape="1">
          <a:blip r:embed="rId4">
            <a:alphaModFix/>
          </a:blip>
          <a:srcRect b="0" l="0" r="0" t="0"/>
          <a:stretch/>
        </p:blipFill>
        <p:spPr>
          <a:xfrm>
            <a:off x="6381750" y="2014537"/>
            <a:ext cx="5238750" cy="3810000"/>
          </a:xfrm>
          <a:prstGeom prst="rect">
            <a:avLst/>
          </a:prstGeom>
          <a:noFill/>
          <a:ln>
            <a:noFill/>
          </a:ln>
        </p:spPr>
      </p:pic>
      <p:sp>
        <p:nvSpPr>
          <p:cNvPr id="283" name="Google Shape;283;p27"/>
          <p:cNvSpPr txBox="1"/>
          <p:nvPr/>
        </p:nvSpPr>
        <p:spPr>
          <a:xfrm>
            <a:off x="571500" y="2333625"/>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Translation is the process where ribosomes synthesize proteins using the mature mRNA transcript.</a:t>
            </a:r>
            <a:endParaRPr/>
          </a:p>
        </p:txBody>
      </p:sp>
      <p:sp>
        <p:nvSpPr>
          <p:cNvPr id="284" name="Google Shape;284;p27"/>
          <p:cNvSpPr txBox="1"/>
          <p:nvPr/>
        </p:nvSpPr>
        <p:spPr>
          <a:xfrm>
            <a:off x="571500" y="308610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ribosome complex carefully assembles around the target mRNA. The very first tRNA, carrying Methionine, is attached at the start codon to initiate the process.</a:t>
            </a:r>
            <a:endParaRPr/>
          </a:p>
        </p:txBody>
      </p:sp>
      <p:sp>
        <p:nvSpPr>
          <p:cNvPr id="285" name="Google Shape;285;p27"/>
          <p:cNvSpPr txBox="1"/>
          <p:nvPr/>
        </p:nvSpPr>
        <p:spPr>
          <a:xfrm>
            <a:off x="571500" y="4143375"/>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ribosome then shifts along the mRNA, matching incoming tRNA anticodons to the mRNA codons. Each tRNA efficiently adds its specific amino acid to the growing polypeptide chain via strong peptide bonds.</a:t>
            </a:r>
            <a:endParaRPr/>
          </a:p>
        </p:txBody>
      </p:sp>
      <p:pic>
        <p:nvPicPr>
          <p:cNvPr descr="image.png" id="286" name="Google Shape;286;p27"/>
          <p:cNvPicPr preferRelativeResize="0"/>
          <p:nvPr/>
        </p:nvPicPr>
        <p:blipFill rotWithShape="1">
          <a:blip r:embed="rId5">
            <a:alphaModFix/>
          </a:blip>
          <a:srcRect b="0" l="0" r="0" t="0"/>
          <a:stretch/>
        </p:blipFill>
        <p:spPr>
          <a:xfrm>
            <a:off x="6381750" y="2014537"/>
            <a:ext cx="5238750" cy="3810000"/>
          </a:xfrm>
          <a:prstGeom prst="rect">
            <a:avLst/>
          </a:prstGeom>
          <a:noFill/>
          <a:ln>
            <a:noFill/>
          </a:ln>
        </p:spPr>
      </p:pic>
      <p:sp>
        <p:nvSpPr>
          <p:cNvPr id="287" name="Google Shape;287;p27"/>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Decoding the Message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8"/>
          <p:cNvPicPr preferRelativeResize="0"/>
          <p:nvPr/>
        </p:nvPicPr>
        <p:blipFill>
          <a:blip r:embed="rId3">
            <a:alphaModFix/>
          </a:blip>
          <a:stretch>
            <a:fillRect/>
          </a:stretch>
        </p:blipFill>
        <p:spPr>
          <a:xfrm>
            <a:off x="381750" y="780100"/>
            <a:ext cx="5257800" cy="4505325"/>
          </a:xfrm>
          <a:prstGeom prst="rect">
            <a:avLst/>
          </a:prstGeom>
          <a:noFill/>
          <a:ln>
            <a:noFill/>
          </a:ln>
        </p:spPr>
      </p:pic>
      <p:sp>
        <p:nvSpPr>
          <p:cNvPr id="293" name="Google Shape;293;p28"/>
          <p:cNvSpPr txBox="1"/>
          <p:nvPr/>
        </p:nvSpPr>
        <p:spPr>
          <a:xfrm>
            <a:off x="609600" y="5709700"/>
            <a:ext cx="1097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https://oertx.highered.texas.gov/courseware/lesson/1682/student/?section=6</a:t>
            </a:r>
            <a:endParaRPr/>
          </a:p>
        </p:txBody>
      </p:sp>
      <p:pic>
        <p:nvPicPr>
          <p:cNvPr id="294" name="Google Shape;294;p28"/>
          <p:cNvPicPr preferRelativeResize="0"/>
          <p:nvPr/>
        </p:nvPicPr>
        <p:blipFill>
          <a:blip r:embed="rId4">
            <a:alphaModFix/>
          </a:blip>
          <a:stretch>
            <a:fillRect/>
          </a:stretch>
        </p:blipFill>
        <p:spPr>
          <a:xfrm>
            <a:off x="5791950" y="152400"/>
            <a:ext cx="5531127" cy="54048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8" name="Shape 298"/>
        <p:cNvGrpSpPr/>
        <p:nvPr/>
      </p:nvGrpSpPr>
      <p:grpSpPr>
        <a:xfrm>
          <a:off x="0" y="0"/>
          <a:ext cx="0" cy="0"/>
          <a:chOff x="0" y="0"/>
          <a:chExt cx="0" cy="0"/>
        </a:xfrm>
      </p:grpSpPr>
      <p:pic>
        <p:nvPicPr>
          <p:cNvPr descr="image.png" id="299" name="Google Shape;299;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0" name="Google Shape;300;p29"/>
          <p:cNvPicPr preferRelativeResize="0"/>
          <p:nvPr/>
        </p:nvPicPr>
        <p:blipFill rotWithShape="1">
          <a:blip r:embed="rId4">
            <a:alphaModFix/>
          </a:blip>
          <a:srcRect b="0" l="0" r="0" t="0"/>
          <a:stretch/>
        </p:blipFill>
        <p:spPr>
          <a:xfrm>
            <a:off x="571500" y="1884164"/>
            <a:ext cx="11049000" cy="4070746"/>
          </a:xfrm>
          <a:prstGeom prst="rect">
            <a:avLst/>
          </a:prstGeom>
          <a:noFill/>
          <a:ln>
            <a:noFill/>
          </a:ln>
        </p:spPr>
      </p:pic>
      <p:graphicFrame>
        <p:nvGraphicFramePr>
          <p:cNvPr id="301" name="Google Shape;301;p29"/>
          <p:cNvGraphicFramePr/>
          <p:nvPr/>
        </p:nvGraphicFramePr>
        <p:xfrm>
          <a:off x="581025" y="1893689"/>
          <a:ext cx="3000000" cy="3000000"/>
        </p:xfrm>
        <a:graphic>
          <a:graphicData uri="http://schemas.openxmlformats.org/drawingml/2006/table">
            <a:tbl>
              <a:tblPr bandRow="1" firstRow="1">
                <a:noFill/>
                <a:tableStyleId>{C4C5E585-D11C-4C8A-84A9-55BB69CA2BD2}</a:tableStyleId>
              </a:tblPr>
              <a:tblGrid>
                <a:gridCol w="1883875"/>
                <a:gridCol w="2149975"/>
                <a:gridCol w="2803175"/>
                <a:gridCol w="4192925"/>
              </a:tblGrid>
              <a:tr h="1012925">
                <a:tc>
                  <a:txBody>
                    <a:bodyPr/>
                    <a:lstStyle/>
                    <a:p>
                      <a:pPr indent="0" lvl="0" marL="0" marR="0" rtl="0" algn="l">
                        <a:spcBef>
                          <a:spcPts val="0"/>
                        </a:spcBef>
                        <a:spcAft>
                          <a:spcPts val="0"/>
                        </a:spcAft>
                        <a:buNone/>
                      </a:pPr>
                      <a:r>
                        <a:rPr b="1" i="0" lang="en-US" sz="1650" u="none" cap="none" strike="noStrike">
                          <a:solidFill>
                            <a:srgbClr val="F8FAFC"/>
                          </a:solidFill>
                          <a:latin typeface="Poppins"/>
                          <a:ea typeface="Poppins"/>
                          <a:cs typeface="Poppins"/>
                          <a:sym typeface="Poppins"/>
                        </a:rPr>
                        <a:t>Codon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650" u="none" cap="none" strike="noStrike">
                          <a:solidFill>
                            <a:srgbClr val="F8FAFC"/>
                          </a:solidFill>
                          <a:latin typeface="Poppins"/>
                          <a:ea typeface="Poppins"/>
                          <a:cs typeface="Poppins"/>
                          <a:sym typeface="Poppins"/>
                        </a:rPr>
                        <a:t>RNA Sequence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650" u="none" cap="none" strike="noStrike">
                          <a:solidFill>
                            <a:srgbClr val="F8FAFC"/>
                          </a:solidFill>
                          <a:latin typeface="Poppins"/>
                          <a:ea typeface="Poppins"/>
                          <a:cs typeface="Poppins"/>
                          <a:sym typeface="Poppins"/>
                        </a:rPr>
                        <a:t>Amino Acid Assigned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650" u="none" cap="none" strike="noStrike">
                          <a:solidFill>
                            <a:srgbClr val="F8FAFC"/>
                          </a:solidFill>
                          <a:latin typeface="Poppins"/>
                          <a:ea typeface="Poppins"/>
                          <a:cs typeface="Poppins"/>
                          <a:sym typeface="Poppins"/>
                        </a:rPr>
                        <a:t>Biological Function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012925">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Start Codon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475569"/>
                          </a:solidFill>
                          <a:latin typeface="Lato"/>
                          <a:ea typeface="Lato"/>
                          <a:cs typeface="Lato"/>
                          <a:sym typeface="Lato"/>
                        </a:rPr>
                        <a:t>AUG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Methionine (Met)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Strictly initiates the translation process.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12925">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Stop Codons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500" u="none" cap="none" strike="noStrike">
                          <a:solidFill>
                            <a:srgbClr val="475569"/>
                          </a:solidFill>
                          <a:latin typeface="Lato"/>
                          <a:ea typeface="Lato"/>
                          <a:cs typeface="Lato"/>
                          <a:sym typeface="Lato"/>
                        </a:rPr>
                        <a:t>UAA, UAG, UGA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None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Signals the ribosome to terminate translation.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1012925">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Standard Codons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61 Variations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20 Different Acids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475569"/>
                          </a:solidFill>
                          <a:latin typeface="Lato"/>
                          <a:ea typeface="Lato"/>
                          <a:cs typeface="Lato"/>
                          <a:sym typeface="Lato"/>
                        </a:rPr>
                        <a:t>Specifies the exact sequence of the polypeptide chain.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02" name="Google Shape;302;p29"/>
          <p:cNvSpPr/>
          <p:nvPr/>
        </p:nvSpPr>
        <p:spPr>
          <a:xfrm>
            <a:off x="581025" y="3016448"/>
            <a:ext cx="18838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9"/>
          <p:cNvSpPr/>
          <p:nvPr/>
        </p:nvSpPr>
        <p:spPr>
          <a:xfrm>
            <a:off x="2464891" y="3016448"/>
            <a:ext cx="2149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9"/>
          <p:cNvSpPr/>
          <p:nvPr/>
        </p:nvSpPr>
        <p:spPr>
          <a:xfrm>
            <a:off x="4614862" y="3016448"/>
            <a:ext cx="28031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9"/>
          <p:cNvSpPr/>
          <p:nvPr/>
        </p:nvSpPr>
        <p:spPr>
          <a:xfrm>
            <a:off x="7418040" y="3016448"/>
            <a:ext cx="41929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9"/>
          <p:cNvSpPr/>
          <p:nvPr/>
        </p:nvSpPr>
        <p:spPr>
          <a:xfrm>
            <a:off x="581025" y="3787973"/>
            <a:ext cx="18838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9"/>
          <p:cNvSpPr/>
          <p:nvPr/>
        </p:nvSpPr>
        <p:spPr>
          <a:xfrm>
            <a:off x="2464891" y="3787973"/>
            <a:ext cx="2149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9"/>
          <p:cNvSpPr/>
          <p:nvPr/>
        </p:nvSpPr>
        <p:spPr>
          <a:xfrm>
            <a:off x="4614862" y="3787973"/>
            <a:ext cx="28031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9"/>
          <p:cNvSpPr/>
          <p:nvPr/>
        </p:nvSpPr>
        <p:spPr>
          <a:xfrm>
            <a:off x="7418040" y="3787973"/>
            <a:ext cx="41929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9"/>
          <p:cNvSpPr/>
          <p:nvPr/>
        </p:nvSpPr>
        <p:spPr>
          <a:xfrm>
            <a:off x="581025" y="4864298"/>
            <a:ext cx="18838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9"/>
          <p:cNvSpPr/>
          <p:nvPr/>
        </p:nvSpPr>
        <p:spPr>
          <a:xfrm>
            <a:off x="2464891" y="4864298"/>
            <a:ext cx="2149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9"/>
          <p:cNvSpPr/>
          <p:nvPr/>
        </p:nvSpPr>
        <p:spPr>
          <a:xfrm>
            <a:off x="4614862" y="4864298"/>
            <a:ext cx="28031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9"/>
          <p:cNvSpPr/>
          <p:nvPr/>
        </p:nvSpPr>
        <p:spPr>
          <a:xfrm>
            <a:off x="7418040" y="4864298"/>
            <a:ext cx="41929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9"/>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Genetic Code (Codons)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8" name="Shape 318"/>
        <p:cNvGrpSpPr/>
        <p:nvPr/>
      </p:nvGrpSpPr>
      <p:grpSpPr>
        <a:xfrm>
          <a:off x="0" y="0"/>
          <a:ext cx="0" cy="0"/>
          <a:chOff x="0" y="0"/>
          <a:chExt cx="0" cy="0"/>
        </a:xfrm>
      </p:grpSpPr>
      <p:pic>
        <p:nvPicPr>
          <p:cNvPr descr="image.png" id="319" name="Google Shape;319;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0" name="Google Shape;320;p30"/>
          <p:cNvSpPr txBox="1"/>
          <p:nvPr/>
        </p:nvSpPr>
        <p:spPr>
          <a:xfrm>
            <a:off x="571500" y="571500"/>
            <a:ext cx="5550693"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The Final Product: Proteins</a:t>
            </a:r>
            <a:endParaRPr/>
          </a:p>
        </p:txBody>
      </p:sp>
      <p:pic>
        <p:nvPicPr>
          <p:cNvPr descr="image.png" id="321" name="Google Shape;321;p30"/>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322" name="Google Shape;322;p30"/>
          <p:cNvSpPr txBox="1"/>
          <p:nvPr/>
        </p:nvSpPr>
        <p:spPr>
          <a:xfrm>
            <a:off x="571500" y="2438400"/>
            <a:ext cx="555069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Form Defines Function</a:t>
            </a:r>
            <a:endParaRPr/>
          </a:p>
        </p:txBody>
      </p:sp>
      <p:sp>
        <p:nvSpPr>
          <p:cNvPr id="323" name="Google Shape;323;p30"/>
          <p:cNvSpPr txBox="1"/>
          <p:nvPr/>
        </p:nvSpPr>
        <p:spPr>
          <a:xfrm>
            <a:off x="571500" y="2981325"/>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Once the long polypeptide chain is fully synthesized, it must immediately fold into a highly specific three-dimensional shape to become a functional protein.</a:t>
            </a:r>
            <a:endParaRPr/>
          </a:p>
        </p:txBody>
      </p:sp>
      <p:sp>
        <p:nvSpPr>
          <p:cNvPr id="324" name="Google Shape;324;p30"/>
          <p:cNvSpPr txBox="1"/>
          <p:nvPr/>
        </p:nvSpPr>
        <p:spPr>
          <a:xfrm>
            <a:off x="571500" y="4038600"/>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This unique conformation is entirely driven by the complex chemical interactions of the individual amino acid side chains and is absolutely vital for the protein's biological activity within the organism.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8" name="Shape 328"/>
        <p:cNvGrpSpPr/>
        <p:nvPr/>
      </p:nvGrpSpPr>
      <p:grpSpPr>
        <a:xfrm>
          <a:off x="0" y="0"/>
          <a:ext cx="0" cy="0"/>
          <a:chOff x="0" y="0"/>
          <a:chExt cx="0" cy="0"/>
        </a:xfrm>
      </p:grpSpPr>
      <p:pic>
        <p:nvPicPr>
          <p:cNvPr descr="image.png" id="329" name="Google Shape;329;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0" name="Google Shape;330;p31"/>
          <p:cNvPicPr preferRelativeResize="0"/>
          <p:nvPr/>
        </p:nvPicPr>
        <p:blipFill rotWithShape="1">
          <a:blip r:embed="rId4">
            <a:alphaModFix/>
          </a:blip>
          <a:srcRect b="0" l="0" r="0" t="0"/>
          <a:stretch/>
        </p:blipFill>
        <p:spPr>
          <a:xfrm>
            <a:off x="571500" y="2147887"/>
            <a:ext cx="3492549" cy="3543300"/>
          </a:xfrm>
          <a:prstGeom prst="rect">
            <a:avLst/>
          </a:prstGeom>
          <a:noFill/>
          <a:ln>
            <a:noFill/>
          </a:ln>
        </p:spPr>
      </p:pic>
      <p:pic>
        <p:nvPicPr>
          <p:cNvPr descr="image.png" id="331" name="Google Shape;331;p31"/>
          <p:cNvPicPr preferRelativeResize="0"/>
          <p:nvPr/>
        </p:nvPicPr>
        <p:blipFill rotWithShape="1">
          <a:blip r:embed="rId5">
            <a:alphaModFix/>
          </a:blip>
          <a:srcRect b="0" l="0" r="0" t="0"/>
          <a:stretch/>
        </p:blipFill>
        <p:spPr>
          <a:xfrm>
            <a:off x="4349799" y="2147887"/>
            <a:ext cx="3492549" cy="3543300"/>
          </a:xfrm>
          <a:prstGeom prst="rect">
            <a:avLst/>
          </a:prstGeom>
          <a:noFill/>
          <a:ln>
            <a:noFill/>
          </a:ln>
        </p:spPr>
      </p:pic>
      <p:pic>
        <p:nvPicPr>
          <p:cNvPr descr="image.png" id="332" name="Google Shape;332;p31"/>
          <p:cNvPicPr preferRelativeResize="0"/>
          <p:nvPr/>
        </p:nvPicPr>
        <p:blipFill rotWithShape="1">
          <a:blip r:embed="rId6">
            <a:alphaModFix/>
          </a:blip>
          <a:srcRect b="0" l="0" r="0" t="0"/>
          <a:stretch/>
        </p:blipFill>
        <p:spPr>
          <a:xfrm>
            <a:off x="8128099" y="2147887"/>
            <a:ext cx="3492549" cy="3543300"/>
          </a:xfrm>
          <a:prstGeom prst="rect">
            <a:avLst/>
          </a:prstGeom>
          <a:noFill/>
          <a:ln>
            <a:noFill/>
          </a:ln>
        </p:spPr>
      </p:pic>
      <p:sp>
        <p:nvSpPr>
          <p:cNvPr id="333" name="Google Shape;333;p31"/>
          <p:cNvSpPr txBox="1"/>
          <p:nvPr/>
        </p:nvSpPr>
        <p:spPr>
          <a:xfrm>
            <a:off x="1057542" y="3395662"/>
            <a:ext cx="2520315"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Primary Structure</a:t>
            </a:r>
            <a:endParaRPr/>
          </a:p>
        </p:txBody>
      </p:sp>
      <p:sp>
        <p:nvSpPr>
          <p:cNvPr id="334" name="Google Shape;334;p31"/>
          <p:cNvSpPr txBox="1"/>
          <p:nvPr/>
        </p:nvSpPr>
        <p:spPr>
          <a:xfrm>
            <a:off x="866775"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linear, one-dimensional sequence of amino acids in the polypeptide chain, dictated directly by the mRNA sequence.</a:t>
            </a:r>
            <a:endParaRPr/>
          </a:p>
        </p:txBody>
      </p:sp>
      <p:sp>
        <p:nvSpPr>
          <p:cNvPr id="335" name="Google Shape;335;p31"/>
          <p:cNvSpPr txBox="1"/>
          <p:nvPr/>
        </p:nvSpPr>
        <p:spPr>
          <a:xfrm>
            <a:off x="4635817" y="3395662"/>
            <a:ext cx="2920365"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Secondary Structure</a:t>
            </a:r>
            <a:endParaRPr/>
          </a:p>
        </p:txBody>
      </p:sp>
      <p:sp>
        <p:nvSpPr>
          <p:cNvPr id="336" name="Google Shape;336;p31"/>
          <p:cNvSpPr txBox="1"/>
          <p:nvPr/>
        </p:nvSpPr>
        <p:spPr>
          <a:xfrm>
            <a:off x="4645074"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Local folding patterns within the chain, primarily alpha-helices and beta-pleated sheets, stabilized by hydrogen bonds.</a:t>
            </a:r>
            <a:endParaRPr/>
          </a:p>
        </p:txBody>
      </p:sp>
      <p:sp>
        <p:nvSpPr>
          <p:cNvPr id="337" name="Google Shape;337;p31"/>
          <p:cNvSpPr txBox="1"/>
          <p:nvPr/>
        </p:nvSpPr>
        <p:spPr>
          <a:xfrm>
            <a:off x="8629143" y="3395662"/>
            <a:ext cx="2490311"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Tertiary Structure</a:t>
            </a:r>
            <a:endParaRPr/>
          </a:p>
        </p:txBody>
      </p:sp>
      <p:sp>
        <p:nvSpPr>
          <p:cNvPr id="338" name="Google Shape;338;p31"/>
          <p:cNvSpPr txBox="1"/>
          <p:nvPr/>
        </p:nvSpPr>
        <p:spPr>
          <a:xfrm>
            <a:off x="8423374" y="3938587"/>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overall, complex three-dimensional shape of a single protein molecule, dictated by distant side-chain interactions.</a:t>
            </a:r>
            <a:endParaRPr/>
          </a:p>
        </p:txBody>
      </p:sp>
      <p:pic>
        <p:nvPicPr>
          <p:cNvPr descr="image.png" id="339" name="Google Shape;339;p31"/>
          <p:cNvPicPr preferRelativeResize="0"/>
          <p:nvPr/>
        </p:nvPicPr>
        <p:blipFill rotWithShape="1">
          <a:blip r:embed="rId7">
            <a:alphaModFix/>
          </a:blip>
          <a:srcRect b="0" l="0" r="0" t="0"/>
          <a:stretch/>
        </p:blipFill>
        <p:spPr>
          <a:xfrm>
            <a:off x="2060525" y="2595562"/>
            <a:ext cx="514350" cy="514350"/>
          </a:xfrm>
          <a:prstGeom prst="rect">
            <a:avLst/>
          </a:prstGeom>
          <a:noFill/>
          <a:ln>
            <a:noFill/>
          </a:ln>
        </p:spPr>
      </p:pic>
      <p:pic>
        <p:nvPicPr>
          <p:cNvPr descr="image.png" id="340" name="Google Shape;340;p31"/>
          <p:cNvPicPr preferRelativeResize="0"/>
          <p:nvPr/>
        </p:nvPicPr>
        <p:blipFill rotWithShape="1">
          <a:blip r:embed="rId8">
            <a:alphaModFix/>
          </a:blip>
          <a:srcRect b="0" l="0" r="0" t="0"/>
          <a:stretch/>
        </p:blipFill>
        <p:spPr>
          <a:xfrm>
            <a:off x="5805487" y="2595562"/>
            <a:ext cx="581025" cy="514350"/>
          </a:xfrm>
          <a:prstGeom prst="rect">
            <a:avLst/>
          </a:prstGeom>
          <a:noFill/>
          <a:ln>
            <a:noFill/>
          </a:ln>
        </p:spPr>
      </p:pic>
      <p:pic>
        <p:nvPicPr>
          <p:cNvPr descr="image.png" id="341" name="Google Shape;341;p31"/>
          <p:cNvPicPr preferRelativeResize="0"/>
          <p:nvPr/>
        </p:nvPicPr>
        <p:blipFill rotWithShape="1">
          <a:blip r:embed="rId9">
            <a:alphaModFix/>
          </a:blip>
          <a:srcRect b="0" l="0" r="0" t="0"/>
          <a:stretch/>
        </p:blipFill>
        <p:spPr>
          <a:xfrm>
            <a:off x="9583787" y="2595562"/>
            <a:ext cx="581025" cy="514350"/>
          </a:xfrm>
          <a:prstGeom prst="rect">
            <a:avLst/>
          </a:prstGeom>
          <a:noFill/>
          <a:ln>
            <a:noFill/>
          </a:ln>
        </p:spPr>
      </p:pic>
      <p:sp>
        <p:nvSpPr>
          <p:cNvPr id="342" name="Google Shape;342;p31"/>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Protein Folding Levels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2"/>
          <p:cNvSpPr txBox="1"/>
          <p:nvPr/>
        </p:nvSpPr>
        <p:spPr>
          <a:xfrm>
            <a:off x="1243350" y="905350"/>
            <a:ext cx="10003800" cy="45027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DNA Replication 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ACATCACGGCAGG (DNA)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chemeClr val="accent6"/>
                </a:solidFill>
                <a:latin typeface="Courier New"/>
                <a:ea typeface="Courier New"/>
                <a:cs typeface="Courier New"/>
                <a:sym typeface="Courier New"/>
              </a:rPr>
              <a:t>????????????? (DNA) </a:t>
            </a:r>
            <a:endParaRPr b="1" sz="3200">
              <a:solidFill>
                <a:schemeClr val="accent6"/>
              </a:solidFill>
              <a:latin typeface="Courier New"/>
              <a:ea typeface="Courier New"/>
              <a:cs typeface="Courier New"/>
              <a:sym typeface="Courier New"/>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transcription </a:t>
            </a:r>
            <a:r>
              <a:rPr lang="en-US" sz="3200">
                <a:solidFill>
                  <a:schemeClr val="dk1"/>
                </a:solidFill>
                <a:latin typeface="Calibri"/>
                <a:ea typeface="Calibri"/>
                <a:cs typeface="Calibri"/>
                <a:sym typeface="Calibri"/>
              </a:rPr>
              <a:t>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ATGATCACGGCAGG (DNA)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rgbClr val="4A86E8"/>
                </a:solidFill>
                <a:latin typeface="Courier New"/>
                <a:ea typeface="Courier New"/>
                <a:cs typeface="Courier New"/>
                <a:sym typeface="Courier New"/>
              </a:rPr>
              <a:t>??????????????(RNA)</a:t>
            </a:r>
            <a:endParaRPr b="1" sz="3200">
              <a:solidFill>
                <a:srgbClr val="4A86E8"/>
              </a:solidFill>
              <a:latin typeface="Courier New"/>
              <a:ea typeface="Courier New"/>
              <a:cs typeface="Courier New"/>
              <a:sym typeface="Courier New"/>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translation 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AUG AUC AUG GUA GGG (RNA)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rgbClr val="FF00FF"/>
                </a:solidFill>
                <a:latin typeface="Courier New"/>
                <a:ea typeface="Courier New"/>
                <a:cs typeface="Courier New"/>
                <a:sym typeface="Courier New"/>
              </a:rPr>
              <a:t>??? ??? ??? ??? ??? (Protein/Peptide)</a:t>
            </a:r>
            <a:br>
              <a:rPr b="1" lang="en-US" sz="3200">
                <a:solidFill>
                  <a:srgbClr val="FF00FF"/>
                </a:solidFill>
                <a:latin typeface="Courier New"/>
                <a:ea typeface="Courier New"/>
                <a:cs typeface="Courier New"/>
                <a:sym typeface="Courier New"/>
              </a:rPr>
            </a:br>
            <a:endParaRPr b="1" sz="3200">
              <a:solidFill>
                <a:srgbClr val="FF00FF"/>
              </a:solidFill>
              <a:latin typeface="Courier New"/>
              <a:ea typeface="Courier New"/>
              <a:cs typeface="Courier New"/>
              <a:sym typeface="Courier New"/>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3"/>
          <p:cNvSpPr txBox="1"/>
          <p:nvPr/>
        </p:nvSpPr>
        <p:spPr>
          <a:xfrm>
            <a:off x="1243350" y="905350"/>
            <a:ext cx="10003800" cy="45027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DNA Replication 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ACATCACGGCAGG (DNA)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chemeClr val="accent6"/>
                </a:solidFill>
                <a:latin typeface="Courier New"/>
                <a:ea typeface="Courier New"/>
                <a:cs typeface="Courier New"/>
                <a:sym typeface="Courier New"/>
              </a:rPr>
              <a:t>TGTAGTGCCGTCC (DNA) </a:t>
            </a:r>
            <a:endParaRPr b="1" sz="3200">
              <a:solidFill>
                <a:schemeClr val="accent6"/>
              </a:solidFill>
              <a:latin typeface="Courier New"/>
              <a:ea typeface="Courier New"/>
              <a:cs typeface="Courier New"/>
              <a:sym typeface="Courier New"/>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transcription 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ATGATCACGGCAGG (DNA)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rgbClr val="4A86E8"/>
                </a:solidFill>
                <a:latin typeface="Courier New"/>
                <a:ea typeface="Courier New"/>
                <a:cs typeface="Courier New"/>
                <a:sym typeface="Courier New"/>
              </a:rPr>
              <a:t>UACUAGUGCCGUCC (RNA)</a:t>
            </a:r>
            <a:endParaRPr b="1" sz="3200">
              <a:solidFill>
                <a:srgbClr val="4A86E8"/>
              </a:solidFill>
              <a:latin typeface="Courier New"/>
              <a:ea typeface="Courier New"/>
              <a:cs typeface="Courier New"/>
              <a:sym typeface="Courier New"/>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Make a translation of the sequence below</a:t>
            </a:r>
            <a:endParaRPr sz="3200">
              <a:solidFill>
                <a:schemeClr val="dk1"/>
              </a:solidFill>
              <a:latin typeface="Calibri"/>
              <a:ea typeface="Calibri"/>
              <a:cs typeface="Calibri"/>
              <a:sym typeface="Calibri"/>
            </a:endParaRPr>
          </a:p>
          <a:p>
            <a:pPr indent="0" lvl="0" marL="457200" rtl="0" algn="l">
              <a:spcBef>
                <a:spcPts val="0"/>
              </a:spcBef>
              <a:spcAft>
                <a:spcPts val="0"/>
              </a:spcAft>
              <a:buNone/>
            </a:pPr>
            <a:r>
              <a:rPr b="1" lang="en-US" sz="3200">
                <a:solidFill>
                  <a:schemeClr val="dk1"/>
                </a:solidFill>
                <a:latin typeface="Courier New"/>
                <a:ea typeface="Courier New"/>
                <a:cs typeface="Courier New"/>
                <a:sym typeface="Courier New"/>
              </a:rPr>
              <a:t>AUG AUC AUG GUA GGG (RNA)</a:t>
            </a:r>
            <a:endParaRPr b="1" sz="3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3200">
                <a:solidFill>
                  <a:srgbClr val="FF00FF"/>
                </a:solidFill>
                <a:latin typeface="Courier New"/>
                <a:ea typeface="Courier New"/>
                <a:cs typeface="Courier New"/>
                <a:sym typeface="Courier New"/>
              </a:rPr>
              <a:t>Met Ile Met Val Gly (Protein/Peptide)</a:t>
            </a:r>
            <a:br>
              <a:rPr b="1" lang="en-US" sz="3200">
                <a:solidFill>
                  <a:srgbClr val="FF00FF"/>
                </a:solidFill>
                <a:latin typeface="Courier New"/>
                <a:ea typeface="Courier New"/>
                <a:cs typeface="Courier New"/>
                <a:sym typeface="Courier New"/>
              </a:rPr>
            </a:br>
            <a:endParaRPr b="1" sz="3200">
              <a:solidFill>
                <a:srgbClr val="FF00FF"/>
              </a:solidFill>
              <a:latin typeface="Courier New"/>
              <a:ea typeface="Courier New"/>
              <a:cs typeface="Courier New"/>
              <a:sym typeface="Courier New"/>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6" name="Shape 356"/>
        <p:cNvGrpSpPr/>
        <p:nvPr/>
      </p:nvGrpSpPr>
      <p:grpSpPr>
        <a:xfrm>
          <a:off x="0" y="0"/>
          <a:ext cx="0" cy="0"/>
          <a:chOff x="0" y="0"/>
          <a:chExt cx="0" cy="0"/>
        </a:xfrm>
      </p:grpSpPr>
      <p:pic>
        <p:nvPicPr>
          <p:cNvPr descr="image.png" id="357" name="Google Shape;357;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8" name="Google Shape;358;p34"/>
          <p:cNvSpPr txBox="1"/>
          <p:nvPr/>
        </p:nvSpPr>
        <p:spPr>
          <a:xfrm>
            <a:off x="571500" y="2947987"/>
            <a:ext cx="5238750" cy="152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0284C7"/>
                </a:solidFill>
                <a:latin typeface="Poppins"/>
                <a:ea typeface="Poppins"/>
                <a:cs typeface="Poppins"/>
                <a:sym typeface="Poppins"/>
              </a:rPr>
              <a:t>10-9</a:t>
            </a:r>
            <a:endParaRPr/>
          </a:p>
        </p:txBody>
      </p:sp>
      <p:sp>
        <p:nvSpPr>
          <p:cNvPr id="359" name="Google Shape;359;p34"/>
          <p:cNvSpPr txBox="1"/>
          <p:nvPr/>
        </p:nvSpPr>
        <p:spPr>
          <a:xfrm>
            <a:off x="571500" y="4567237"/>
            <a:ext cx="523875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F172A"/>
                </a:solidFill>
                <a:latin typeface="Lato"/>
                <a:ea typeface="Lato"/>
                <a:cs typeface="Lato"/>
                <a:sym typeface="Lato"/>
              </a:rPr>
              <a:t>ERROR RATE</a:t>
            </a:r>
            <a:endParaRPr/>
          </a:p>
        </p:txBody>
      </p:sp>
      <p:sp>
        <p:nvSpPr>
          <p:cNvPr id="360" name="Google Shape;360;p34"/>
          <p:cNvSpPr txBox="1"/>
          <p:nvPr/>
        </p:nvSpPr>
        <p:spPr>
          <a:xfrm>
            <a:off x="6381750" y="2438400"/>
            <a:ext cx="5500687"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Exceptional Precision</a:t>
            </a:r>
            <a:endParaRPr/>
          </a:p>
        </p:txBody>
      </p:sp>
      <p:sp>
        <p:nvSpPr>
          <p:cNvPr id="361" name="Google Shape;361;p34"/>
          <p:cNvSpPr txBox="1"/>
          <p:nvPr/>
        </p:nvSpPr>
        <p:spPr>
          <a:xfrm>
            <a:off x="6381750" y="2981325"/>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Central Dogma relies on extreme precision to function. Thanks to the sophisticated proofreading abilities of enzymes like DNA polymerase, errors in copying the genome are exceptionally rare.</a:t>
            </a:r>
            <a:endParaRPr/>
          </a:p>
        </p:txBody>
      </p:sp>
      <p:sp>
        <p:nvSpPr>
          <p:cNvPr id="362" name="Google Shape;362;p34"/>
          <p:cNvSpPr txBox="1"/>
          <p:nvPr/>
        </p:nvSpPr>
        <p:spPr>
          <a:xfrm>
            <a:off x="6381750" y="434340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This incredible fidelity (approximately one mistake per billion nucleotides) ensures long-term genetic stability across generations.</a:t>
            </a:r>
            <a:endParaRPr/>
          </a:p>
        </p:txBody>
      </p:sp>
      <p:sp>
        <p:nvSpPr>
          <p:cNvPr id="363" name="Google Shape;363;p3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Fidelity of Information Flow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7" name="Shape 367"/>
        <p:cNvGrpSpPr/>
        <p:nvPr/>
      </p:nvGrpSpPr>
      <p:grpSpPr>
        <a:xfrm>
          <a:off x="0" y="0"/>
          <a:ext cx="0" cy="0"/>
          <a:chOff x="0" y="0"/>
          <a:chExt cx="0" cy="0"/>
        </a:xfrm>
      </p:grpSpPr>
      <p:pic>
        <p:nvPicPr>
          <p:cNvPr descr="image.png" id="368" name="Google Shape;368;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9" name="Google Shape;369;p35"/>
          <p:cNvPicPr preferRelativeResize="0"/>
          <p:nvPr/>
        </p:nvPicPr>
        <p:blipFill rotWithShape="1">
          <a:blip r:embed="rId4">
            <a:alphaModFix/>
          </a:blip>
          <a:srcRect b="0" l="0" r="0" t="0"/>
          <a:stretch/>
        </p:blipFill>
        <p:spPr>
          <a:xfrm>
            <a:off x="571500" y="4395787"/>
            <a:ext cx="2541240" cy="2000250"/>
          </a:xfrm>
          <a:prstGeom prst="rect">
            <a:avLst/>
          </a:prstGeom>
          <a:noFill/>
          <a:ln>
            <a:noFill/>
          </a:ln>
        </p:spPr>
      </p:pic>
      <p:pic>
        <p:nvPicPr>
          <p:cNvPr descr="image.png" id="370" name="Google Shape;370;p35"/>
          <p:cNvPicPr preferRelativeResize="0"/>
          <p:nvPr/>
        </p:nvPicPr>
        <p:blipFill rotWithShape="1">
          <a:blip r:embed="rId5">
            <a:alphaModFix/>
          </a:blip>
          <a:srcRect b="0" l="0" r="0" t="0"/>
          <a:stretch/>
        </p:blipFill>
        <p:spPr>
          <a:xfrm>
            <a:off x="3407419" y="1824037"/>
            <a:ext cx="2541240" cy="2000250"/>
          </a:xfrm>
          <a:prstGeom prst="rect">
            <a:avLst/>
          </a:prstGeom>
          <a:noFill/>
          <a:ln>
            <a:noFill/>
          </a:ln>
        </p:spPr>
      </p:pic>
      <p:pic>
        <p:nvPicPr>
          <p:cNvPr descr="image.png" id="371" name="Google Shape;371;p35"/>
          <p:cNvPicPr preferRelativeResize="0"/>
          <p:nvPr/>
        </p:nvPicPr>
        <p:blipFill rotWithShape="1">
          <a:blip r:embed="rId6">
            <a:alphaModFix/>
          </a:blip>
          <a:srcRect b="0" l="0" r="0" t="0"/>
          <a:stretch/>
        </p:blipFill>
        <p:spPr>
          <a:xfrm>
            <a:off x="6243339" y="4395787"/>
            <a:ext cx="2541240" cy="2305050"/>
          </a:xfrm>
          <a:prstGeom prst="rect">
            <a:avLst/>
          </a:prstGeom>
          <a:noFill/>
          <a:ln>
            <a:noFill/>
          </a:ln>
        </p:spPr>
      </p:pic>
      <p:pic>
        <p:nvPicPr>
          <p:cNvPr descr="image.png" id="372" name="Google Shape;372;p35"/>
          <p:cNvPicPr preferRelativeResize="0"/>
          <p:nvPr/>
        </p:nvPicPr>
        <p:blipFill rotWithShape="1">
          <a:blip r:embed="rId7">
            <a:alphaModFix/>
          </a:blip>
          <a:srcRect b="0" l="0" r="0" t="0"/>
          <a:stretch/>
        </p:blipFill>
        <p:spPr>
          <a:xfrm>
            <a:off x="9079259" y="1824037"/>
            <a:ext cx="2541240" cy="2000250"/>
          </a:xfrm>
          <a:prstGeom prst="rect">
            <a:avLst/>
          </a:prstGeom>
          <a:noFill/>
          <a:ln>
            <a:noFill/>
          </a:ln>
        </p:spPr>
      </p:pic>
      <p:sp>
        <p:nvSpPr>
          <p:cNvPr id="373" name="Google Shape;373;p35"/>
          <p:cNvSpPr/>
          <p:nvPr/>
        </p:nvSpPr>
        <p:spPr>
          <a:xfrm>
            <a:off x="571500" y="4081462"/>
            <a:ext cx="11049000" cy="571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35"/>
          <p:cNvSpPr txBox="1"/>
          <p:nvPr/>
        </p:nvSpPr>
        <p:spPr>
          <a:xfrm>
            <a:off x="717995" y="4595812"/>
            <a:ext cx="2248249"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1. DNA Storage</a:t>
            </a:r>
            <a:endParaRPr/>
          </a:p>
        </p:txBody>
      </p:sp>
      <p:sp>
        <p:nvSpPr>
          <p:cNvPr id="375" name="Google Shape;375;p35"/>
          <p:cNvSpPr txBox="1"/>
          <p:nvPr/>
        </p:nvSpPr>
        <p:spPr>
          <a:xfrm>
            <a:off x="771525" y="5138737"/>
            <a:ext cx="214119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intact genetic blueprint is securely stored in the cell nucleus.</a:t>
            </a:r>
            <a:endParaRPr/>
          </a:p>
        </p:txBody>
      </p:sp>
      <p:sp>
        <p:nvSpPr>
          <p:cNvPr id="376" name="Google Shape;376;p35"/>
          <p:cNvSpPr txBox="1"/>
          <p:nvPr/>
        </p:nvSpPr>
        <p:spPr>
          <a:xfrm>
            <a:off x="3553915" y="2024062"/>
            <a:ext cx="2248249"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2. Transcription</a:t>
            </a:r>
            <a:endParaRPr/>
          </a:p>
        </p:txBody>
      </p:sp>
      <p:sp>
        <p:nvSpPr>
          <p:cNvPr id="377" name="Google Shape;377;p35"/>
          <p:cNvSpPr txBox="1"/>
          <p:nvPr/>
        </p:nvSpPr>
        <p:spPr>
          <a:xfrm>
            <a:off x="3607444" y="2566987"/>
            <a:ext cx="214119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RNA polymerase transcribes the target gene into an mRNA copy.</a:t>
            </a:r>
            <a:endParaRPr/>
          </a:p>
        </p:txBody>
      </p:sp>
      <p:sp>
        <p:nvSpPr>
          <p:cNvPr id="378" name="Google Shape;378;p35"/>
          <p:cNvSpPr txBox="1"/>
          <p:nvPr/>
        </p:nvSpPr>
        <p:spPr>
          <a:xfrm>
            <a:off x="6389835" y="4595812"/>
            <a:ext cx="2248249"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3. Transport</a:t>
            </a:r>
            <a:endParaRPr/>
          </a:p>
        </p:txBody>
      </p:sp>
      <p:sp>
        <p:nvSpPr>
          <p:cNvPr id="379" name="Google Shape;379;p35"/>
          <p:cNvSpPr txBox="1"/>
          <p:nvPr/>
        </p:nvSpPr>
        <p:spPr>
          <a:xfrm>
            <a:off x="6443364" y="5138737"/>
            <a:ext cx="2141190"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mature mRNA transcript travels from the nucleus to the cytoplasm.</a:t>
            </a:r>
            <a:endParaRPr/>
          </a:p>
        </p:txBody>
      </p:sp>
      <p:sp>
        <p:nvSpPr>
          <p:cNvPr id="380" name="Google Shape;380;p35"/>
          <p:cNvSpPr txBox="1"/>
          <p:nvPr/>
        </p:nvSpPr>
        <p:spPr>
          <a:xfrm>
            <a:off x="9225755" y="2024062"/>
            <a:ext cx="2248249"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oppins SemiBold"/>
                <a:ea typeface="Poppins SemiBold"/>
                <a:cs typeface="Poppins SemiBold"/>
                <a:sym typeface="Poppins SemiBold"/>
              </a:rPr>
              <a:t>4. Translation</a:t>
            </a:r>
            <a:endParaRPr/>
          </a:p>
        </p:txBody>
      </p:sp>
      <p:sp>
        <p:nvSpPr>
          <p:cNvPr id="381" name="Google Shape;381;p35"/>
          <p:cNvSpPr txBox="1"/>
          <p:nvPr/>
        </p:nvSpPr>
        <p:spPr>
          <a:xfrm>
            <a:off x="9279284" y="2566987"/>
            <a:ext cx="214119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Ribosomes decode the mRNA to synthesize the final protein product.</a:t>
            </a:r>
            <a:endParaRPr/>
          </a:p>
        </p:txBody>
      </p:sp>
      <p:sp>
        <p:nvSpPr>
          <p:cNvPr id="382" name="Google Shape;382;p3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Summary: Information Flow</a:t>
            </a:r>
            <a:endParaRPr/>
          </a:p>
        </p:txBody>
      </p:sp>
      <p:sp>
        <p:nvSpPr>
          <p:cNvPr id="383" name="Google Shape;383;p35"/>
          <p:cNvSpPr/>
          <p:nvPr/>
        </p:nvSpPr>
        <p:spPr>
          <a:xfrm>
            <a:off x="1727820" y="3995737"/>
            <a:ext cx="228600" cy="228600"/>
          </a:xfrm>
          <a:prstGeom prst="roundRect">
            <a:avLst>
              <a:gd fmla="val 50000" name="adj"/>
            </a:avLst>
          </a:prstGeom>
          <a:solidFill>
            <a:srgbClr val="F8FAFC"/>
          </a:solidFill>
          <a:ln cap="flat" cmpd="sng" w="47625">
            <a:solidFill>
              <a:srgbClr val="0284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35"/>
          <p:cNvSpPr/>
          <p:nvPr/>
        </p:nvSpPr>
        <p:spPr>
          <a:xfrm>
            <a:off x="4563740" y="3995737"/>
            <a:ext cx="228600" cy="228600"/>
          </a:xfrm>
          <a:prstGeom prst="roundRect">
            <a:avLst>
              <a:gd fmla="val 50000" name="adj"/>
            </a:avLst>
          </a:prstGeom>
          <a:solidFill>
            <a:srgbClr val="F8FAFC"/>
          </a:solidFill>
          <a:ln cap="flat" cmpd="sng" w="47625">
            <a:solidFill>
              <a:srgbClr val="0284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35"/>
          <p:cNvSpPr/>
          <p:nvPr/>
        </p:nvSpPr>
        <p:spPr>
          <a:xfrm>
            <a:off x="7399659" y="3995737"/>
            <a:ext cx="228600" cy="228600"/>
          </a:xfrm>
          <a:prstGeom prst="roundRect">
            <a:avLst>
              <a:gd fmla="val 50000" name="adj"/>
            </a:avLst>
          </a:prstGeom>
          <a:solidFill>
            <a:srgbClr val="F8FAFC"/>
          </a:solidFill>
          <a:ln cap="flat" cmpd="sng" w="47625">
            <a:solidFill>
              <a:srgbClr val="0284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35"/>
          <p:cNvSpPr/>
          <p:nvPr/>
        </p:nvSpPr>
        <p:spPr>
          <a:xfrm>
            <a:off x="10235579" y="3995737"/>
            <a:ext cx="228600" cy="228600"/>
          </a:xfrm>
          <a:prstGeom prst="roundRect">
            <a:avLst>
              <a:gd fmla="val 50000" name="adj"/>
            </a:avLst>
          </a:prstGeom>
          <a:solidFill>
            <a:srgbClr val="F8FAFC"/>
          </a:solidFill>
          <a:ln cap="flat" cmpd="sng" w="47625">
            <a:solidFill>
              <a:srgbClr val="0284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6"/>
          <p:cNvSpPr txBox="1"/>
          <p:nvPr/>
        </p:nvSpPr>
        <p:spPr>
          <a:xfrm>
            <a:off x="1682400" y="360275"/>
            <a:ext cx="7028400" cy="877200"/>
          </a:xfrm>
          <a:prstGeom prst="rect">
            <a:avLst/>
          </a:prstGeom>
          <a:noFill/>
          <a:ln>
            <a:noFill/>
          </a:ln>
        </p:spPr>
        <p:txBody>
          <a:bodyPr anchorCtr="0" anchor="t" bIns="91425" lIns="91425" spcFirstLastPara="1" rIns="91425" wrap="square" tIns="91425">
            <a:spAutoFit/>
          </a:bodyPr>
          <a:lstStyle/>
          <a:p>
            <a:pPr indent="0" lvl="0" marL="1902750" rtl="0" algn="l">
              <a:spcBef>
                <a:spcPts val="0"/>
              </a:spcBef>
              <a:spcAft>
                <a:spcPts val="0"/>
              </a:spcAft>
              <a:buNone/>
            </a:pPr>
            <a:r>
              <a:rPr lang="en-US" sz="4500"/>
              <a:t>DNA: The Blueprint </a:t>
            </a:r>
            <a:endParaRPr sz="4500"/>
          </a:p>
        </p:txBody>
      </p:sp>
      <p:pic>
        <p:nvPicPr>
          <p:cNvPr id="392" name="Google Shape;392;p36"/>
          <p:cNvPicPr preferRelativeResize="0"/>
          <p:nvPr/>
        </p:nvPicPr>
        <p:blipFill>
          <a:blip r:embed="rId3">
            <a:alphaModFix/>
          </a:blip>
          <a:stretch>
            <a:fillRect/>
          </a:stretch>
        </p:blipFill>
        <p:spPr>
          <a:xfrm>
            <a:off x="152400" y="1389875"/>
            <a:ext cx="11887201" cy="34071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7"/>
          <p:cNvSpPr txBox="1"/>
          <p:nvPr/>
        </p:nvSpPr>
        <p:spPr>
          <a:xfrm>
            <a:off x="1502265" y="360275"/>
            <a:ext cx="8147700" cy="877200"/>
          </a:xfrm>
          <a:prstGeom prst="rect">
            <a:avLst/>
          </a:prstGeom>
          <a:noFill/>
          <a:ln>
            <a:noFill/>
          </a:ln>
        </p:spPr>
        <p:txBody>
          <a:bodyPr anchorCtr="0" anchor="t" bIns="91425" lIns="91425" spcFirstLastPara="1" rIns="91425" wrap="square" tIns="91425">
            <a:spAutoFit/>
          </a:bodyPr>
          <a:lstStyle/>
          <a:p>
            <a:pPr indent="0" lvl="0" marL="1902750" rtl="0" algn="l">
              <a:spcBef>
                <a:spcPts val="0"/>
              </a:spcBef>
              <a:spcAft>
                <a:spcPts val="0"/>
              </a:spcAft>
              <a:buNone/>
            </a:pPr>
            <a:r>
              <a:rPr lang="en-US" sz="4500"/>
              <a:t>RNA: The Messenger </a:t>
            </a:r>
            <a:endParaRPr sz="4500"/>
          </a:p>
        </p:txBody>
      </p:sp>
      <p:pic>
        <p:nvPicPr>
          <p:cNvPr id="398" name="Google Shape;398;p37"/>
          <p:cNvPicPr preferRelativeResize="0"/>
          <p:nvPr/>
        </p:nvPicPr>
        <p:blipFill>
          <a:blip r:embed="rId3">
            <a:alphaModFix/>
          </a:blip>
          <a:stretch>
            <a:fillRect/>
          </a:stretch>
        </p:blipFill>
        <p:spPr>
          <a:xfrm>
            <a:off x="152400" y="2071825"/>
            <a:ext cx="11887201" cy="28963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8"/>
          <p:cNvSpPr txBox="1"/>
          <p:nvPr/>
        </p:nvSpPr>
        <p:spPr>
          <a:xfrm>
            <a:off x="463200" y="360275"/>
            <a:ext cx="10962600" cy="877200"/>
          </a:xfrm>
          <a:prstGeom prst="rect">
            <a:avLst/>
          </a:prstGeom>
          <a:noFill/>
          <a:ln>
            <a:noFill/>
          </a:ln>
        </p:spPr>
        <p:txBody>
          <a:bodyPr anchorCtr="0" anchor="t" bIns="91425" lIns="91425" spcFirstLastPara="1" rIns="91425" wrap="square" tIns="91425">
            <a:spAutoFit/>
          </a:bodyPr>
          <a:lstStyle/>
          <a:p>
            <a:pPr indent="0" lvl="0" marL="1902750" rtl="0" algn="l">
              <a:spcBef>
                <a:spcPts val="0"/>
              </a:spcBef>
              <a:spcAft>
                <a:spcPts val="0"/>
              </a:spcAft>
              <a:buNone/>
            </a:pPr>
            <a:r>
              <a:rPr lang="en-US" sz="4500"/>
              <a:t>Protein: The Functional Product </a:t>
            </a:r>
            <a:endParaRPr sz="4500"/>
          </a:p>
        </p:txBody>
      </p:sp>
      <p:pic>
        <p:nvPicPr>
          <p:cNvPr id="404" name="Google Shape;404;p38"/>
          <p:cNvPicPr preferRelativeResize="0"/>
          <p:nvPr/>
        </p:nvPicPr>
        <p:blipFill>
          <a:blip r:embed="rId3">
            <a:alphaModFix/>
          </a:blip>
          <a:stretch>
            <a:fillRect/>
          </a:stretch>
        </p:blipFill>
        <p:spPr>
          <a:xfrm>
            <a:off x="152400" y="1788750"/>
            <a:ext cx="11887201" cy="359286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graphicFrame>
        <p:nvGraphicFramePr>
          <p:cNvPr id="409" name="Google Shape;409;p39"/>
          <p:cNvGraphicFramePr/>
          <p:nvPr/>
        </p:nvGraphicFramePr>
        <p:xfrm>
          <a:off x="1419900" y="1118100"/>
          <a:ext cx="3000000" cy="3000000"/>
        </p:xfrm>
        <a:graphic>
          <a:graphicData uri="http://schemas.openxmlformats.org/drawingml/2006/table">
            <a:tbl>
              <a:tblPr>
                <a:noFill/>
                <a:tableStyleId>{1FDC7135-F244-42B4-BBAF-2C2EB0281C09}</a:tableStyleId>
              </a:tblPr>
              <a:tblGrid>
                <a:gridCol w="1633675"/>
                <a:gridCol w="1998625"/>
                <a:gridCol w="1981250"/>
                <a:gridCol w="3441125"/>
              </a:tblGrid>
              <a:tr h="1085275">
                <a:tc>
                  <a:txBody>
                    <a:bodyPr/>
                    <a:lstStyle/>
                    <a:p>
                      <a:pPr indent="0" lvl="0" marL="0" rtl="0" algn="l">
                        <a:lnSpc>
                          <a:spcPct val="115000"/>
                        </a:lnSpc>
                        <a:spcBef>
                          <a:spcPts val="0"/>
                        </a:spcBef>
                        <a:spcAft>
                          <a:spcPts val="0"/>
                        </a:spcAft>
                        <a:buNone/>
                      </a:pPr>
                      <a:r>
                        <a:rPr b="1" lang="en-US" sz="2400">
                          <a:solidFill>
                            <a:srgbClr val="1F1F1F"/>
                          </a:solidFill>
                        </a:rPr>
                        <a:t>Molecule</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2400">
                          <a:solidFill>
                            <a:srgbClr val="1F1F1F"/>
                          </a:solidFill>
                        </a:rPr>
                        <a:t>Sugar</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2400">
                          <a:solidFill>
                            <a:srgbClr val="1F1F1F"/>
                          </a:solidFill>
                        </a:rPr>
                        <a:t>Bases</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2400">
                          <a:solidFill>
                            <a:srgbClr val="1F1F1F"/>
                          </a:solidFill>
                        </a:rPr>
                        <a:t>Typical Structure</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1085275">
                <a:tc>
                  <a:txBody>
                    <a:bodyPr/>
                    <a:lstStyle/>
                    <a:p>
                      <a:pPr indent="0" lvl="0" marL="0" rtl="0" algn="l">
                        <a:lnSpc>
                          <a:spcPct val="115000"/>
                        </a:lnSpc>
                        <a:spcBef>
                          <a:spcPts val="0"/>
                        </a:spcBef>
                        <a:spcAft>
                          <a:spcPts val="0"/>
                        </a:spcAft>
                        <a:buNone/>
                      </a:pPr>
                      <a:r>
                        <a:rPr b="1" lang="en-US" sz="2400">
                          <a:solidFill>
                            <a:srgbClr val="1F1F1F"/>
                          </a:solidFill>
                        </a:rPr>
                        <a:t>DNA</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Deoxyribose</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A, T, C, G</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Double Helix</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1085275">
                <a:tc>
                  <a:txBody>
                    <a:bodyPr/>
                    <a:lstStyle/>
                    <a:p>
                      <a:pPr indent="0" lvl="0" marL="0" rtl="0" algn="l">
                        <a:lnSpc>
                          <a:spcPct val="115000"/>
                        </a:lnSpc>
                        <a:spcBef>
                          <a:spcPts val="0"/>
                        </a:spcBef>
                        <a:spcAft>
                          <a:spcPts val="0"/>
                        </a:spcAft>
                        <a:buNone/>
                      </a:pPr>
                      <a:r>
                        <a:rPr b="1" lang="en-US" sz="2400">
                          <a:solidFill>
                            <a:srgbClr val="1F1F1F"/>
                          </a:solidFill>
                        </a:rPr>
                        <a:t>RNA</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Ribose</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A, U, C, G</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Single-Stranded</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1085275">
                <a:tc>
                  <a:txBody>
                    <a:bodyPr/>
                    <a:lstStyle/>
                    <a:p>
                      <a:pPr indent="0" lvl="0" marL="0" rtl="0" algn="l">
                        <a:lnSpc>
                          <a:spcPct val="115000"/>
                        </a:lnSpc>
                        <a:spcBef>
                          <a:spcPts val="0"/>
                        </a:spcBef>
                        <a:spcAft>
                          <a:spcPts val="0"/>
                        </a:spcAft>
                        <a:buNone/>
                      </a:pPr>
                      <a:r>
                        <a:rPr b="1" lang="en-US" sz="2400">
                          <a:solidFill>
                            <a:srgbClr val="1F1F1F"/>
                          </a:solidFill>
                        </a:rPr>
                        <a:t>Protein</a:t>
                      </a:r>
                      <a:endParaRPr b="1"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N/A</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Amino Acids</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400">
                          <a:solidFill>
                            <a:srgbClr val="1F1F1F"/>
                          </a:solidFill>
                        </a:rPr>
                        <a:t>Folded Globular/Fibrous</a:t>
                      </a:r>
                      <a:endParaRPr sz="24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13" name="Shape 413"/>
        <p:cNvGrpSpPr/>
        <p:nvPr/>
      </p:nvGrpSpPr>
      <p:grpSpPr>
        <a:xfrm>
          <a:off x="0" y="0"/>
          <a:ext cx="0" cy="0"/>
          <a:chOff x="0" y="0"/>
          <a:chExt cx="0" cy="0"/>
        </a:xfrm>
      </p:grpSpPr>
      <p:pic>
        <p:nvPicPr>
          <p:cNvPr descr="image.png" id="414" name="Google Shape;414;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5" name="Google Shape;415;p40"/>
          <p:cNvSpPr txBox="1"/>
          <p:nvPr/>
        </p:nvSpPr>
        <p:spPr>
          <a:xfrm>
            <a:off x="295275" y="2096392"/>
            <a:ext cx="11601450"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0F172A"/>
                </a:solidFill>
                <a:latin typeface="Poppins"/>
                <a:ea typeface="Poppins"/>
                <a:cs typeface="Poppins"/>
                <a:sym typeface="Poppins"/>
              </a:rPr>
              <a:t>Questions?</a:t>
            </a:r>
            <a:endParaRPr/>
          </a:p>
        </p:txBody>
      </p:sp>
      <p:sp>
        <p:nvSpPr>
          <p:cNvPr id="416" name="Google Shape;416;p40"/>
          <p:cNvSpPr txBox="1"/>
          <p:nvPr/>
        </p:nvSpPr>
        <p:spPr>
          <a:xfrm>
            <a:off x="571500" y="3582292"/>
            <a:ext cx="110490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475569"/>
                </a:solidFill>
                <a:latin typeface="Lato"/>
                <a:ea typeface="Lato"/>
                <a:cs typeface="Lato"/>
                <a:sym typeface="Lato"/>
              </a:rPr>
              <a:t>Reviewing the Central Dogma</a:t>
            </a:r>
            <a:endParaRPr/>
          </a:p>
        </p:txBody>
      </p:sp>
      <p:sp>
        <p:nvSpPr>
          <p:cNvPr id="417" name="Google Shape;417;p40"/>
          <p:cNvSpPr txBox="1"/>
          <p:nvPr/>
        </p:nvSpPr>
        <p:spPr>
          <a:xfrm>
            <a:off x="571500" y="4485233"/>
            <a:ext cx="1104900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284C7"/>
                </a:solidFill>
                <a:latin typeface="Lato"/>
                <a:ea typeface="Lato"/>
                <a:cs typeface="Lato"/>
                <a:sym typeface="Lato"/>
              </a:rPr>
              <a:t>Molecular Biology Review Session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1" name="Shape 421"/>
        <p:cNvGrpSpPr/>
        <p:nvPr/>
      </p:nvGrpSpPr>
      <p:grpSpPr>
        <a:xfrm>
          <a:off x="0" y="0"/>
          <a:ext cx="0" cy="0"/>
          <a:chOff x="0" y="0"/>
          <a:chExt cx="0" cy="0"/>
        </a:xfrm>
      </p:grpSpPr>
      <p:pic>
        <p:nvPicPr>
          <p:cNvPr descr="image.png" id="422" name="Google Shape;422;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23" name="Google Shape;423;p41"/>
          <p:cNvSpPr/>
          <p:nvPr/>
        </p:nvSpPr>
        <p:spPr>
          <a:xfrm>
            <a:off x="571500" y="1471017"/>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41"/>
          <p:cNvSpPr/>
          <p:nvPr/>
        </p:nvSpPr>
        <p:spPr>
          <a:xfrm>
            <a:off x="571500" y="2453878"/>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41"/>
          <p:cNvSpPr/>
          <p:nvPr/>
        </p:nvSpPr>
        <p:spPr>
          <a:xfrm>
            <a:off x="571500" y="3238648"/>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41"/>
          <p:cNvSpPr/>
          <p:nvPr/>
        </p:nvSpPr>
        <p:spPr>
          <a:xfrm>
            <a:off x="571500" y="4023419"/>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41"/>
          <p:cNvSpPr/>
          <p:nvPr/>
        </p:nvSpPr>
        <p:spPr>
          <a:xfrm>
            <a:off x="571500" y="4808190"/>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41"/>
          <p:cNvSpPr/>
          <p:nvPr/>
        </p:nvSpPr>
        <p:spPr>
          <a:xfrm>
            <a:off x="571500" y="244435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41"/>
          <p:cNvSpPr/>
          <p:nvPr/>
        </p:nvSpPr>
        <p:spPr>
          <a:xfrm>
            <a:off x="571500" y="244435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41"/>
          <p:cNvSpPr/>
          <p:nvPr/>
        </p:nvSpPr>
        <p:spPr>
          <a:xfrm>
            <a:off x="571500" y="322912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41"/>
          <p:cNvSpPr/>
          <p:nvPr/>
        </p:nvSpPr>
        <p:spPr>
          <a:xfrm>
            <a:off x="571500" y="322912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41"/>
          <p:cNvSpPr/>
          <p:nvPr/>
        </p:nvSpPr>
        <p:spPr>
          <a:xfrm>
            <a:off x="571500" y="401389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41"/>
          <p:cNvSpPr/>
          <p:nvPr/>
        </p:nvSpPr>
        <p:spPr>
          <a:xfrm>
            <a:off x="571500" y="401389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41"/>
          <p:cNvSpPr/>
          <p:nvPr/>
        </p:nvSpPr>
        <p:spPr>
          <a:xfrm>
            <a:off x="571500" y="479866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41"/>
          <p:cNvSpPr/>
          <p:nvPr/>
        </p:nvSpPr>
        <p:spPr>
          <a:xfrm>
            <a:off x="571500" y="479866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41"/>
          <p:cNvSpPr/>
          <p:nvPr/>
        </p:nvSpPr>
        <p:spPr>
          <a:xfrm>
            <a:off x="571500" y="558343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41"/>
          <p:cNvSpPr/>
          <p:nvPr/>
        </p:nvSpPr>
        <p:spPr>
          <a:xfrm>
            <a:off x="571500" y="558343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8" name="Google Shape;438;p41"/>
          <p:cNvPicPr preferRelativeResize="0"/>
          <p:nvPr/>
        </p:nvPicPr>
        <p:blipFill rotWithShape="1">
          <a:blip r:embed="rId4">
            <a:alphaModFix/>
          </a:blip>
          <a:srcRect b="0" l="0" r="0" t="0"/>
          <a:stretch/>
        </p:blipFill>
        <p:spPr>
          <a:xfrm>
            <a:off x="571500" y="1719560"/>
            <a:ext cx="857250" cy="476250"/>
          </a:xfrm>
          <a:prstGeom prst="rect">
            <a:avLst/>
          </a:prstGeom>
          <a:noFill/>
          <a:ln>
            <a:noFill/>
          </a:ln>
        </p:spPr>
      </p:pic>
      <p:sp>
        <p:nvSpPr>
          <p:cNvPr id="439" name="Google Shape;439;p41"/>
          <p:cNvSpPr txBox="1"/>
          <p:nvPr/>
        </p:nvSpPr>
        <p:spPr>
          <a:xfrm>
            <a:off x="1666875" y="1613892"/>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https://media.istockphoto.com/id/2227323055/photo/abstract-3d-render-of-a-dna-double-helix-made-of-water-symbolizing-genetics-biotechnology-and.jpg?s=612x612&amp;w=0&amp;k=20&amp;c=1LUGzYc82__ho8JEW87I8VMGw8MuOTjxL026vLnln3Y=</a:t>
            </a:r>
            <a:endParaRPr/>
          </a:p>
        </p:txBody>
      </p:sp>
      <p:sp>
        <p:nvSpPr>
          <p:cNvPr id="440" name="Google Shape;440;p41"/>
          <p:cNvSpPr txBox="1"/>
          <p:nvPr/>
        </p:nvSpPr>
        <p:spPr>
          <a:xfrm>
            <a:off x="1666875" y="205769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www.istockphoto.com</a:t>
            </a:r>
            <a:endParaRPr/>
          </a:p>
        </p:txBody>
      </p:sp>
      <p:pic>
        <p:nvPicPr>
          <p:cNvPr descr="image.png" id="441" name="Google Shape;441;p41"/>
          <p:cNvPicPr preferRelativeResize="0"/>
          <p:nvPr/>
        </p:nvPicPr>
        <p:blipFill rotWithShape="1">
          <a:blip r:embed="rId5">
            <a:alphaModFix/>
          </a:blip>
          <a:srcRect b="0" l="0" r="0" t="0"/>
          <a:stretch/>
        </p:blipFill>
        <p:spPr>
          <a:xfrm>
            <a:off x="571500" y="2603301"/>
            <a:ext cx="857250" cy="476250"/>
          </a:xfrm>
          <a:prstGeom prst="rect">
            <a:avLst/>
          </a:prstGeom>
          <a:noFill/>
          <a:ln>
            <a:noFill/>
          </a:ln>
        </p:spPr>
      </p:pic>
      <p:sp>
        <p:nvSpPr>
          <p:cNvPr id="442" name="Google Shape;442;p41"/>
          <p:cNvSpPr txBox="1"/>
          <p:nvPr/>
        </p:nvSpPr>
        <p:spPr>
          <a:xfrm>
            <a:off x="1666875" y="2596753"/>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https://cdn.zmescience.com/wp-content/uploads/2018/06/dna_replication_yourgenome.png</a:t>
            </a:r>
            <a:endParaRPr/>
          </a:p>
        </p:txBody>
      </p:sp>
      <p:sp>
        <p:nvSpPr>
          <p:cNvPr id="443" name="Google Shape;443;p41"/>
          <p:cNvSpPr txBox="1"/>
          <p:nvPr/>
        </p:nvSpPr>
        <p:spPr>
          <a:xfrm>
            <a:off x="1666875" y="284246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www.zmescience.com</a:t>
            </a:r>
            <a:endParaRPr/>
          </a:p>
        </p:txBody>
      </p:sp>
      <p:pic>
        <p:nvPicPr>
          <p:cNvPr descr="image.png" id="444" name="Google Shape;444;p41"/>
          <p:cNvPicPr preferRelativeResize="0"/>
          <p:nvPr/>
        </p:nvPicPr>
        <p:blipFill rotWithShape="1">
          <a:blip r:embed="rId6">
            <a:alphaModFix/>
          </a:blip>
          <a:srcRect b="0" l="0" r="0" t="0"/>
          <a:stretch/>
        </p:blipFill>
        <p:spPr>
          <a:xfrm>
            <a:off x="571500" y="3388072"/>
            <a:ext cx="857250" cy="476250"/>
          </a:xfrm>
          <a:prstGeom prst="rect">
            <a:avLst/>
          </a:prstGeom>
          <a:noFill/>
          <a:ln>
            <a:noFill/>
          </a:ln>
        </p:spPr>
      </p:pic>
      <p:sp>
        <p:nvSpPr>
          <p:cNvPr id="445" name="Google Shape;445;p41"/>
          <p:cNvSpPr txBox="1"/>
          <p:nvPr/>
        </p:nvSpPr>
        <p:spPr>
          <a:xfrm>
            <a:off x="1666875" y="3381523"/>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https://studymind.co.uk/wp-content/uploads/2022/03/Screen-Shot-2022-03-31-at-7.53.40-PM.png</a:t>
            </a:r>
            <a:endParaRPr/>
          </a:p>
        </p:txBody>
      </p:sp>
      <p:sp>
        <p:nvSpPr>
          <p:cNvPr id="446" name="Google Shape;446;p41"/>
          <p:cNvSpPr txBox="1"/>
          <p:nvPr/>
        </p:nvSpPr>
        <p:spPr>
          <a:xfrm>
            <a:off x="1666875" y="3627239"/>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studymind.co.uk</a:t>
            </a:r>
            <a:endParaRPr/>
          </a:p>
        </p:txBody>
      </p:sp>
      <p:pic>
        <p:nvPicPr>
          <p:cNvPr descr="image.png" id="447" name="Google Shape;447;p41"/>
          <p:cNvPicPr preferRelativeResize="0"/>
          <p:nvPr/>
        </p:nvPicPr>
        <p:blipFill rotWithShape="1">
          <a:blip r:embed="rId7">
            <a:alphaModFix/>
          </a:blip>
          <a:srcRect b="0" l="0" r="0" t="0"/>
          <a:stretch/>
        </p:blipFill>
        <p:spPr>
          <a:xfrm>
            <a:off x="571500" y="4172842"/>
            <a:ext cx="857250" cy="476250"/>
          </a:xfrm>
          <a:prstGeom prst="rect">
            <a:avLst/>
          </a:prstGeom>
          <a:noFill/>
          <a:ln>
            <a:noFill/>
          </a:ln>
        </p:spPr>
      </p:pic>
      <p:sp>
        <p:nvSpPr>
          <p:cNvPr id="448" name="Google Shape;448;p41"/>
          <p:cNvSpPr txBox="1"/>
          <p:nvPr/>
        </p:nvSpPr>
        <p:spPr>
          <a:xfrm>
            <a:off x="1666875" y="4166294"/>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https://cdn.rcsb.org/pdb101/motm/15/4tna-figure.gif</a:t>
            </a:r>
            <a:endParaRPr/>
          </a:p>
        </p:txBody>
      </p:sp>
      <p:sp>
        <p:nvSpPr>
          <p:cNvPr id="449" name="Google Shape;449;p41"/>
          <p:cNvSpPr txBox="1"/>
          <p:nvPr/>
        </p:nvSpPr>
        <p:spPr>
          <a:xfrm>
            <a:off x="1666875" y="4412009"/>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pdb101.rcsb.org</a:t>
            </a:r>
            <a:endParaRPr/>
          </a:p>
        </p:txBody>
      </p:sp>
      <p:pic>
        <p:nvPicPr>
          <p:cNvPr descr="image.png" id="450" name="Google Shape;450;p41"/>
          <p:cNvPicPr preferRelativeResize="0"/>
          <p:nvPr/>
        </p:nvPicPr>
        <p:blipFill rotWithShape="1">
          <a:blip r:embed="rId8">
            <a:alphaModFix/>
          </a:blip>
          <a:srcRect b="0" l="0" r="0" t="0"/>
          <a:stretch/>
        </p:blipFill>
        <p:spPr>
          <a:xfrm>
            <a:off x="571500" y="4957613"/>
            <a:ext cx="857250" cy="476250"/>
          </a:xfrm>
          <a:prstGeom prst="rect">
            <a:avLst/>
          </a:prstGeom>
          <a:noFill/>
          <a:ln>
            <a:noFill/>
          </a:ln>
        </p:spPr>
      </p:pic>
      <p:sp>
        <p:nvSpPr>
          <p:cNvPr id="451" name="Google Shape;451;p41"/>
          <p:cNvSpPr txBox="1"/>
          <p:nvPr/>
        </p:nvSpPr>
        <p:spPr>
          <a:xfrm>
            <a:off x="1666875" y="495106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https://cdn.rcsb.org/images/structures/1pbr_model-1.jpeg</a:t>
            </a:r>
            <a:endParaRPr/>
          </a:p>
        </p:txBody>
      </p:sp>
      <p:sp>
        <p:nvSpPr>
          <p:cNvPr id="452" name="Google Shape;452;p41"/>
          <p:cNvSpPr txBox="1"/>
          <p:nvPr/>
        </p:nvSpPr>
        <p:spPr>
          <a:xfrm>
            <a:off x="1666875" y="519678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www.rcsb.org</a:t>
            </a:r>
            <a:endParaRPr/>
          </a:p>
        </p:txBody>
      </p:sp>
      <p:pic>
        <p:nvPicPr>
          <p:cNvPr descr="image.png" id="453" name="Google Shape;453;p41"/>
          <p:cNvPicPr preferRelativeResize="0"/>
          <p:nvPr/>
        </p:nvPicPr>
        <p:blipFill rotWithShape="1">
          <a:blip r:embed="rId9">
            <a:alphaModFix/>
          </a:blip>
          <a:srcRect b="0" l="0" r="0" t="0"/>
          <a:stretch/>
        </p:blipFill>
        <p:spPr>
          <a:xfrm>
            <a:off x="571500" y="5742384"/>
            <a:ext cx="857250" cy="476250"/>
          </a:xfrm>
          <a:prstGeom prst="rect">
            <a:avLst/>
          </a:prstGeom>
          <a:noFill/>
          <a:ln>
            <a:noFill/>
          </a:ln>
        </p:spPr>
      </p:pic>
      <p:sp>
        <p:nvSpPr>
          <p:cNvPr id="454" name="Google Shape;454;p41"/>
          <p:cNvSpPr txBox="1"/>
          <p:nvPr/>
        </p:nvSpPr>
        <p:spPr>
          <a:xfrm>
            <a:off x="1666875" y="573583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https://cdn-ccnli.nitrocdn.com/hPbgvskpJmIfLTeYLYGdGpfRfGKbrYYq/assets/images/optimized/rev-369eac4/alevelbiology.co.uk/wp-content/uploads/2017/11/Translation.jpg</a:t>
            </a:r>
            <a:endParaRPr/>
          </a:p>
        </p:txBody>
      </p:sp>
      <p:sp>
        <p:nvSpPr>
          <p:cNvPr id="455" name="Google Shape;455;p41"/>
          <p:cNvSpPr txBox="1"/>
          <p:nvPr/>
        </p:nvSpPr>
        <p:spPr>
          <a:xfrm>
            <a:off x="1666875" y="5981551"/>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alevelbiology.co.uk</a:t>
            </a:r>
            <a:endParaRPr/>
          </a:p>
        </p:txBody>
      </p:sp>
      <p:sp>
        <p:nvSpPr>
          <p:cNvPr id="456" name="Google Shape;456;p41"/>
          <p:cNvSpPr txBox="1"/>
          <p:nvPr/>
        </p:nvSpPr>
        <p:spPr>
          <a:xfrm>
            <a:off x="571500" y="489942"/>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Image Sources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0" name="Shape 460"/>
        <p:cNvGrpSpPr/>
        <p:nvPr/>
      </p:nvGrpSpPr>
      <p:grpSpPr>
        <a:xfrm>
          <a:off x="0" y="0"/>
          <a:ext cx="0" cy="0"/>
          <a:chOff x="0" y="0"/>
          <a:chExt cx="0" cy="0"/>
        </a:xfrm>
      </p:grpSpPr>
      <p:pic>
        <p:nvPicPr>
          <p:cNvPr descr="image.png" id="461" name="Google Shape;461;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62" name="Google Shape;462;p42"/>
          <p:cNvSpPr txBox="1"/>
          <p:nvPr/>
        </p:nvSpPr>
        <p:spPr>
          <a:xfrm>
            <a:off x="3486150" y="3674715"/>
            <a:ext cx="63150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475569"/>
                </a:solidFill>
                <a:latin typeface="Lato"/>
                <a:ea typeface="Lato"/>
                <a:cs typeface="Lato"/>
                <a:sym typeface="Lato"/>
              </a:rPr>
              <a:t>https://www.quantamagazine.org/wp-content/uploads/2024/08/RibbonModel-crJaneRichardson-Lede-scaled.webp</a:t>
            </a:r>
            <a:endParaRPr/>
          </a:p>
        </p:txBody>
      </p:sp>
      <p:sp>
        <p:nvSpPr>
          <p:cNvPr id="463" name="Google Shape;463;p42"/>
          <p:cNvSpPr txBox="1"/>
          <p:nvPr/>
        </p:nvSpPr>
        <p:spPr>
          <a:xfrm>
            <a:off x="3486150" y="3920430"/>
            <a:ext cx="63150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www.quantamagazine.org</a:t>
            </a:r>
            <a:endParaRPr/>
          </a:p>
        </p:txBody>
      </p:sp>
      <p:sp>
        <p:nvSpPr>
          <p:cNvPr id="464" name="Google Shape;464;p42"/>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F172A"/>
                </a:solidFill>
                <a:latin typeface="Poppins SemiBold"/>
                <a:ea typeface="Poppins SemiBold"/>
                <a:cs typeface="Poppins SemiBold"/>
                <a:sym typeface="Poppins Semi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