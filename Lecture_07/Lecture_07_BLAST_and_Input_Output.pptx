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63" r:id="rId5"/>
    <p:sldId id="287" r:id="rId6"/>
    <p:sldId id="288" r:id="rId7"/>
    <p:sldId id="289" r:id="rId8"/>
    <p:sldId id="290" r:id="rId9"/>
    <p:sldId id="291" r:id="rId10"/>
    <p:sldId id="328" r:id="rId11"/>
    <p:sldId id="329" r:id="rId12"/>
    <p:sldId id="330" r:id="rId13"/>
    <p:sldId id="331" r:id="rId14"/>
    <p:sldId id="332" r:id="rId15"/>
    <p:sldId id="333" r:id="rId16"/>
    <p:sldId id="334" r:id="rId17"/>
    <p:sldId id="275" r:id="rId18"/>
    <p:sldId id="276" r:id="rId19"/>
    <p:sldId id="277" r:id="rId20"/>
    <p:sldId id="257" r:id="rId21"/>
    <p:sldId id="258" r:id="rId22"/>
    <p:sldId id="272" r:id="rId23"/>
    <p:sldId id="273" r:id="rId24"/>
    <p:sldId id="274" r:id="rId25"/>
    <p:sldId id="259" r:id="rId26"/>
    <p:sldId id="260" r:id="rId27"/>
    <p:sldId id="261" r:id="rId28"/>
    <p:sldId id="262" r:id="rId29"/>
    <p:sldId id="278" r:id="rId30"/>
    <p:sldId id="279" r:id="rId31"/>
    <p:sldId id="280" r:id="rId32"/>
    <p:sldId id="281" r:id="rId33"/>
  </p:sldIdLst>
  <p:sldSz cx="10083800" cy="7556500"/>
  <p:notesSz cx="7559675" cy="106918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84" d="100"/>
          <a:sy n="84" d="100"/>
        </p:scale>
        <p:origin x="564"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6" name="PlaceHolder 2"/>
          <p:cNvSpPr>
            <a:spLocks noGrp="1"/>
          </p:cNvSpPr>
          <p:nvPr>
            <p:ph type="subTitle"/>
          </p:nvPr>
        </p:nvSpPr>
        <p:spPr>
          <a:xfrm>
            <a:off x="976680" y="2427120"/>
            <a:ext cx="7854480" cy="389844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8" name="PlaceHolder 2"/>
          <p:cNvSpPr>
            <a:spLocks noGrp="1"/>
          </p:cNvSpPr>
          <p:nvPr>
            <p:ph type="body"/>
          </p:nvPr>
        </p:nvSpPr>
        <p:spPr>
          <a:xfrm>
            <a:off x="976680" y="2427120"/>
            <a:ext cx="785448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0"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611720" y="241200"/>
            <a:ext cx="6860160" cy="612216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5"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6"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7"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9"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20"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21" name="PlaceHolder 4"/>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23"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24"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25" name="PlaceHolder 4"/>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27" name="PlaceHolder 2"/>
          <p:cNvSpPr>
            <a:spLocks noGrp="1"/>
          </p:cNvSpPr>
          <p:nvPr>
            <p:ph type="body"/>
          </p:nvPr>
        </p:nvSpPr>
        <p:spPr>
          <a:xfrm>
            <a:off x="976680" y="242712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28" name="PlaceHolder 3"/>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30"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1"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2"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3" name="PlaceHolder 5"/>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35" name="PlaceHolder 2"/>
          <p:cNvSpPr>
            <a:spLocks noGrp="1"/>
          </p:cNvSpPr>
          <p:nvPr>
            <p:ph type="body"/>
          </p:nvPr>
        </p:nvSpPr>
        <p:spPr>
          <a:xfrm>
            <a:off x="9766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6" name="PlaceHolder 3"/>
          <p:cNvSpPr>
            <a:spLocks noGrp="1"/>
          </p:cNvSpPr>
          <p:nvPr>
            <p:ph type="body"/>
          </p:nvPr>
        </p:nvSpPr>
        <p:spPr>
          <a:xfrm>
            <a:off x="363240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7" name="PlaceHolder 4"/>
          <p:cNvSpPr>
            <a:spLocks noGrp="1"/>
          </p:cNvSpPr>
          <p:nvPr>
            <p:ph type="body"/>
          </p:nvPr>
        </p:nvSpPr>
        <p:spPr>
          <a:xfrm>
            <a:off x="62884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8" name="PlaceHolder 5"/>
          <p:cNvSpPr>
            <a:spLocks noGrp="1"/>
          </p:cNvSpPr>
          <p:nvPr>
            <p:ph type="body"/>
          </p:nvPr>
        </p:nvSpPr>
        <p:spPr>
          <a:xfrm>
            <a:off x="9766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39" name="PlaceHolder 6"/>
          <p:cNvSpPr>
            <a:spLocks noGrp="1"/>
          </p:cNvSpPr>
          <p:nvPr>
            <p:ph type="body"/>
          </p:nvPr>
        </p:nvSpPr>
        <p:spPr>
          <a:xfrm>
            <a:off x="363240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40" name="PlaceHolder 7"/>
          <p:cNvSpPr>
            <a:spLocks noGrp="1"/>
          </p:cNvSpPr>
          <p:nvPr>
            <p:ph type="body"/>
          </p:nvPr>
        </p:nvSpPr>
        <p:spPr>
          <a:xfrm>
            <a:off x="62884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6" name="Holder 6"/>
          <p:cNvSpPr>
            <a:spLocks noGrp="1"/>
          </p:cNvSpPr>
          <p:nvPr>
            <p:ph type="sldNum" sz="quarter" idx="7"/>
          </p:nvPr>
        </p:nvSpPr>
        <p:spPr/>
        <p:txBody>
          <a:bodyPr lIns="0" tIns="0" rIns="0" bIns="0"/>
          <a:lstStyle>
            <a:lvl1pPr>
              <a:defRPr sz="1400" b="0" i="0">
                <a:solidFill>
                  <a:srgbClr val="191919"/>
                </a:solidFill>
                <a:latin typeface="Times New Roman" panose="02020603050405020304"/>
                <a:cs typeface="Times New Roman" panose="02020603050405020304"/>
              </a:defRPr>
            </a:lvl1pPr>
          </a:lstStyle>
          <a:p>
            <a:pPr marL="38100">
              <a:lnSpc>
                <a:spcPts val="1630"/>
              </a:lnSpc>
            </a:pPr>
            <a:fld id="{81D60167-4931-47E6-BA6A-407CBD079E47}" type="slidenum">
              <a:rPr dirty="0"/>
              <a:t>‹#›</a:t>
            </a:fld>
            <a:endParaRPr dirty="0"/>
          </a:p>
        </p:txBody>
      </p:sp>
    </p:spTree>
    <p:extLst>
      <p:ext uri="{BB962C8B-B14F-4D97-AF65-F5344CB8AC3E}">
        <p14:creationId xmlns:p14="http://schemas.microsoft.com/office/powerpoint/2010/main" val="1272657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2515"/>
            <a:ext cx="8571230" cy="158686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12570" y="4231640"/>
            <a:ext cx="7058660" cy="18891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6" name="Holder 6"/>
          <p:cNvSpPr>
            <a:spLocks noGrp="1"/>
          </p:cNvSpPr>
          <p:nvPr>
            <p:ph type="sldNum" sz="quarter" idx="7"/>
          </p:nvPr>
        </p:nvSpPr>
        <p:spPr/>
        <p:txBody>
          <a:bodyPr lIns="0" tIns="0" rIns="0" bIns="0"/>
          <a:lstStyle>
            <a:lvl1pPr>
              <a:defRPr sz="1400" b="0" i="0">
                <a:solidFill>
                  <a:srgbClr val="191919"/>
                </a:solidFill>
                <a:latin typeface="Times New Roman" panose="02020603050405020304"/>
                <a:cs typeface="Times New Roman" panose="02020603050405020304"/>
              </a:defRPr>
            </a:lvl1pPr>
          </a:lstStyle>
          <a:p>
            <a:pPr marL="38100">
              <a:lnSpc>
                <a:spcPts val="1630"/>
              </a:lnSpc>
            </a:pPr>
            <a:fld id="{81D60167-4931-47E6-BA6A-407CBD079E47}" type="slidenum">
              <a:rPr dirty="0"/>
              <a:t>‹#›</a:t>
            </a:fld>
            <a:endParaRPr dirty="0"/>
          </a:p>
        </p:txBody>
      </p:sp>
    </p:spTree>
    <p:extLst>
      <p:ext uri="{BB962C8B-B14F-4D97-AF65-F5344CB8AC3E}">
        <p14:creationId xmlns:p14="http://schemas.microsoft.com/office/powerpoint/2010/main" val="2651790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47" name="PlaceHolder 2"/>
          <p:cNvSpPr>
            <a:spLocks noGrp="1"/>
          </p:cNvSpPr>
          <p:nvPr>
            <p:ph type="subTitle"/>
          </p:nvPr>
        </p:nvSpPr>
        <p:spPr>
          <a:xfrm>
            <a:off x="976680" y="2427120"/>
            <a:ext cx="7854480" cy="389844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49" name="PlaceHolder 2"/>
          <p:cNvSpPr>
            <a:spLocks noGrp="1"/>
          </p:cNvSpPr>
          <p:nvPr>
            <p:ph type="body"/>
          </p:nvPr>
        </p:nvSpPr>
        <p:spPr>
          <a:xfrm>
            <a:off x="976680" y="2427120"/>
            <a:ext cx="785448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51"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52"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611720" y="241200"/>
            <a:ext cx="6860160" cy="612216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56"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57"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58"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60"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61"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62" name="PlaceHolder 4"/>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64"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65"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66" name="PlaceHolder 4"/>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68" name="PlaceHolder 2"/>
          <p:cNvSpPr>
            <a:spLocks noGrp="1"/>
          </p:cNvSpPr>
          <p:nvPr>
            <p:ph type="body"/>
          </p:nvPr>
        </p:nvSpPr>
        <p:spPr>
          <a:xfrm>
            <a:off x="976680" y="242712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69" name="PlaceHolder 3"/>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71"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2"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3"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4" name="PlaceHolder 5"/>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76" name="PlaceHolder 2"/>
          <p:cNvSpPr>
            <a:spLocks noGrp="1"/>
          </p:cNvSpPr>
          <p:nvPr>
            <p:ph type="body"/>
          </p:nvPr>
        </p:nvSpPr>
        <p:spPr>
          <a:xfrm>
            <a:off x="9766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7" name="PlaceHolder 3"/>
          <p:cNvSpPr>
            <a:spLocks noGrp="1"/>
          </p:cNvSpPr>
          <p:nvPr>
            <p:ph type="body"/>
          </p:nvPr>
        </p:nvSpPr>
        <p:spPr>
          <a:xfrm>
            <a:off x="363240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8" name="PlaceHolder 4"/>
          <p:cNvSpPr>
            <a:spLocks noGrp="1"/>
          </p:cNvSpPr>
          <p:nvPr>
            <p:ph type="body"/>
          </p:nvPr>
        </p:nvSpPr>
        <p:spPr>
          <a:xfrm>
            <a:off x="62884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79" name="PlaceHolder 5"/>
          <p:cNvSpPr>
            <a:spLocks noGrp="1"/>
          </p:cNvSpPr>
          <p:nvPr>
            <p:ph type="body"/>
          </p:nvPr>
        </p:nvSpPr>
        <p:spPr>
          <a:xfrm>
            <a:off x="9766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80" name="PlaceHolder 6"/>
          <p:cNvSpPr>
            <a:spLocks noGrp="1"/>
          </p:cNvSpPr>
          <p:nvPr>
            <p:ph type="body"/>
          </p:nvPr>
        </p:nvSpPr>
        <p:spPr>
          <a:xfrm>
            <a:off x="363240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81" name="PlaceHolder 7"/>
          <p:cNvSpPr>
            <a:spLocks noGrp="1"/>
          </p:cNvSpPr>
          <p:nvPr>
            <p:ph type="body"/>
          </p:nvPr>
        </p:nvSpPr>
        <p:spPr>
          <a:xfrm>
            <a:off x="62884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8377" y="1786027"/>
            <a:ext cx="4939484" cy="530044"/>
          </a:xfrm>
          <a:prstGeom prst="rect">
            <a:avLst/>
          </a:prstGeom>
        </p:spPr>
      </p:pic>
      <p:sp>
        <p:nvSpPr>
          <p:cNvPr id="2" name="Holder 2"/>
          <p:cNvSpPr>
            <a:spLocks noGrp="1"/>
          </p:cNvSpPr>
          <p:nvPr>
            <p:ph type="title"/>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504190" y="1737995"/>
            <a:ext cx="4386453"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7995"/>
            <a:ext cx="4386453"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7" name="Holder 7"/>
          <p:cNvSpPr>
            <a:spLocks noGrp="1"/>
          </p:cNvSpPr>
          <p:nvPr>
            <p:ph type="sldNum" sz="quarter" idx="7"/>
          </p:nvPr>
        </p:nvSpPr>
        <p:spPr/>
        <p:txBody>
          <a:bodyPr lIns="0" tIns="0" rIns="0" bIns="0"/>
          <a:lstStyle>
            <a:lvl1pPr>
              <a:defRPr sz="1400" b="0" i="0">
                <a:solidFill>
                  <a:srgbClr val="191919"/>
                </a:solidFill>
                <a:latin typeface="Times New Roman" panose="02020603050405020304"/>
                <a:cs typeface="Times New Roman" panose="02020603050405020304"/>
              </a:defRPr>
            </a:lvl1pPr>
          </a:lstStyle>
          <a:p>
            <a:pPr marL="38100">
              <a:lnSpc>
                <a:spcPts val="1630"/>
              </a:lnSpc>
            </a:pPr>
            <a:fld id="{81D60167-4931-47E6-BA6A-407CBD079E47}" type="slidenum">
              <a:rPr dirty="0"/>
              <a:t>‹#›</a:t>
            </a:fld>
            <a:endParaRPr dirty="0"/>
          </a:p>
        </p:txBody>
      </p:sp>
    </p:spTree>
    <p:extLst>
      <p:ext uri="{BB962C8B-B14F-4D97-AF65-F5344CB8AC3E}">
        <p14:creationId xmlns:p14="http://schemas.microsoft.com/office/powerpoint/2010/main" val="23895520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6" name="Holder 6"/>
          <p:cNvSpPr>
            <a:spLocks noGrp="1"/>
          </p:cNvSpPr>
          <p:nvPr>
            <p:ph type="sldNum" sz="quarter" idx="7"/>
          </p:nvPr>
        </p:nvSpPr>
        <p:spPr/>
        <p:txBody>
          <a:bodyPr lIns="0" tIns="0" rIns="0" bIns="0"/>
          <a:lstStyle>
            <a:lvl1pPr>
              <a:defRPr sz="1400" b="0" i="0">
                <a:solidFill>
                  <a:srgbClr val="191919"/>
                </a:solidFill>
                <a:latin typeface="Times New Roman" panose="02020603050405020304"/>
                <a:cs typeface="Times New Roman" panose="02020603050405020304"/>
              </a:defRPr>
            </a:lvl1pPr>
          </a:lstStyle>
          <a:p>
            <a:pPr marL="38100">
              <a:lnSpc>
                <a:spcPts val="1630"/>
              </a:lnSpc>
            </a:pPr>
            <a:fld id="{81D60167-4931-47E6-BA6A-407CBD079E47}" type="slidenum">
              <a:rPr dirty="0"/>
              <a:t>‹#›</a:t>
            </a:fld>
            <a:endParaRPr dirty="0"/>
          </a:p>
        </p:txBody>
      </p:sp>
    </p:spTree>
    <p:extLst>
      <p:ext uri="{BB962C8B-B14F-4D97-AF65-F5344CB8AC3E}">
        <p14:creationId xmlns:p14="http://schemas.microsoft.com/office/powerpoint/2010/main" val="28595703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88" name="PlaceHolder 2"/>
          <p:cNvSpPr>
            <a:spLocks noGrp="1"/>
          </p:cNvSpPr>
          <p:nvPr>
            <p:ph type="subTitle"/>
          </p:nvPr>
        </p:nvSpPr>
        <p:spPr>
          <a:xfrm>
            <a:off x="976680" y="2427120"/>
            <a:ext cx="7854480" cy="389844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90" name="PlaceHolder 2"/>
          <p:cNvSpPr>
            <a:spLocks noGrp="1"/>
          </p:cNvSpPr>
          <p:nvPr>
            <p:ph type="body"/>
          </p:nvPr>
        </p:nvSpPr>
        <p:spPr>
          <a:xfrm>
            <a:off x="976680" y="2427120"/>
            <a:ext cx="785448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92"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93"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1611720" y="241200"/>
            <a:ext cx="6860160" cy="6122160"/>
          </a:xfrm>
          <a:prstGeom prst="rect">
            <a:avLst/>
          </a:prstGeom>
        </p:spPr>
        <p:txBody>
          <a:bodyPr lIns="0" tIns="0" rIns="0" bIns="0" anchor="ctr"/>
          <a:lstStyle>
            <a:lvl1pPr>
              <a:defRPr>
                <a:latin typeface="Calibri" panose="020F0502020204030204" pitchFamily="34" charset="0"/>
              </a:defRPr>
            </a:lvl1pPr>
          </a:lstStyle>
          <a:p>
            <a:pPr algn="ctr"/>
            <a:endParaRPr lang="en-AU" sz="3200" b="0" strike="noStrike" spc="-1" dirty="0">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97"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98" name="PlaceHolder 3"/>
          <p:cNvSpPr>
            <a:spLocks noGrp="1"/>
          </p:cNvSpPr>
          <p:nvPr>
            <p:ph type="body"/>
          </p:nvPr>
        </p:nvSpPr>
        <p:spPr>
          <a:xfrm>
            <a:off x="50014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99"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01" name="PlaceHolder 2"/>
          <p:cNvSpPr>
            <a:spLocks noGrp="1"/>
          </p:cNvSpPr>
          <p:nvPr>
            <p:ph type="body"/>
          </p:nvPr>
        </p:nvSpPr>
        <p:spPr>
          <a:xfrm>
            <a:off x="976680" y="2427120"/>
            <a:ext cx="3832920" cy="389844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02"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03" name="PlaceHolder 4"/>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05"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06"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07" name="PlaceHolder 4"/>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09" name="PlaceHolder 2"/>
          <p:cNvSpPr>
            <a:spLocks noGrp="1"/>
          </p:cNvSpPr>
          <p:nvPr>
            <p:ph type="body"/>
          </p:nvPr>
        </p:nvSpPr>
        <p:spPr>
          <a:xfrm>
            <a:off x="976680" y="242712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0" name="PlaceHolder 3"/>
          <p:cNvSpPr>
            <a:spLocks noGrp="1"/>
          </p:cNvSpPr>
          <p:nvPr>
            <p:ph type="body"/>
          </p:nvPr>
        </p:nvSpPr>
        <p:spPr>
          <a:xfrm>
            <a:off x="976680" y="4463640"/>
            <a:ext cx="785448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12" name="PlaceHolder 2"/>
          <p:cNvSpPr>
            <a:spLocks noGrp="1"/>
          </p:cNvSpPr>
          <p:nvPr>
            <p:ph type="body"/>
          </p:nvPr>
        </p:nvSpPr>
        <p:spPr>
          <a:xfrm>
            <a:off x="9766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3" name="PlaceHolder 3"/>
          <p:cNvSpPr>
            <a:spLocks noGrp="1"/>
          </p:cNvSpPr>
          <p:nvPr>
            <p:ph type="body"/>
          </p:nvPr>
        </p:nvSpPr>
        <p:spPr>
          <a:xfrm>
            <a:off x="5001480" y="242712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4" name="PlaceHolder 4"/>
          <p:cNvSpPr>
            <a:spLocks noGrp="1"/>
          </p:cNvSpPr>
          <p:nvPr>
            <p:ph type="body"/>
          </p:nvPr>
        </p:nvSpPr>
        <p:spPr>
          <a:xfrm>
            <a:off x="9766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5" name="PlaceHolder 5"/>
          <p:cNvSpPr>
            <a:spLocks noGrp="1"/>
          </p:cNvSpPr>
          <p:nvPr>
            <p:ph type="body"/>
          </p:nvPr>
        </p:nvSpPr>
        <p:spPr>
          <a:xfrm>
            <a:off x="5001480" y="4463640"/>
            <a:ext cx="383292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1611720" y="241200"/>
            <a:ext cx="6860160" cy="1320480"/>
          </a:xfrm>
          <a:prstGeom prst="rect">
            <a:avLst/>
          </a:prstGeom>
        </p:spPr>
        <p:txBody>
          <a:bodyPr lIns="0" tIns="0" rIns="0" bIns="0" anchor="ctr"/>
          <a:lstStyle/>
          <a:p>
            <a:endParaRPr lang="en-AU" sz="1800" b="0" strike="noStrike" spc="-1">
              <a:solidFill>
                <a:srgbClr val="000000"/>
              </a:solidFill>
              <a:latin typeface="Calibri"/>
            </a:endParaRPr>
          </a:p>
        </p:txBody>
      </p:sp>
      <p:sp>
        <p:nvSpPr>
          <p:cNvPr id="117" name="PlaceHolder 2"/>
          <p:cNvSpPr>
            <a:spLocks noGrp="1"/>
          </p:cNvSpPr>
          <p:nvPr>
            <p:ph type="body"/>
          </p:nvPr>
        </p:nvSpPr>
        <p:spPr>
          <a:xfrm>
            <a:off x="9766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8" name="PlaceHolder 3"/>
          <p:cNvSpPr>
            <a:spLocks noGrp="1"/>
          </p:cNvSpPr>
          <p:nvPr>
            <p:ph type="body"/>
          </p:nvPr>
        </p:nvSpPr>
        <p:spPr>
          <a:xfrm>
            <a:off x="363240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19" name="PlaceHolder 4"/>
          <p:cNvSpPr>
            <a:spLocks noGrp="1"/>
          </p:cNvSpPr>
          <p:nvPr>
            <p:ph type="body"/>
          </p:nvPr>
        </p:nvSpPr>
        <p:spPr>
          <a:xfrm>
            <a:off x="6288480" y="242712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20" name="PlaceHolder 5"/>
          <p:cNvSpPr>
            <a:spLocks noGrp="1"/>
          </p:cNvSpPr>
          <p:nvPr>
            <p:ph type="body"/>
          </p:nvPr>
        </p:nvSpPr>
        <p:spPr>
          <a:xfrm>
            <a:off x="9766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21" name="PlaceHolder 6"/>
          <p:cNvSpPr>
            <a:spLocks noGrp="1"/>
          </p:cNvSpPr>
          <p:nvPr>
            <p:ph type="body"/>
          </p:nvPr>
        </p:nvSpPr>
        <p:spPr>
          <a:xfrm>
            <a:off x="363240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
        <p:nvSpPr>
          <p:cNvPr id="122" name="PlaceHolder 7"/>
          <p:cNvSpPr>
            <a:spLocks noGrp="1"/>
          </p:cNvSpPr>
          <p:nvPr>
            <p:ph type="body"/>
          </p:nvPr>
        </p:nvSpPr>
        <p:spPr>
          <a:xfrm>
            <a:off x="6288480" y="4463640"/>
            <a:ext cx="2529000" cy="1859400"/>
          </a:xfrm>
          <a:prstGeom prst="rect">
            <a:avLst/>
          </a:prstGeom>
        </p:spPr>
        <p:txBody>
          <a:bodyPr lIns="0" tIns="0" rIns="0" bIns="0">
            <a:normAutofit/>
          </a:bodyPr>
          <a:lstStyle/>
          <a:p>
            <a:endParaRPr lang="en-AU" sz="1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3200" b="0" i="0">
                <a:solidFill>
                  <a:srgbClr val="191919"/>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6" name="Holder 6"/>
          <p:cNvSpPr>
            <a:spLocks noGrp="1"/>
          </p:cNvSpPr>
          <p:nvPr>
            <p:ph type="sldNum" sz="quarter" idx="7"/>
          </p:nvPr>
        </p:nvSpPr>
        <p:spPr/>
        <p:txBody>
          <a:bodyPr lIns="0" tIns="0" rIns="0" bIns="0"/>
          <a:lstStyle>
            <a:lvl1pPr>
              <a:defRPr sz="1400" b="0" i="0">
                <a:solidFill>
                  <a:srgbClr val="191919"/>
                </a:solidFill>
                <a:latin typeface="Times New Roman" panose="02020603050405020304"/>
                <a:cs typeface="Times New Roman" panose="02020603050405020304"/>
              </a:defRPr>
            </a:lvl1pPr>
          </a:lstStyle>
          <a:p>
            <a:pPr marL="38100">
              <a:lnSpc>
                <a:spcPts val="1630"/>
              </a:lnSpc>
            </a:pPr>
            <a:fld id="{81D60167-4931-47E6-BA6A-407CBD079E47}" type="slidenum">
              <a:rPr dirty="0"/>
              <a:t>‹#›</a:t>
            </a:fld>
            <a:endParaRPr dirty="0"/>
          </a:p>
        </p:txBody>
      </p:sp>
    </p:spTree>
    <p:extLst>
      <p:ext uri="{BB962C8B-B14F-4D97-AF65-F5344CB8AC3E}">
        <p14:creationId xmlns:p14="http://schemas.microsoft.com/office/powerpoint/2010/main" val="1320735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p:nvPr>
        </p:nvSpPr>
        <p:spPr>
          <a:xfrm>
            <a:off x="3428640" y="7027560"/>
            <a:ext cx="322632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2" name="PlaceHolder 2"/>
          <p:cNvSpPr>
            <a:spLocks noGrp="1"/>
          </p:cNvSpPr>
          <p:nvPr>
            <p:ph type="dt"/>
          </p:nvPr>
        </p:nvSpPr>
        <p:spPr>
          <a:xfrm>
            <a:off x="504360" y="7027560"/>
            <a:ext cx="231876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3" name="PlaceHolder 3"/>
          <p:cNvSpPr>
            <a:spLocks noGrp="1"/>
          </p:cNvSpPr>
          <p:nvPr>
            <p:ph type="sldNum"/>
          </p:nvPr>
        </p:nvSpPr>
        <p:spPr>
          <a:xfrm>
            <a:off x="9357480" y="6874920"/>
            <a:ext cx="267480" cy="22248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4" name="PlaceHolder 4"/>
          <p:cNvSpPr>
            <a:spLocks noGrp="1"/>
          </p:cNvSpPr>
          <p:nvPr>
            <p:ph type="title"/>
          </p:nvPr>
        </p:nvSpPr>
        <p:spPr>
          <a:xfrm>
            <a:off x="504000" y="301320"/>
            <a:ext cx="9074880" cy="1261440"/>
          </a:xfrm>
          <a:prstGeom prst="rect">
            <a:avLst/>
          </a:prstGeom>
        </p:spPr>
        <p:txBody>
          <a:bodyPr lIns="0" tIns="0" rIns="0" bIns="0" anchor="ctr"/>
          <a:lstStyle/>
          <a:p>
            <a:r>
              <a:rPr lang="en-AU" sz="1800" b="0" strike="noStrike" spc="-1">
                <a:solidFill>
                  <a:srgbClr val="000000"/>
                </a:solidFill>
                <a:latin typeface="Calibri"/>
              </a:rPr>
              <a:t>Click to edit the title text format</a:t>
            </a:r>
          </a:p>
        </p:txBody>
      </p:sp>
      <p:sp>
        <p:nvSpPr>
          <p:cNvPr id="5" name="PlaceHolder 5"/>
          <p:cNvSpPr>
            <a:spLocks noGrp="1"/>
          </p:cNvSpPr>
          <p:nvPr>
            <p:ph type="body"/>
          </p:nvPr>
        </p:nvSpPr>
        <p:spPr>
          <a:xfrm>
            <a:off x="504000" y="1767960"/>
            <a:ext cx="9074880" cy="4382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AU" sz="1800" b="0" strike="noStrike" spc="-1">
                <a:solidFill>
                  <a:srgbClr val="000000"/>
                </a:solidFill>
                <a:latin typeface="Calibri"/>
              </a:rPr>
              <a:t>Click to edit the outline text format</a:t>
            </a:r>
          </a:p>
          <a:p>
            <a:pPr marL="864235" lvl="1" indent="-323850">
              <a:spcBef>
                <a:spcPts val="1135"/>
              </a:spcBef>
              <a:buClr>
                <a:srgbClr val="000000"/>
              </a:buClr>
              <a:buSzPct val="75000"/>
              <a:buFont typeface="Symbol" charset="2"/>
              <a:buChar char=""/>
            </a:pPr>
            <a:r>
              <a:rPr lang="en-AU" sz="1800" b="0" strike="noStrike" spc="-1">
                <a:solidFill>
                  <a:srgbClr val="000000"/>
                </a:solidFill>
                <a:latin typeface="Calibri"/>
              </a:rPr>
              <a:t>Second Outline Level</a:t>
            </a:r>
          </a:p>
          <a:p>
            <a:pPr marL="1296035" lvl="2" indent="-288290">
              <a:spcBef>
                <a:spcPts val="850"/>
              </a:spcBef>
              <a:buClr>
                <a:srgbClr val="000000"/>
              </a:buClr>
              <a:buSzPct val="45000"/>
              <a:buFont typeface="Wingdings" panose="05000000000000000000" pitchFamily="2" charset="2"/>
              <a:buChar char=""/>
            </a:pPr>
            <a:r>
              <a:rPr lang="en-AU" sz="1800" b="0" strike="noStrike" spc="-1">
                <a:solidFill>
                  <a:srgbClr val="000000"/>
                </a:solidFill>
                <a:latin typeface="Calibri"/>
              </a:rPr>
              <a:t>Third Outline Level</a:t>
            </a:r>
          </a:p>
          <a:p>
            <a:pPr marL="1727835" lvl="3" indent="-215900">
              <a:spcBef>
                <a:spcPts val="565"/>
              </a:spcBef>
              <a:buClr>
                <a:srgbClr val="000000"/>
              </a:buClr>
              <a:buSzPct val="75000"/>
              <a:buFont typeface="Symbol" charset="2"/>
              <a:buChar char=""/>
            </a:pPr>
            <a:r>
              <a:rPr lang="en-AU" sz="1800" b="0" strike="noStrike" spc="-1">
                <a:solidFill>
                  <a:srgbClr val="000000"/>
                </a:solidFill>
                <a:latin typeface="Calibri"/>
              </a:rPr>
              <a:t>Fourth Outline Level</a:t>
            </a:r>
          </a:p>
          <a:p>
            <a:pPr marL="2160270" lvl="4"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Fifth Outline Level</a:t>
            </a:r>
          </a:p>
          <a:p>
            <a:pPr marL="2592070" lvl="5"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Sixth Outline Level</a:t>
            </a:r>
          </a:p>
          <a:p>
            <a:pPr marL="3023870" lvl="6"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7" r:id="rId13"/>
    <p:sldLayoutId id="2147483688" r:id="rId14"/>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1611720" y="241200"/>
            <a:ext cx="6860160" cy="1320480"/>
          </a:xfrm>
          <a:prstGeom prst="rect">
            <a:avLst/>
          </a:prstGeom>
        </p:spPr>
        <p:txBody>
          <a:bodyPr lIns="0" tIns="0" rIns="0" bIns="0"/>
          <a:lstStyle/>
          <a:p>
            <a:r>
              <a:rPr lang="en-AU" sz="4400" b="0" strike="noStrike" spc="-1">
                <a:solidFill>
                  <a:srgbClr val="000000"/>
                </a:solidFill>
                <a:latin typeface="Calibri"/>
              </a:rPr>
              <a:t>Click to edit the title text format</a:t>
            </a:r>
          </a:p>
        </p:txBody>
      </p:sp>
      <p:sp>
        <p:nvSpPr>
          <p:cNvPr id="42" name="PlaceHolder 2"/>
          <p:cNvSpPr>
            <a:spLocks noGrp="1"/>
          </p:cNvSpPr>
          <p:nvPr>
            <p:ph type="body"/>
          </p:nvPr>
        </p:nvSpPr>
        <p:spPr>
          <a:xfrm>
            <a:off x="976680" y="2427120"/>
            <a:ext cx="7854480" cy="3898440"/>
          </a:xfrm>
          <a:prstGeom prst="rect">
            <a:avLst/>
          </a:prstGeom>
        </p:spPr>
        <p:txBody>
          <a:bodyPr lIns="0" tIns="0" rIns="0" bIns="0"/>
          <a:lstStyle/>
          <a:p>
            <a:pPr marL="431800" indent="-323850">
              <a:spcBef>
                <a:spcPts val="1415"/>
              </a:spcBef>
              <a:buClr>
                <a:srgbClr val="000000"/>
              </a:buClr>
              <a:buSzPct val="45000"/>
              <a:buFont typeface="Wingdings" panose="05000000000000000000" pitchFamily="2" charset="2"/>
              <a:buChar char=""/>
            </a:pPr>
            <a:r>
              <a:rPr lang="en-AU" sz="2800" b="0" strike="noStrike" spc="-1">
                <a:solidFill>
                  <a:srgbClr val="000000"/>
                </a:solidFill>
                <a:latin typeface="Calibri"/>
              </a:rPr>
              <a:t>Click to edit the outline text format</a:t>
            </a:r>
          </a:p>
          <a:p>
            <a:pPr marL="864235" lvl="1" indent="-323850">
              <a:spcBef>
                <a:spcPts val="1135"/>
              </a:spcBef>
              <a:buClr>
                <a:srgbClr val="000000"/>
              </a:buClr>
              <a:buSzPct val="75000"/>
              <a:buFont typeface="Symbol" charset="2"/>
              <a:buChar char=""/>
            </a:pPr>
            <a:r>
              <a:rPr lang="en-AU" sz="2800" b="0" strike="noStrike" spc="-1">
                <a:solidFill>
                  <a:srgbClr val="000000"/>
                </a:solidFill>
                <a:latin typeface="Calibri"/>
              </a:rPr>
              <a:t>Second Outline Level</a:t>
            </a:r>
          </a:p>
          <a:p>
            <a:pPr marL="1296035" lvl="2" indent="-288290">
              <a:spcBef>
                <a:spcPts val="850"/>
              </a:spcBef>
              <a:buClr>
                <a:srgbClr val="000000"/>
              </a:buClr>
              <a:buSzPct val="45000"/>
              <a:buFont typeface="Wingdings" panose="05000000000000000000" pitchFamily="2" charset="2"/>
              <a:buChar char=""/>
            </a:pPr>
            <a:r>
              <a:rPr lang="en-AU" sz="2800" b="0" strike="noStrike" spc="-1">
                <a:solidFill>
                  <a:srgbClr val="000000"/>
                </a:solidFill>
                <a:latin typeface="Calibri"/>
              </a:rPr>
              <a:t>Third Outline Level</a:t>
            </a:r>
          </a:p>
          <a:p>
            <a:pPr marL="1727835" lvl="3" indent="-215900">
              <a:spcBef>
                <a:spcPts val="565"/>
              </a:spcBef>
              <a:buClr>
                <a:srgbClr val="000000"/>
              </a:buClr>
              <a:buSzPct val="75000"/>
              <a:buFont typeface="Symbol" charset="2"/>
              <a:buChar char=""/>
            </a:pPr>
            <a:r>
              <a:rPr lang="en-AU" sz="2800" b="0" strike="noStrike" spc="-1">
                <a:solidFill>
                  <a:srgbClr val="000000"/>
                </a:solidFill>
                <a:latin typeface="Calibri"/>
              </a:rPr>
              <a:t>Fourth Outline Level</a:t>
            </a:r>
          </a:p>
          <a:p>
            <a:pPr marL="2160270" lvl="4" indent="-215900">
              <a:spcBef>
                <a:spcPts val="285"/>
              </a:spcBef>
              <a:buClr>
                <a:srgbClr val="000000"/>
              </a:buClr>
              <a:buSzPct val="45000"/>
              <a:buFont typeface="Wingdings" panose="05000000000000000000" pitchFamily="2" charset="2"/>
              <a:buChar char=""/>
            </a:pPr>
            <a:r>
              <a:rPr lang="en-AU" sz="2800" b="0" strike="noStrike" spc="-1">
                <a:solidFill>
                  <a:srgbClr val="000000"/>
                </a:solidFill>
                <a:latin typeface="Calibri"/>
              </a:rPr>
              <a:t>Fifth Outline Level</a:t>
            </a:r>
          </a:p>
          <a:p>
            <a:pPr marL="2592070" lvl="5" indent="-215900">
              <a:spcBef>
                <a:spcPts val="285"/>
              </a:spcBef>
              <a:buClr>
                <a:srgbClr val="000000"/>
              </a:buClr>
              <a:buSzPct val="45000"/>
              <a:buFont typeface="Wingdings" panose="05000000000000000000" pitchFamily="2" charset="2"/>
              <a:buChar char=""/>
            </a:pPr>
            <a:r>
              <a:rPr lang="en-AU" sz="2800" b="0" strike="noStrike" spc="-1">
                <a:solidFill>
                  <a:srgbClr val="000000"/>
                </a:solidFill>
                <a:latin typeface="Calibri"/>
              </a:rPr>
              <a:t>Sixth Outline Level</a:t>
            </a:r>
          </a:p>
          <a:p>
            <a:pPr marL="3023870" lvl="6" indent="-215900">
              <a:spcBef>
                <a:spcPts val="285"/>
              </a:spcBef>
              <a:buClr>
                <a:srgbClr val="000000"/>
              </a:buClr>
              <a:buSzPct val="45000"/>
              <a:buFont typeface="Wingdings" panose="05000000000000000000" pitchFamily="2" charset="2"/>
              <a:buChar char=""/>
            </a:pPr>
            <a:r>
              <a:rPr lang="en-AU" sz="2800" b="0" strike="noStrike" spc="-1">
                <a:solidFill>
                  <a:srgbClr val="000000"/>
                </a:solidFill>
                <a:latin typeface="Calibri"/>
              </a:rPr>
              <a:t>Seventh Outline Level</a:t>
            </a:r>
          </a:p>
        </p:txBody>
      </p:sp>
      <p:sp>
        <p:nvSpPr>
          <p:cNvPr id="43" name="PlaceHolder 3"/>
          <p:cNvSpPr>
            <a:spLocks noGrp="1"/>
          </p:cNvSpPr>
          <p:nvPr>
            <p:ph type="ftr"/>
          </p:nvPr>
        </p:nvSpPr>
        <p:spPr>
          <a:xfrm>
            <a:off x="3428640" y="7027560"/>
            <a:ext cx="322632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44" name="PlaceHolder 4"/>
          <p:cNvSpPr>
            <a:spLocks noGrp="1"/>
          </p:cNvSpPr>
          <p:nvPr>
            <p:ph type="dt"/>
          </p:nvPr>
        </p:nvSpPr>
        <p:spPr>
          <a:xfrm>
            <a:off x="504360" y="7027560"/>
            <a:ext cx="231876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45" name="PlaceHolder 5"/>
          <p:cNvSpPr>
            <a:spLocks noGrp="1"/>
          </p:cNvSpPr>
          <p:nvPr>
            <p:ph type="sldNum"/>
          </p:nvPr>
        </p:nvSpPr>
        <p:spPr>
          <a:xfrm>
            <a:off x="9357480" y="6874920"/>
            <a:ext cx="267480" cy="222480"/>
          </a:xfrm>
          <a:prstGeom prst="rect">
            <a:avLst/>
          </a:prstGeom>
        </p:spPr>
        <p:txBody>
          <a:bodyPr lIns="0" tIns="0" rIns="0" bIns="0"/>
          <a:lstStyle>
            <a:lvl1pPr>
              <a:defRPr>
                <a:latin typeface="Calibri" panose="020F0502020204030204" pitchFamily="34" charset="0"/>
              </a:defRPr>
            </a:lvl1pPr>
          </a:lstStyle>
          <a:p>
            <a:endParaRPr lang="en-AU" sz="2400" spc="-1"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9" r:id="rId13"/>
    <p:sldLayoutId id="2147483690" r:id="rId14"/>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756360" y="2342520"/>
            <a:ext cx="8570880" cy="1341000"/>
          </a:xfrm>
          <a:prstGeom prst="rect">
            <a:avLst/>
          </a:prstGeom>
        </p:spPr>
        <p:txBody>
          <a:bodyPr lIns="0" tIns="0" rIns="0" bIns="0"/>
          <a:lstStyle/>
          <a:p>
            <a:r>
              <a:rPr lang="en-AU" sz="4400" b="0" strike="noStrike" spc="-1">
                <a:solidFill>
                  <a:srgbClr val="000000"/>
                </a:solidFill>
                <a:latin typeface="Calibri"/>
              </a:rPr>
              <a:t>Click to edit the title text format</a:t>
            </a:r>
          </a:p>
        </p:txBody>
      </p:sp>
      <p:sp>
        <p:nvSpPr>
          <p:cNvPr id="83" name="PlaceHolder 2"/>
          <p:cNvSpPr>
            <a:spLocks noGrp="1"/>
          </p:cNvSpPr>
          <p:nvPr>
            <p:ph type="ftr"/>
          </p:nvPr>
        </p:nvSpPr>
        <p:spPr>
          <a:xfrm>
            <a:off x="3428640" y="7027560"/>
            <a:ext cx="322632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84" name="PlaceHolder 3"/>
          <p:cNvSpPr>
            <a:spLocks noGrp="1"/>
          </p:cNvSpPr>
          <p:nvPr>
            <p:ph type="dt"/>
          </p:nvPr>
        </p:nvSpPr>
        <p:spPr>
          <a:xfrm>
            <a:off x="504360" y="7027560"/>
            <a:ext cx="2318760" cy="37764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85" name="PlaceHolder 4"/>
          <p:cNvSpPr>
            <a:spLocks noGrp="1"/>
          </p:cNvSpPr>
          <p:nvPr>
            <p:ph type="sldNum"/>
          </p:nvPr>
        </p:nvSpPr>
        <p:spPr>
          <a:xfrm>
            <a:off x="9357480" y="6874920"/>
            <a:ext cx="267480" cy="222480"/>
          </a:xfrm>
          <a:prstGeom prst="rect">
            <a:avLst/>
          </a:prstGeom>
        </p:spPr>
        <p:txBody>
          <a:bodyPr lIns="0" tIns="0" rIns="0" bIns="0"/>
          <a:lstStyle>
            <a:lvl1pPr>
              <a:defRPr>
                <a:latin typeface="Calibri" panose="020F0502020204030204" pitchFamily="34" charset="0"/>
              </a:defRPr>
            </a:lvl1pPr>
          </a:lstStyle>
          <a:p>
            <a:endParaRPr lang="en-AU" sz="2400" spc="-1" dirty="0"/>
          </a:p>
        </p:txBody>
      </p:sp>
      <p:sp>
        <p:nvSpPr>
          <p:cNvPr id="86" name="PlaceHolder 5"/>
          <p:cNvSpPr>
            <a:spLocks noGrp="1"/>
          </p:cNvSpPr>
          <p:nvPr>
            <p:ph type="body"/>
          </p:nvPr>
        </p:nvSpPr>
        <p:spPr>
          <a:xfrm>
            <a:off x="504000" y="1767960"/>
            <a:ext cx="9074880" cy="4382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AU" sz="1800" b="0" strike="noStrike" spc="-1">
                <a:solidFill>
                  <a:srgbClr val="000000"/>
                </a:solidFill>
                <a:latin typeface="Calibri"/>
              </a:rPr>
              <a:t>Click to edit the outline text format</a:t>
            </a:r>
          </a:p>
          <a:p>
            <a:pPr marL="864235" lvl="1" indent="-323850">
              <a:spcBef>
                <a:spcPts val="1135"/>
              </a:spcBef>
              <a:buClr>
                <a:srgbClr val="000000"/>
              </a:buClr>
              <a:buSzPct val="75000"/>
              <a:buFont typeface="Symbol" charset="2"/>
              <a:buChar char=""/>
            </a:pPr>
            <a:r>
              <a:rPr lang="en-AU" sz="1800" b="0" strike="noStrike" spc="-1">
                <a:solidFill>
                  <a:srgbClr val="000000"/>
                </a:solidFill>
                <a:latin typeface="Calibri"/>
              </a:rPr>
              <a:t>Second Outline Level</a:t>
            </a:r>
          </a:p>
          <a:p>
            <a:pPr marL="1296035" lvl="2" indent="-288290">
              <a:spcBef>
                <a:spcPts val="850"/>
              </a:spcBef>
              <a:buClr>
                <a:srgbClr val="000000"/>
              </a:buClr>
              <a:buSzPct val="45000"/>
              <a:buFont typeface="Wingdings" panose="05000000000000000000" pitchFamily="2" charset="2"/>
              <a:buChar char=""/>
            </a:pPr>
            <a:r>
              <a:rPr lang="en-AU" sz="1800" b="0" strike="noStrike" spc="-1">
                <a:solidFill>
                  <a:srgbClr val="000000"/>
                </a:solidFill>
                <a:latin typeface="Calibri"/>
              </a:rPr>
              <a:t>Third Outline Level</a:t>
            </a:r>
          </a:p>
          <a:p>
            <a:pPr marL="1727835" lvl="3" indent="-215900">
              <a:spcBef>
                <a:spcPts val="565"/>
              </a:spcBef>
              <a:buClr>
                <a:srgbClr val="000000"/>
              </a:buClr>
              <a:buSzPct val="75000"/>
              <a:buFont typeface="Symbol" charset="2"/>
              <a:buChar char=""/>
            </a:pPr>
            <a:r>
              <a:rPr lang="en-AU" sz="1800" b="0" strike="noStrike" spc="-1">
                <a:solidFill>
                  <a:srgbClr val="000000"/>
                </a:solidFill>
                <a:latin typeface="Calibri"/>
              </a:rPr>
              <a:t>Fourth Outline Level</a:t>
            </a:r>
          </a:p>
          <a:p>
            <a:pPr marL="2160270" lvl="4"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Fifth Outline Level</a:t>
            </a:r>
          </a:p>
          <a:p>
            <a:pPr marL="2592070" lvl="5"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Sixth Outline Level</a:t>
            </a:r>
          </a:p>
          <a:p>
            <a:pPr marL="3023870" lvl="6" indent="-215900">
              <a:spcBef>
                <a:spcPts val="285"/>
              </a:spcBef>
              <a:buClr>
                <a:srgbClr val="000000"/>
              </a:buClr>
              <a:buSzPct val="45000"/>
              <a:buFont typeface="Wingdings" panose="05000000000000000000" pitchFamily="2" charset="2"/>
              <a:buChar char=""/>
            </a:pPr>
            <a:r>
              <a:rPr lang="en-AU"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91" r:id="rId1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1"/>
          <p:cNvSpPr/>
          <p:nvPr/>
        </p:nvSpPr>
        <p:spPr>
          <a:xfrm>
            <a:off x="948488" y="1901160"/>
            <a:ext cx="8371570" cy="3604680"/>
          </a:xfrm>
          <a:prstGeom prst="rect">
            <a:avLst/>
          </a:prstGeom>
          <a:noFill/>
          <a:ln>
            <a:noFill/>
          </a:ln>
        </p:spPr>
        <p:style>
          <a:lnRef idx="0">
            <a:srgbClr val="FFFFFF"/>
          </a:lnRef>
          <a:fillRef idx="0">
            <a:srgbClr val="FFFFFF"/>
          </a:fillRef>
          <a:effectRef idx="0">
            <a:srgbClr val="FFFFFF"/>
          </a:effectRef>
          <a:fontRef idx="minor"/>
        </p:style>
        <p:txBody>
          <a:bodyPr lIns="0" tIns="12600" rIns="0" bIns="0"/>
          <a:lstStyle/>
          <a:p>
            <a:pPr marL="7620" algn="ctr">
              <a:lnSpc>
                <a:spcPts val="3715"/>
              </a:lnSpc>
              <a:spcBef>
                <a:spcPts val="100"/>
              </a:spcBef>
            </a:pPr>
            <a:r>
              <a:rPr lang="en-AU" sz="4000" b="0" strike="noStrike" spc="-1" dirty="0">
                <a:solidFill>
                  <a:srgbClr val="191919"/>
                </a:solidFill>
                <a:latin typeface="Calibri" panose="020F0502020204030204" pitchFamily="34" charset="0"/>
              </a:rPr>
              <a:t>Gene</a:t>
            </a:r>
            <a:r>
              <a:rPr lang="en-AU" sz="4000" b="0" strike="noStrike" spc="-9" dirty="0">
                <a:solidFill>
                  <a:srgbClr val="191919"/>
                </a:solidFill>
                <a:latin typeface="Calibri" panose="020F0502020204030204" pitchFamily="34" charset="0"/>
              </a:rPr>
              <a:t> </a:t>
            </a:r>
            <a:r>
              <a:rPr lang="en-AU" sz="4000" b="0" strike="noStrike" spc="-1" dirty="0">
                <a:solidFill>
                  <a:srgbClr val="191919"/>
                </a:solidFill>
                <a:latin typeface="Calibri" panose="020F0502020204030204" pitchFamily="34" charset="0"/>
              </a:rPr>
              <a:t>Sequence</a:t>
            </a:r>
            <a:r>
              <a:rPr lang="en-AU" sz="4000" b="0" strike="noStrike" spc="-188" dirty="0">
                <a:solidFill>
                  <a:srgbClr val="191919"/>
                </a:solidFill>
                <a:latin typeface="Calibri" panose="020F0502020204030204" pitchFamily="34" charset="0"/>
              </a:rPr>
              <a:t> </a:t>
            </a:r>
            <a:r>
              <a:rPr lang="en-AU" sz="4000" b="0" strike="noStrike" spc="-4" dirty="0">
                <a:solidFill>
                  <a:srgbClr val="191919"/>
                </a:solidFill>
                <a:latin typeface="Calibri" panose="020F0502020204030204" pitchFamily="34" charset="0"/>
              </a:rPr>
              <a:t>Analysis</a:t>
            </a:r>
            <a:endParaRPr lang="en-AU" sz="4000" b="0" strike="noStrike" spc="-1" dirty="0">
              <a:latin typeface="Calibri" panose="020F0502020204030204" pitchFamily="34" charset="0"/>
            </a:endParaRPr>
          </a:p>
          <a:p>
            <a:pPr>
              <a:lnSpc>
                <a:spcPct val="100000"/>
              </a:lnSpc>
              <a:spcBef>
                <a:spcPts val="45"/>
              </a:spcBef>
            </a:pPr>
            <a:endParaRPr lang="en-AU" sz="4000" b="0" strike="noStrike" spc="-1" dirty="0">
              <a:latin typeface="Calibri" panose="020F0502020204030204" pitchFamily="34" charset="0"/>
            </a:endParaRPr>
          </a:p>
          <a:p>
            <a:pPr algn="ctr">
              <a:lnSpc>
                <a:spcPct val="100000"/>
              </a:lnSpc>
              <a:spcBef>
                <a:spcPts val="45"/>
              </a:spcBef>
            </a:pPr>
            <a:r>
              <a:rPr lang="en-AU" sz="4000" b="0" strike="noStrike" spc="-1" dirty="0">
                <a:solidFill>
                  <a:srgbClr val="191919"/>
                </a:solidFill>
                <a:latin typeface="Calibri" panose="020F0502020204030204" pitchFamily="34" charset="0"/>
              </a:rPr>
              <a:t>Lecture 7: </a:t>
            </a:r>
            <a:r>
              <a:rPr lang="en-AU" sz="4000" b="0" strike="noStrike" spc="4" dirty="0">
                <a:solidFill>
                  <a:srgbClr val="191919"/>
                </a:solidFill>
                <a:latin typeface="Calibri" panose="020F0502020204030204" pitchFamily="34" charset="0"/>
              </a:rPr>
              <a:t> </a:t>
            </a:r>
            <a:r>
              <a:rPr lang="en-AU" sz="4000" b="1" strike="noStrike" spc="4" dirty="0">
                <a:solidFill>
                  <a:srgbClr val="191919"/>
                </a:solidFill>
                <a:latin typeface="Calibri" panose="020F0502020204030204" pitchFamily="34" charset="0"/>
              </a:rPr>
              <a:t>BLAST – Homology Search</a:t>
            </a:r>
          </a:p>
          <a:p>
            <a:pPr algn="ctr">
              <a:lnSpc>
                <a:spcPct val="100000"/>
              </a:lnSpc>
              <a:spcBef>
                <a:spcPts val="45"/>
              </a:spcBef>
            </a:pPr>
            <a:r>
              <a:rPr lang="en-AU" sz="4000" b="1" strike="noStrike" spc="4" dirty="0">
                <a:solidFill>
                  <a:srgbClr val="191919"/>
                </a:solidFill>
                <a:latin typeface="Calibri" panose="020F0502020204030204" pitchFamily="34" charset="0"/>
              </a:rPr>
              <a:t>             Pairwise Alignment</a:t>
            </a:r>
            <a:endParaRPr lang="en-AU" sz="4000" b="0" strike="noStrike" spc="-1" dirty="0">
              <a:latin typeface="Calibri" panose="020F0502020204030204" pitchFamily="34" charset="0"/>
            </a:endParaRPr>
          </a:p>
          <a:p>
            <a:pPr marL="5080" algn="ctr">
              <a:lnSpc>
                <a:spcPct val="100000"/>
              </a:lnSpc>
            </a:pPr>
            <a:endParaRPr lang="en-AU" sz="4000" b="0" strike="noStrike" spc="-1" dirty="0">
              <a:latin typeface="Calibri" panose="020F0502020204030204" pitchFamily="34" charset="0"/>
            </a:endParaRPr>
          </a:p>
          <a:p>
            <a:pPr marL="5080" algn="ctr">
              <a:lnSpc>
                <a:spcPct val="100000"/>
              </a:lnSpc>
            </a:pPr>
            <a:endParaRPr lang="en-AU" sz="4000" b="0" strike="noStrike" spc="-1" dirty="0">
              <a:latin typeface="Calibri" panose="020F0502020204030204" pitchFamily="34" charset="0"/>
            </a:endParaRPr>
          </a:p>
          <a:p>
            <a:pPr marL="5080" algn="ctr">
              <a:lnSpc>
                <a:spcPct val="100000"/>
              </a:lnSpc>
            </a:pPr>
            <a:endParaRPr lang="en-AU" sz="4000" b="0" strike="noStrike" spc="-1" dirty="0">
              <a:latin typeface="Calibri" panose="020F0502020204030204" pitchFamily="34" charset="0"/>
            </a:endParaRPr>
          </a:p>
          <a:p>
            <a:pPr marL="5080" algn="ctr">
              <a:lnSpc>
                <a:spcPct val="100000"/>
              </a:lnSpc>
            </a:pPr>
            <a:r>
              <a:rPr lang="en-AU" b="0" strike="noStrike" spc="-63" dirty="0">
                <a:solidFill>
                  <a:srgbClr val="191919"/>
                </a:solidFill>
                <a:latin typeface="Calibri" panose="020F0502020204030204" pitchFamily="34" charset="0"/>
              </a:rPr>
              <a:t>Adapted from Dr.</a:t>
            </a:r>
            <a:r>
              <a:rPr lang="en-AU" b="0" strike="noStrike" spc="-29" dirty="0">
                <a:solidFill>
                  <a:srgbClr val="191919"/>
                </a:solidFill>
                <a:latin typeface="Calibri" panose="020F0502020204030204" pitchFamily="34" charset="0"/>
              </a:rPr>
              <a:t> </a:t>
            </a:r>
            <a:r>
              <a:rPr lang="en-AU" b="0" strike="noStrike" spc="-1" dirty="0">
                <a:solidFill>
                  <a:srgbClr val="191919"/>
                </a:solidFill>
                <a:latin typeface="Calibri" panose="020F0502020204030204" pitchFamily="34" charset="0"/>
              </a:rPr>
              <a:t>Morgan</a:t>
            </a:r>
            <a:r>
              <a:rPr lang="en-AU" b="0" strike="noStrike" spc="-18" dirty="0">
                <a:solidFill>
                  <a:srgbClr val="191919"/>
                </a:solidFill>
                <a:latin typeface="Calibri" panose="020F0502020204030204" pitchFamily="34" charset="0"/>
              </a:rPr>
              <a:t> </a:t>
            </a:r>
            <a:r>
              <a:rPr lang="en-AU" b="0" strike="noStrike" spc="-4" dirty="0" err="1">
                <a:solidFill>
                  <a:srgbClr val="191919"/>
                </a:solidFill>
                <a:latin typeface="Calibri" panose="020F0502020204030204" pitchFamily="34" charset="0"/>
              </a:rPr>
              <a:t>Langille’s</a:t>
            </a:r>
            <a:r>
              <a:rPr lang="en-AU" b="0" strike="noStrike" spc="-4" dirty="0">
                <a:solidFill>
                  <a:srgbClr val="191919"/>
                </a:solidFill>
                <a:latin typeface="Calibri" panose="020F0502020204030204" pitchFamily="34" charset="0"/>
              </a:rPr>
              <a:t> L</a:t>
            </a:r>
            <a:r>
              <a:rPr lang="en-AU" b="0" strike="noStrike" spc="-63" dirty="0">
                <a:solidFill>
                  <a:srgbClr val="191919"/>
                </a:solidFill>
                <a:latin typeface="Calibri" panose="020F0502020204030204" pitchFamily="34" charset="0"/>
              </a:rPr>
              <a:t>ecture </a:t>
            </a:r>
            <a:endParaRPr lang="en-AU" b="0" strike="noStrike" spc="-1" dirty="0">
              <a:latin typeface="Calibri" panose="020F0502020204030204" pitchFamily="34" charset="0"/>
            </a:endParaRPr>
          </a:p>
        </p:txBody>
      </p:sp>
      <p:sp>
        <p:nvSpPr>
          <p:cNvPr id="3" name="TextBox 2">
            <a:extLst>
              <a:ext uri="{FF2B5EF4-FFF2-40B4-BE49-F238E27FC236}">
                <a16:creationId xmlns:a16="http://schemas.microsoft.com/office/drawing/2014/main" id="{0F493FF9-20D5-16A3-EBE4-09A54A624F56}"/>
              </a:ext>
            </a:extLst>
          </p:cNvPr>
          <p:cNvSpPr txBox="1"/>
          <p:nvPr/>
        </p:nvSpPr>
        <p:spPr>
          <a:xfrm>
            <a:off x="2520230" y="4859509"/>
            <a:ext cx="5043340" cy="646331"/>
          </a:xfrm>
          <a:prstGeom prst="rect">
            <a:avLst/>
          </a:prstGeom>
          <a:noFill/>
        </p:spPr>
        <p:txBody>
          <a:bodyPr wrap="square">
            <a:spAutoFit/>
          </a:bodyPr>
          <a:lstStyle/>
          <a:p>
            <a:pPr marL="3810" algn="ctr">
              <a:lnSpc>
                <a:spcPct val="100000"/>
              </a:lnSpc>
            </a:pPr>
            <a:r>
              <a:rPr lang="en-US" sz="1800" spc="-65" dirty="0">
                <a:solidFill>
                  <a:srgbClr val="191919"/>
                </a:solidFill>
                <a:latin typeface="Calibri" panose="020F0502020204030204" pitchFamily="34" charset="0"/>
                <a:cs typeface="Calibri" panose="020F0502020204030204" pitchFamily="34" charset="0"/>
              </a:rPr>
              <a:t>07/06/2026</a:t>
            </a:r>
          </a:p>
          <a:p>
            <a:pPr marL="3810" algn="ctr">
              <a:lnSpc>
                <a:spcPct val="100000"/>
              </a:lnSpc>
            </a:pPr>
            <a:r>
              <a:rPr lang="en-US" sz="1800" spc="-65" dirty="0">
                <a:solidFill>
                  <a:srgbClr val="191919"/>
                </a:solidFill>
                <a:latin typeface="Calibri" panose="020F0502020204030204" pitchFamily="34" charset="0"/>
                <a:cs typeface="Calibri" panose="020F0502020204030204" pitchFamily="34" charset="0"/>
              </a:rPr>
              <a:t>Phuc-</a:t>
            </a:r>
            <a:r>
              <a:rPr lang="en-US" sz="1800" spc="-65" dirty="0" err="1">
                <a:solidFill>
                  <a:srgbClr val="191919"/>
                </a:solidFill>
                <a:latin typeface="Calibri" panose="020F0502020204030204" pitchFamily="34" charset="0"/>
                <a:cs typeface="Calibri" panose="020F0502020204030204" pitchFamily="34" charset="0"/>
              </a:rPr>
              <a:t>Loi</a:t>
            </a:r>
            <a:r>
              <a:rPr lang="en-US" sz="1800" spc="-65" dirty="0">
                <a:solidFill>
                  <a:srgbClr val="191919"/>
                </a:solidFill>
                <a:latin typeface="Calibri" panose="020F0502020204030204" pitchFamily="34" charset="0"/>
                <a:cs typeface="Calibri" panose="020F0502020204030204" pitchFamily="34" charset="0"/>
              </a:rPr>
              <a:t> Luu,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a:t>
            </a:fld>
            <a:endParaRPr dirty="0"/>
          </a:p>
        </p:txBody>
      </p:sp>
      <p:sp>
        <p:nvSpPr>
          <p:cNvPr id="2" name="object 2"/>
          <p:cNvSpPr txBox="1">
            <a:spLocks noGrp="1"/>
          </p:cNvSpPr>
          <p:nvPr>
            <p:ph type="title"/>
          </p:nvPr>
        </p:nvSpPr>
        <p:spPr>
          <a:xfrm>
            <a:off x="2647950" y="553720"/>
            <a:ext cx="4777740" cy="695960"/>
          </a:xfrm>
          <a:prstGeom prst="rect">
            <a:avLst/>
          </a:prstGeom>
        </p:spPr>
        <p:txBody>
          <a:bodyPr vert="horz" wrap="square" lIns="0" tIns="12700" rIns="0" bIns="0" rtlCol="0">
            <a:spAutoFit/>
          </a:bodyPr>
          <a:lstStyle/>
          <a:p>
            <a:pPr marL="12700">
              <a:lnSpc>
                <a:spcPct val="100000"/>
              </a:lnSpc>
              <a:spcBef>
                <a:spcPts val="100"/>
              </a:spcBef>
              <a:tabLst>
                <a:tab pos="2030730" algn="l"/>
              </a:tabLst>
            </a:pPr>
            <a:r>
              <a:rPr sz="4400" spc="-5" dirty="0"/>
              <a:t>What</a:t>
            </a:r>
            <a:r>
              <a:rPr sz="4400" spc="5" dirty="0"/>
              <a:t> </a:t>
            </a:r>
            <a:r>
              <a:rPr sz="4400" spc="-5" dirty="0"/>
              <a:t>is	homology?</a:t>
            </a:r>
            <a:endParaRPr sz="4400"/>
          </a:p>
        </p:txBody>
      </p:sp>
      <p:sp>
        <p:nvSpPr>
          <p:cNvPr id="3" name="object 3"/>
          <p:cNvSpPr txBox="1"/>
          <p:nvPr/>
        </p:nvSpPr>
        <p:spPr>
          <a:xfrm>
            <a:off x="599440" y="185547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923289" y="1718309"/>
            <a:ext cx="6468745" cy="51308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191919"/>
                </a:solidFill>
                <a:latin typeface="Arial" panose="020B0604020202020204"/>
                <a:cs typeface="Arial" panose="020B0604020202020204"/>
              </a:rPr>
              <a:t>Homology</a:t>
            </a:r>
            <a:r>
              <a:rPr sz="3200" spc="-1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refers</a:t>
            </a:r>
            <a:r>
              <a:rPr sz="3200" spc="-1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to</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shared</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ancestry</a:t>
            </a:r>
            <a:endParaRPr sz="3200">
              <a:latin typeface="Arial" panose="020B0604020202020204"/>
              <a:cs typeface="Arial" panose="020B0604020202020204"/>
            </a:endParaRPr>
          </a:p>
        </p:txBody>
      </p:sp>
      <p:sp>
        <p:nvSpPr>
          <p:cNvPr id="5" name="object 5"/>
          <p:cNvSpPr txBox="1"/>
          <p:nvPr/>
        </p:nvSpPr>
        <p:spPr>
          <a:xfrm>
            <a:off x="599440" y="312674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6" name="object 6"/>
          <p:cNvSpPr txBox="1"/>
          <p:nvPr/>
        </p:nvSpPr>
        <p:spPr>
          <a:xfrm>
            <a:off x="923289" y="2989579"/>
            <a:ext cx="7940040" cy="969010"/>
          </a:xfrm>
          <a:prstGeom prst="rect">
            <a:avLst/>
          </a:prstGeom>
        </p:spPr>
        <p:txBody>
          <a:bodyPr vert="horz" wrap="square" lIns="0" tIns="53975" rIns="0" bIns="0" rtlCol="0">
            <a:spAutoFit/>
          </a:bodyPr>
          <a:lstStyle/>
          <a:p>
            <a:pPr marL="12700" marR="5080">
              <a:lnSpc>
                <a:spcPts val="3590"/>
              </a:lnSpc>
              <a:spcBef>
                <a:spcPts val="425"/>
              </a:spcBef>
            </a:pPr>
            <a:r>
              <a:rPr sz="3200" spc="-65" dirty="0">
                <a:solidFill>
                  <a:srgbClr val="191919"/>
                </a:solidFill>
                <a:latin typeface="Arial" panose="020B0604020202020204"/>
                <a:cs typeface="Arial" panose="020B0604020202020204"/>
              </a:rPr>
              <a:t>Two</a:t>
            </a:r>
            <a:r>
              <a:rPr sz="3200" spc="-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sequences</a:t>
            </a:r>
            <a:r>
              <a:rPr sz="3200" spc="-5" dirty="0">
                <a:solidFill>
                  <a:srgbClr val="191919"/>
                </a:solidFill>
                <a:latin typeface="Arial" panose="020B0604020202020204"/>
                <a:cs typeface="Arial" panose="020B0604020202020204"/>
              </a:rPr>
              <a:t> are</a:t>
            </a:r>
            <a:r>
              <a:rPr sz="3200" dirty="0">
                <a:solidFill>
                  <a:srgbClr val="191919"/>
                </a:solidFill>
                <a:latin typeface="Arial" panose="020B0604020202020204"/>
                <a:cs typeface="Arial" panose="020B0604020202020204"/>
              </a:rPr>
              <a:t> homologous</a:t>
            </a:r>
            <a:r>
              <a:rPr sz="3200" spc="-1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if they are </a:t>
            </a:r>
            <a:r>
              <a:rPr sz="3200" dirty="0">
                <a:solidFill>
                  <a:srgbClr val="191919"/>
                </a:solidFill>
                <a:latin typeface="Arial" panose="020B0604020202020204"/>
                <a:cs typeface="Arial" panose="020B0604020202020204"/>
              </a:rPr>
              <a:t> derived</a:t>
            </a:r>
            <a:r>
              <a:rPr sz="3200" spc="-1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from</a:t>
            </a:r>
            <a:r>
              <a:rPr sz="3200" spc="-1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common</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ancestral</a:t>
            </a:r>
            <a:r>
              <a:rPr sz="3200" spc="-2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sequence</a:t>
            </a:r>
            <a:endParaRPr sz="3200">
              <a:latin typeface="Arial" panose="020B0604020202020204"/>
              <a:cs typeface="Arial" panose="020B0604020202020204"/>
            </a:endParaRPr>
          </a:p>
        </p:txBody>
      </p:sp>
      <p:sp>
        <p:nvSpPr>
          <p:cNvPr id="7" name="object 7"/>
          <p:cNvSpPr txBox="1"/>
          <p:nvPr/>
        </p:nvSpPr>
        <p:spPr>
          <a:xfrm>
            <a:off x="599440" y="484124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8" name="object 8"/>
          <p:cNvSpPr txBox="1"/>
          <p:nvPr/>
        </p:nvSpPr>
        <p:spPr>
          <a:xfrm>
            <a:off x="923289" y="4704079"/>
            <a:ext cx="7462520"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Arial" panose="020B0604020202020204"/>
                <a:cs typeface="Arial" panose="020B0604020202020204"/>
              </a:rPr>
              <a:t>One</a:t>
            </a:r>
            <a:r>
              <a:rPr sz="3200" spc="-5" dirty="0">
                <a:latin typeface="Arial" panose="020B0604020202020204"/>
                <a:cs typeface="Arial" panose="020B0604020202020204"/>
              </a:rPr>
              <a:t> </a:t>
            </a:r>
            <a:r>
              <a:rPr sz="3200" dirty="0">
                <a:latin typeface="Arial" panose="020B0604020202020204"/>
                <a:cs typeface="Arial" panose="020B0604020202020204"/>
              </a:rPr>
              <a:t>sequence</a:t>
            </a:r>
            <a:r>
              <a:rPr sz="3200" spc="-10" dirty="0">
                <a:latin typeface="Arial" panose="020B0604020202020204"/>
                <a:cs typeface="Arial" panose="020B0604020202020204"/>
              </a:rPr>
              <a:t> </a:t>
            </a:r>
            <a:r>
              <a:rPr sz="3200" dirty="0">
                <a:latin typeface="Arial" panose="020B0604020202020204"/>
                <a:cs typeface="Arial" panose="020B0604020202020204"/>
              </a:rPr>
              <a:t>by</a:t>
            </a:r>
            <a:r>
              <a:rPr sz="3200" spc="-5" dirty="0">
                <a:latin typeface="Arial" panose="020B0604020202020204"/>
                <a:cs typeface="Arial" panose="020B0604020202020204"/>
              </a:rPr>
              <a:t> itself</a:t>
            </a:r>
            <a:r>
              <a:rPr sz="3200" spc="-15" dirty="0">
                <a:latin typeface="Arial" panose="020B0604020202020204"/>
                <a:cs typeface="Arial" panose="020B0604020202020204"/>
              </a:rPr>
              <a:t> </a:t>
            </a:r>
            <a:r>
              <a:rPr sz="3200" spc="-5" dirty="0">
                <a:latin typeface="Arial" panose="020B0604020202020204"/>
                <a:cs typeface="Arial" panose="020B0604020202020204"/>
              </a:rPr>
              <a:t>is </a:t>
            </a:r>
            <a:r>
              <a:rPr sz="3200" dirty="0">
                <a:latin typeface="Arial" panose="020B0604020202020204"/>
                <a:cs typeface="Arial" panose="020B0604020202020204"/>
              </a:rPr>
              <a:t>not</a:t>
            </a:r>
            <a:r>
              <a:rPr sz="3200" spc="-10" dirty="0">
                <a:latin typeface="Arial" panose="020B0604020202020204"/>
                <a:cs typeface="Arial" panose="020B0604020202020204"/>
              </a:rPr>
              <a:t> </a:t>
            </a:r>
            <a:r>
              <a:rPr sz="3200" spc="-5" dirty="0">
                <a:latin typeface="Arial" panose="020B0604020202020204"/>
                <a:cs typeface="Arial" panose="020B0604020202020204"/>
              </a:rPr>
              <a:t>informative</a:t>
            </a:r>
            <a:endParaRPr sz="3200">
              <a:latin typeface="Arial" panose="020B0604020202020204"/>
              <a:cs typeface="Arial" panose="020B0604020202020204"/>
            </a:endParaRPr>
          </a:p>
        </p:txBody>
      </p:sp>
      <p:sp>
        <p:nvSpPr>
          <p:cNvPr id="9" name="object 9"/>
          <p:cNvSpPr txBox="1"/>
          <p:nvPr/>
        </p:nvSpPr>
        <p:spPr>
          <a:xfrm>
            <a:off x="1031239" y="546354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10" name="object 10"/>
          <p:cNvSpPr txBox="1"/>
          <p:nvPr/>
        </p:nvSpPr>
        <p:spPr>
          <a:xfrm>
            <a:off x="1355089" y="5342890"/>
            <a:ext cx="7600950" cy="1244600"/>
          </a:xfrm>
          <a:prstGeom prst="rect">
            <a:avLst/>
          </a:prstGeom>
        </p:spPr>
        <p:txBody>
          <a:bodyPr vert="horz" wrap="square" lIns="0" tIns="50800" rIns="0" bIns="0" rtlCol="0">
            <a:spAutoFit/>
          </a:bodyPr>
          <a:lstStyle/>
          <a:p>
            <a:pPr marL="12700" marR="5080">
              <a:lnSpc>
                <a:spcPts val="3120"/>
              </a:lnSpc>
              <a:spcBef>
                <a:spcPts val="400"/>
              </a:spcBef>
            </a:pPr>
            <a:r>
              <a:rPr sz="2800" dirty="0">
                <a:latin typeface="Arial" panose="020B0604020202020204"/>
                <a:cs typeface="Arial" panose="020B0604020202020204"/>
              </a:rPr>
              <a:t>it </a:t>
            </a:r>
            <a:r>
              <a:rPr sz="2800" spc="-5" dirty="0">
                <a:latin typeface="Arial" panose="020B0604020202020204"/>
                <a:cs typeface="Arial" panose="020B0604020202020204"/>
              </a:rPr>
              <a:t>must be analyzed by comparative methods </a:t>
            </a:r>
            <a:r>
              <a:rPr sz="2800" dirty="0">
                <a:latin typeface="Arial" panose="020B0604020202020204"/>
                <a:cs typeface="Arial" panose="020B0604020202020204"/>
              </a:rPr>
              <a:t> </a:t>
            </a:r>
            <a:r>
              <a:rPr sz="2800" spc="-5" dirty="0">
                <a:latin typeface="Arial" panose="020B0604020202020204"/>
                <a:cs typeface="Arial" panose="020B0604020202020204"/>
              </a:rPr>
              <a:t>against </a:t>
            </a:r>
            <a:r>
              <a:rPr sz="2800" dirty="0">
                <a:latin typeface="Arial" panose="020B0604020202020204"/>
                <a:cs typeface="Arial" panose="020B0604020202020204"/>
              </a:rPr>
              <a:t>existing </a:t>
            </a:r>
            <a:r>
              <a:rPr sz="2800" spc="-5" dirty="0">
                <a:latin typeface="Arial" panose="020B0604020202020204"/>
                <a:cs typeface="Arial" panose="020B0604020202020204"/>
              </a:rPr>
              <a:t>sequence databases </a:t>
            </a:r>
            <a:r>
              <a:rPr sz="2800" dirty="0">
                <a:latin typeface="Arial" panose="020B0604020202020204"/>
                <a:cs typeface="Arial" panose="020B0604020202020204"/>
              </a:rPr>
              <a:t>to </a:t>
            </a:r>
            <a:r>
              <a:rPr sz="2800" spc="-5" dirty="0">
                <a:latin typeface="Arial" panose="020B0604020202020204"/>
                <a:cs typeface="Arial" panose="020B0604020202020204"/>
              </a:rPr>
              <a:t>develop </a:t>
            </a:r>
            <a:r>
              <a:rPr sz="2800" spc="-765" dirty="0">
                <a:latin typeface="Arial" panose="020B0604020202020204"/>
                <a:cs typeface="Arial" panose="020B0604020202020204"/>
              </a:rPr>
              <a:t> </a:t>
            </a:r>
            <a:r>
              <a:rPr sz="2800" spc="-5" dirty="0">
                <a:latin typeface="Arial" panose="020B0604020202020204"/>
                <a:cs typeface="Arial" panose="020B0604020202020204"/>
              </a:rPr>
              <a:t>hypothesis</a:t>
            </a:r>
            <a:r>
              <a:rPr sz="2800" spc="5" dirty="0">
                <a:latin typeface="Arial" panose="020B0604020202020204"/>
                <a:cs typeface="Arial" panose="020B0604020202020204"/>
              </a:rPr>
              <a:t> </a:t>
            </a:r>
            <a:r>
              <a:rPr sz="2800" dirty="0">
                <a:latin typeface="Arial" panose="020B0604020202020204"/>
                <a:cs typeface="Arial" panose="020B0604020202020204"/>
              </a:rPr>
              <a:t>concerning</a:t>
            </a:r>
            <a:r>
              <a:rPr sz="2800" spc="-5" dirty="0">
                <a:latin typeface="Arial" panose="020B0604020202020204"/>
                <a:cs typeface="Arial" panose="020B0604020202020204"/>
              </a:rPr>
              <a:t> relatives</a:t>
            </a:r>
            <a:r>
              <a:rPr sz="2800" spc="5" dirty="0">
                <a:latin typeface="Arial" panose="020B0604020202020204"/>
                <a:cs typeface="Arial" panose="020B0604020202020204"/>
              </a:rPr>
              <a:t> </a:t>
            </a:r>
            <a:r>
              <a:rPr sz="2800" spc="-5" dirty="0">
                <a:latin typeface="Arial" panose="020B0604020202020204"/>
                <a:cs typeface="Arial" panose="020B0604020202020204"/>
              </a:rPr>
              <a:t>and function.</a:t>
            </a:r>
            <a:endParaRPr sz="280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3</a:t>
            </a:fld>
            <a:endParaRPr dirty="0"/>
          </a:p>
        </p:txBody>
      </p:sp>
      <p:sp>
        <p:nvSpPr>
          <p:cNvPr id="2" name="object 2"/>
          <p:cNvSpPr txBox="1">
            <a:spLocks noGrp="1"/>
          </p:cNvSpPr>
          <p:nvPr>
            <p:ph type="title"/>
          </p:nvPr>
        </p:nvSpPr>
        <p:spPr>
          <a:xfrm>
            <a:off x="2647950" y="553720"/>
            <a:ext cx="4777740" cy="695960"/>
          </a:xfrm>
          <a:prstGeom prst="rect">
            <a:avLst/>
          </a:prstGeom>
        </p:spPr>
        <p:txBody>
          <a:bodyPr vert="horz" wrap="square" lIns="0" tIns="12700" rIns="0" bIns="0" rtlCol="0">
            <a:spAutoFit/>
          </a:bodyPr>
          <a:lstStyle/>
          <a:p>
            <a:pPr marL="12700">
              <a:lnSpc>
                <a:spcPct val="100000"/>
              </a:lnSpc>
              <a:spcBef>
                <a:spcPts val="100"/>
              </a:spcBef>
              <a:tabLst>
                <a:tab pos="2030730" algn="l"/>
              </a:tabLst>
            </a:pPr>
            <a:r>
              <a:rPr sz="4400" spc="-5" dirty="0"/>
              <a:t>What</a:t>
            </a:r>
            <a:r>
              <a:rPr sz="4400" spc="5" dirty="0"/>
              <a:t> </a:t>
            </a:r>
            <a:r>
              <a:rPr sz="4400" spc="-5" dirty="0"/>
              <a:t>is	homology?</a:t>
            </a:r>
            <a:endParaRPr sz="4400"/>
          </a:p>
        </p:txBody>
      </p:sp>
      <p:pic>
        <p:nvPicPr>
          <p:cNvPr id="12" name="Picture 11"/>
          <p:cNvPicPr>
            <a:picLocks noChangeAspect="1"/>
          </p:cNvPicPr>
          <p:nvPr/>
        </p:nvPicPr>
        <p:blipFill>
          <a:blip r:embed="rId2"/>
          <a:stretch>
            <a:fillRect/>
          </a:stretch>
        </p:blipFill>
        <p:spPr>
          <a:xfrm>
            <a:off x="512445" y="1962785"/>
            <a:ext cx="4352290" cy="3847465"/>
          </a:xfrm>
          <a:prstGeom prst="rect">
            <a:avLst/>
          </a:prstGeom>
        </p:spPr>
      </p:pic>
      <p:sp>
        <p:nvSpPr>
          <p:cNvPr id="13" name="Text Box 12"/>
          <p:cNvSpPr txBox="1"/>
          <p:nvPr/>
        </p:nvSpPr>
        <p:spPr>
          <a:xfrm>
            <a:off x="360680" y="6330315"/>
            <a:ext cx="4378325" cy="245110"/>
          </a:xfrm>
          <a:prstGeom prst="rect">
            <a:avLst/>
          </a:prstGeom>
          <a:noFill/>
        </p:spPr>
        <p:txBody>
          <a:bodyPr wrap="square" rtlCol="0" anchor="t">
            <a:spAutoFit/>
          </a:bodyPr>
          <a:lstStyle/>
          <a:p>
            <a:r>
              <a:rPr lang="en-US" sz="1000"/>
              <a:t>https://evolution.berkeley.edu/evolibrary/article/1_0_0/eyes_10</a:t>
            </a:r>
          </a:p>
        </p:txBody>
      </p:sp>
      <p:pic>
        <p:nvPicPr>
          <p:cNvPr id="14" name="Picture 13"/>
          <p:cNvPicPr>
            <a:picLocks noChangeAspect="1"/>
          </p:cNvPicPr>
          <p:nvPr/>
        </p:nvPicPr>
        <p:blipFill>
          <a:blip r:embed="rId3"/>
          <a:stretch>
            <a:fillRect/>
          </a:stretch>
        </p:blipFill>
        <p:spPr>
          <a:xfrm>
            <a:off x="5328285" y="2096770"/>
            <a:ext cx="4029075" cy="3785235"/>
          </a:xfrm>
          <a:prstGeom prst="rect">
            <a:avLst/>
          </a:prstGeom>
        </p:spPr>
      </p:pic>
      <p:sp>
        <p:nvSpPr>
          <p:cNvPr id="15" name="Text Box 14"/>
          <p:cNvSpPr txBox="1"/>
          <p:nvPr/>
        </p:nvSpPr>
        <p:spPr>
          <a:xfrm>
            <a:off x="5577840" y="6191885"/>
            <a:ext cx="3779520" cy="521970"/>
          </a:xfrm>
          <a:prstGeom prst="rect">
            <a:avLst/>
          </a:prstGeom>
          <a:noFill/>
        </p:spPr>
        <p:txBody>
          <a:bodyPr wrap="square" rtlCol="0" anchor="t">
            <a:spAutoFit/>
          </a:bodyPr>
          <a:lstStyle/>
          <a:p>
            <a:r>
              <a:rPr lang="en-US" sz="1400" dirty="0"/>
              <a:t>Photo courtesy of:  Popo H. Liao (Own work), via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4</a:t>
            </a:fld>
            <a:endParaRPr dirty="0"/>
          </a:p>
        </p:txBody>
      </p:sp>
      <p:sp>
        <p:nvSpPr>
          <p:cNvPr id="2" name="object 2"/>
          <p:cNvSpPr txBox="1">
            <a:spLocks noGrp="1"/>
          </p:cNvSpPr>
          <p:nvPr>
            <p:ph type="title"/>
          </p:nvPr>
        </p:nvSpPr>
        <p:spPr>
          <a:xfrm>
            <a:off x="2678429" y="553720"/>
            <a:ext cx="4716780" cy="695960"/>
          </a:xfrm>
          <a:prstGeom prst="rect">
            <a:avLst/>
          </a:prstGeom>
        </p:spPr>
        <p:txBody>
          <a:bodyPr vert="horz" wrap="square" lIns="0" tIns="12700" rIns="0" bIns="0" rtlCol="0">
            <a:spAutoFit/>
          </a:bodyPr>
          <a:lstStyle/>
          <a:p>
            <a:pPr marL="12700">
              <a:lnSpc>
                <a:spcPct val="100000"/>
              </a:lnSpc>
              <a:spcBef>
                <a:spcPts val="100"/>
              </a:spcBef>
            </a:pPr>
            <a:r>
              <a:rPr sz="4400" spc="-55" dirty="0"/>
              <a:t>Types</a:t>
            </a:r>
            <a:r>
              <a:rPr sz="4400" spc="-40" dirty="0"/>
              <a:t> </a:t>
            </a:r>
            <a:r>
              <a:rPr sz="4400" spc="-5" dirty="0"/>
              <a:t>of</a:t>
            </a:r>
            <a:r>
              <a:rPr sz="4400" spc="-35" dirty="0"/>
              <a:t> </a:t>
            </a:r>
            <a:r>
              <a:rPr sz="4400" spc="-5" dirty="0"/>
              <a:t>homologs</a:t>
            </a:r>
            <a:endParaRPr sz="4400"/>
          </a:p>
        </p:txBody>
      </p:sp>
      <p:sp>
        <p:nvSpPr>
          <p:cNvPr id="3" name="object 3"/>
          <p:cNvSpPr txBox="1"/>
          <p:nvPr/>
        </p:nvSpPr>
        <p:spPr>
          <a:xfrm>
            <a:off x="599440" y="162687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923289" y="1489709"/>
            <a:ext cx="1789430" cy="51308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191919"/>
                </a:solidFill>
                <a:latin typeface="Arial" panose="020B0604020202020204"/>
                <a:cs typeface="Arial" panose="020B0604020202020204"/>
              </a:rPr>
              <a:t>Orthologs</a:t>
            </a:r>
            <a:endParaRPr sz="3200">
              <a:latin typeface="Arial" panose="020B0604020202020204"/>
              <a:cs typeface="Arial" panose="020B0604020202020204"/>
            </a:endParaRPr>
          </a:p>
        </p:txBody>
      </p:sp>
      <p:sp>
        <p:nvSpPr>
          <p:cNvPr id="5" name="object 5"/>
          <p:cNvSpPr txBox="1"/>
          <p:nvPr/>
        </p:nvSpPr>
        <p:spPr>
          <a:xfrm>
            <a:off x="1031239" y="224917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6" name="object 6"/>
          <p:cNvSpPr txBox="1"/>
          <p:nvPr/>
        </p:nvSpPr>
        <p:spPr>
          <a:xfrm>
            <a:off x="1355089" y="2016760"/>
            <a:ext cx="6068695" cy="1104900"/>
          </a:xfrm>
          <a:prstGeom prst="rect">
            <a:avLst/>
          </a:prstGeom>
        </p:spPr>
        <p:txBody>
          <a:bodyPr vert="horz" wrap="square" lIns="0" tIns="12700" rIns="0" bIns="0" rtlCol="0">
            <a:spAutoFit/>
          </a:bodyPr>
          <a:lstStyle/>
          <a:p>
            <a:pPr marL="12700" marR="5080">
              <a:lnSpc>
                <a:spcPct val="126000"/>
              </a:lnSpc>
              <a:spcBef>
                <a:spcPts val="100"/>
              </a:spcBef>
            </a:pPr>
            <a:r>
              <a:rPr sz="2800" spc="-5" dirty="0">
                <a:solidFill>
                  <a:srgbClr val="191919"/>
                </a:solidFill>
                <a:latin typeface="Arial" panose="020B0604020202020204"/>
                <a:cs typeface="Arial" panose="020B0604020202020204"/>
              </a:rPr>
              <a:t>Think same gene </a:t>
            </a:r>
            <a:r>
              <a:rPr sz="2800" dirty="0">
                <a:solidFill>
                  <a:srgbClr val="191919"/>
                </a:solidFill>
                <a:latin typeface="Arial" panose="020B0604020202020204"/>
                <a:cs typeface="Arial" panose="020B0604020202020204"/>
              </a:rPr>
              <a:t>in </a:t>
            </a:r>
            <a:r>
              <a:rPr sz="2800" spc="-10" dirty="0">
                <a:solidFill>
                  <a:srgbClr val="191919"/>
                </a:solidFill>
                <a:latin typeface="Arial" panose="020B0604020202020204"/>
                <a:cs typeface="Arial" panose="020B0604020202020204"/>
              </a:rPr>
              <a:t>different </a:t>
            </a:r>
            <a:r>
              <a:rPr sz="2800" spc="-5" dirty="0">
                <a:solidFill>
                  <a:srgbClr val="191919"/>
                </a:solidFill>
                <a:latin typeface="Arial" panose="020B0604020202020204"/>
                <a:cs typeface="Arial" panose="020B0604020202020204"/>
              </a:rPr>
              <a:t>organism </a:t>
            </a:r>
            <a:r>
              <a:rPr sz="2800" spc="-76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Often</a:t>
            </a:r>
            <a:r>
              <a:rPr sz="2800" spc="-1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thought </a:t>
            </a:r>
            <a:r>
              <a:rPr sz="2800" dirty="0">
                <a:solidFill>
                  <a:srgbClr val="191919"/>
                </a:solidFill>
                <a:latin typeface="Arial" panose="020B0604020202020204"/>
                <a:cs typeface="Arial" panose="020B0604020202020204"/>
              </a:rPr>
              <a:t>to</a:t>
            </a:r>
            <a:r>
              <a:rPr sz="2800" spc="-1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have similar</a:t>
            </a:r>
            <a:r>
              <a:rPr sz="280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function</a:t>
            </a:r>
            <a:endParaRPr sz="2800">
              <a:latin typeface="Arial" panose="020B0604020202020204"/>
              <a:cs typeface="Arial" panose="020B0604020202020204"/>
            </a:endParaRPr>
          </a:p>
        </p:txBody>
      </p:sp>
      <p:sp>
        <p:nvSpPr>
          <p:cNvPr id="7" name="object 7"/>
          <p:cNvSpPr txBox="1"/>
          <p:nvPr/>
        </p:nvSpPr>
        <p:spPr>
          <a:xfrm>
            <a:off x="1031239" y="279018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8" name="object 8"/>
          <p:cNvSpPr txBox="1"/>
          <p:nvPr/>
        </p:nvSpPr>
        <p:spPr>
          <a:xfrm>
            <a:off x="599440" y="3521709"/>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9" name="object 9"/>
          <p:cNvSpPr txBox="1"/>
          <p:nvPr/>
        </p:nvSpPr>
        <p:spPr>
          <a:xfrm>
            <a:off x="923289" y="3384550"/>
            <a:ext cx="1631314" cy="51308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191919"/>
                </a:solidFill>
                <a:latin typeface="Arial" panose="020B0604020202020204"/>
                <a:cs typeface="Arial" panose="020B0604020202020204"/>
              </a:rPr>
              <a:t>Paralogs</a:t>
            </a:r>
            <a:endParaRPr sz="3200">
              <a:latin typeface="Arial" panose="020B0604020202020204"/>
              <a:cs typeface="Arial" panose="020B0604020202020204"/>
            </a:endParaRPr>
          </a:p>
        </p:txBody>
      </p:sp>
      <p:sp>
        <p:nvSpPr>
          <p:cNvPr id="10" name="object 10"/>
          <p:cNvSpPr txBox="1"/>
          <p:nvPr/>
        </p:nvSpPr>
        <p:spPr>
          <a:xfrm>
            <a:off x="1031239" y="414400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11" name="object 11"/>
          <p:cNvSpPr txBox="1"/>
          <p:nvPr/>
        </p:nvSpPr>
        <p:spPr>
          <a:xfrm>
            <a:off x="1355089" y="3911600"/>
            <a:ext cx="5403850" cy="1104900"/>
          </a:xfrm>
          <a:prstGeom prst="rect">
            <a:avLst/>
          </a:prstGeom>
        </p:spPr>
        <p:txBody>
          <a:bodyPr vert="horz" wrap="square" lIns="0" tIns="125730" rIns="0" bIns="0" rtlCol="0">
            <a:spAutoFit/>
          </a:bodyPr>
          <a:lstStyle/>
          <a:p>
            <a:pPr marL="12700">
              <a:lnSpc>
                <a:spcPct val="100000"/>
              </a:lnSpc>
              <a:spcBef>
                <a:spcPts val="990"/>
              </a:spcBef>
            </a:pPr>
            <a:r>
              <a:rPr sz="2800" spc="-5" dirty="0">
                <a:solidFill>
                  <a:srgbClr val="191919"/>
                </a:solidFill>
                <a:latin typeface="Arial" panose="020B0604020202020204"/>
                <a:cs typeface="Arial" panose="020B0604020202020204"/>
              </a:rPr>
              <a:t>Think</a:t>
            </a:r>
            <a:r>
              <a:rPr sz="2800" spc="-2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gene</a:t>
            </a:r>
            <a:r>
              <a:rPr sz="2800" spc="-2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duplication</a:t>
            </a:r>
            <a:endParaRPr sz="2800" dirty="0">
              <a:latin typeface="Arial" panose="020B0604020202020204"/>
              <a:cs typeface="Arial" panose="020B0604020202020204"/>
            </a:endParaRPr>
          </a:p>
          <a:p>
            <a:pPr marL="12700">
              <a:lnSpc>
                <a:spcPct val="100000"/>
              </a:lnSpc>
              <a:spcBef>
                <a:spcPts val="890"/>
              </a:spcBef>
            </a:pPr>
            <a:r>
              <a:rPr sz="2800" spc="-5" dirty="0">
                <a:solidFill>
                  <a:srgbClr val="191919"/>
                </a:solidFill>
                <a:latin typeface="Arial" panose="020B0604020202020204"/>
                <a:cs typeface="Arial" panose="020B0604020202020204"/>
              </a:rPr>
              <a:t>Less likely</a:t>
            </a:r>
            <a:r>
              <a:rPr sz="2800" spc="5" dirty="0">
                <a:solidFill>
                  <a:srgbClr val="191919"/>
                </a:solidFill>
                <a:latin typeface="Arial" panose="020B0604020202020204"/>
                <a:cs typeface="Arial" panose="020B0604020202020204"/>
              </a:rPr>
              <a:t> </a:t>
            </a:r>
            <a:r>
              <a:rPr sz="2800" dirty="0">
                <a:solidFill>
                  <a:srgbClr val="191919"/>
                </a:solidFill>
                <a:latin typeface="Arial" panose="020B0604020202020204"/>
                <a:cs typeface="Arial" panose="020B0604020202020204"/>
              </a:rPr>
              <a:t>to</a:t>
            </a:r>
            <a:r>
              <a:rPr sz="2800" spc="-1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have similar function</a:t>
            </a:r>
            <a:endParaRPr sz="2800" dirty="0">
              <a:latin typeface="Arial" panose="020B0604020202020204"/>
              <a:cs typeface="Arial" panose="020B0604020202020204"/>
            </a:endParaRPr>
          </a:p>
        </p:txBody>
      </p:sp>
      <p:sp>
        <p:nvSpPr>
          <p:cNvPr id="12" name="object 12"/>
          <p:cNvSpPr txBox="1"/>
          <p:nvPr/>
        </p:nvSpPr>
        <p:spPr>
          <a:xfrm>
            <a:off x="1031239" y="468502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pic>
        <p:nvPicPr>
          <p:cNvPr id="14" name="Picture 13"/>
          <p:cNvPicPr>
            <a:picLocks noChangeAspect="1"/>
          </p:cNvPicPr>
          <p:nvPr/>
        </p:nvPicPr>
        <p:blipFill>
          <a:blip r:embed="rId2"/>
          <a:stretch>
            <a:fillRect/>
          </a:stretch>
        </p:blipFill>
        <p:spPr>
          <a:xfrm>
            <a:off x="2775585" y="5118735"/>
            <a:ext cx="4532630" cy="2281555"/>
          </a:xfrm>
          <a:prstGeom prst="rect">
            <a:avLst/>
          </a:prstGeom>
        </p:spPr>
      </p:pic>
      <p:sp>
        <p:nvSpPr>
          <p:cNvPr id="15" name="Text Box 14"/>
          <p:cNvSpPr txBox="1"/>
          <p:nvPr/>
        </p:nvSpPr>
        <p:spPr>
          <a:xfrm>
            <a:off x="172720" y="7278370"/>
            <a:ext cx="2540000" cy="213995"/>
          </a:xfrm>
          <a:prstGeom prst="rect">
            <a:avLst/>
          </a:prstGeom>
          <a:noFill/>
        </p:spPr>
        <p:txBody>
          <a:bodyPr wrap="square" rtlCol="0" anchor="t">
            <a:spAutoFit/>
          </a:bodyPr>
          <a:lstStyle/>
          <a:p>
            <a:r>
              <a:rPr lang="en-US" sz="800"/>
              <a:t>https://en.wikipedia.org/wiki/Sequence_homology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5</a:t>
            </a:fld>
            <a:endParaRPr dirty="0"/>
          </a:p>
        </p:txBody>
      </p:sp>
      <p:sp>
        <p:nvSpPr>
          <p:cNvPr id="2" name="object 2"/>
          <p:cNvSpPr txBox="1">
            <a:spLocks noGrp="1"/>
          </p:cNvSpPr>
          <p:nvPr>
            <p:ph type="title"/>
          </p:nvPr>
        </p:nvSpPr>
        <p:spPr>
          <a:xfrm>
            <a:off x="2771139" y="553720"/>
            <a:ext cx="4530725" cy="695960"/>
          </a:xfrm>
          <a:prstGeom prst="rect">
            <a:avLst/>
          </a:prstGeom>
        </p:spPr>
        <p:txBody>
          <a:bodyPr vert="horz" wrap="square" lIns="0" tIns="12700" rIns="0" bIns="0" rtlCol="0">
            <a:spAutoFit/>
          </a:bodyPr>
          <a:lstStyle/>
          <a:p>
            <a:pPr marL="12700">
              <a:lnSpc>
                <a:spcPct val="100000"/>
              </a:lnSpc>
              <a:spcBef>
                <a:spcPts val="100"/>
              </a:spcBef>
              <a:tabLst>
                <a:tab pos="2030730" algn="l"/>
              </a:tabLst>
            </a:pPr>
            <a:r>
              <a:rPr sz="4400" spc="-5" dirty="0"/>
              <a:t>What</a:t>
            </a:r>
            <a:r>
              <a:rPr sz="4400" spc="5" dirty="0"/>
              <a:t> </a:t>
            </a:r>
            <a:r>
              <a:rPr sz="4400" spc="-5" dirty="0"/>
              <a:t>is	similarity?</a:t>
            </a:r>
            <a:endParaRPr sz="4400"/>
          </a:p>
        </p:txBody>
      </p:sp>
      <p:sp>
        <p:nvSpPr>
          <p:cNvPr id="3" name="object 3"/>
          <p:cNvSpPr txBox="1"/>
          <p:nvPr/>
        </p:nvSpPr>
        <p:spPr>
          <a:xfrm>
            <a:off x="669290" y="193548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4" name="object 4"/>
          <p:cNvSpPr txBox="1"/>
          <p:nvPr/>
        </p:nvSpPr>
        <p:spPr>
          <a:xfrm>
            <a:off x="994410" y="1832609"/>
            <a:ext cx="799401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191919"/>
                </a:solidFill>
                <a:latin typeface="Arial" panose="020B0604020202020204"/>
                <a:cs typeface="Arial" panose="020B0604020202020204"/>
              </a:rPr>
              <a:t>Similarity </a:t>
            </a:r>
            <a:r>
              <a:rPr sz="2400" spc="-10" dirty="0">
                <a:solidFill>
                  <a:srgbClr val="191919"/>
                </a:solidFill>
                <a:latin typeface="Arial" panose="020B0604020202020204"/>
                <a:cs typeface="Arial" panose="020B0604020202020204"/>
              </a:rPr>
              <a:t>is</a:t>
            </a:r>
            <a:r>
              <a:rPr sz="2400" dirty="0">
                <a:solidFill>
                  <a:srgbClr val="191919"/>
                </a:solidFill>
                <a:latin typeface="Arial" panose="020B0604020202020204"/>
                <a:cs typeface="Arial" panose="020B0604020202020204"/>
              </a:rPr>
              <a:t> a</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measure of </a:t>
            </a:r>
            <a:r>
              <a:rPr sz="2400" dirty="0">
                <a:solidFill>
                  <a:srgbClr val="191919"/>
                </a:solidFill>
                <a:latin typeface="Arial" panose="020B0604020202020204"/>
                <a:cs typeface="Arial" panose="020B0604020202020204"/>
              </a:rPr>
              <a:t>the</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likeness between</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sequences.</a:t>
            </a:r>
            <a:endParaRPr sz="2400">
              <a:latin typeface="Arial" panose="020B0604020202020204"/>
              <a:cs typeface="Arial" panose="020B0604020202020204"/>
            </a:endParaRPr>
          </a:p>
        </p:txBody>
      </p:sp>
      <p:sp>
        <p:nvSpPr>
          <p:cNvPr id="5" name="object 5"/>
          <p:cNvSpPr txBox="1"/>
          <p:nvPr/>
        </p:nvSpPr>
        <p:spPr>
          <a:xfrm>
            <a:off x="669290" y="297561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6" name="object 6"/>
          <p:cNvSpPr txBox="1"/>
          <p:nvPr/>
        </p:nvSpPr>
        <p:spPr>
          <a:xfrm>
            <a:off x="994410" y="2872740"/>
            <a:ext cx="7994015" cy="732155"/>
          </a:xfrm>
          <a:prstGeom prst="rect">
            <a:avLst/>
          </a:prstGeom>
        </p:spPr>
        <p:txBody>
          <a:bodyPr vert="horz" wrap="square" lIns="0" tIns="45085" rIns="0" bIns="0" rtlCol="0">
            <a:spAutoFit/>
          </a:bodyPr>
          <a:lstStyle/>
          <a:p>
            <a:pPr marL="12700" marR="5080" algn="just">
              <a:lnSpc>
                <a:spcPts val="2680"/>
              </a:lnSpc>
              <a:spcBef>
                <a:spcPts val="355"/>
              </a:spcBef>
            </a:pPr>
            <a:r>
              <a:rPr sz="2400" spc="-5" dirty="0">
                <a:solidFill>
                  <a:srgbClr val="191919"/>
                </a:solidFill>
                <a:latin typeface="Arial" panose="020B0604020202020204"/>
                <a:cs typeface="Arial" panose="020B0604020202020204"/>
              </a:rPr>
              <a:t>Gene searching tools calculate </a:t>
            </a:r>
            <a:r>
              <a:rPr sz="2400" dirty="0">
                <a:solidFill>
                  <a:srgbClr val="191919"/>
                </a:solidFill>
                <a:latin typeface="Arial" panose="020B0604020202020204"/>
                <a:cs typeface="Arial" panose="020B0604020202020204"/>
              </a:rPr>
              <a:t>the </a:t>
            </a:r>
            <a:r>
              <a:rPr sz="2400" spc="-5" dirty="0">
                <a:solidFill>
                  <a:srgbClr val="191919"/>
                </a:solidFill>
                <a:latin typeface="Arial" panose="020B0604020202020204"/>
                <a:cs typeface="Arial" panose="020B0604020202020204"/>
              </a:rPr>
              <a:t>similarity </a:t>
            </a:r>
            <a:r>
              <a:rPr sz="2400" spc="-10" dirty="0">
                <a:solidFill>
                  <a:srgbClr val="191919"/>
                </a:solidFill>
                <a:latin typeface="Arial" panose="020B0604020202020204"/>
                <a:cs typeface="Arial" panose="020B0604020202020204"/>
              </a:rPr>
              <a:t>between </a:t>
            </a:r>
            <a:r>
              <a:rPr sz="2400" spc="-65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sequences</a:t>
            </a:r>
            <a:r>
              <a:rPr sz="2400" spc="-10" dirty="0">
                <a:solidFill>
                  <a:srgbClr val="191919"/>
                </a:solidFill>
                <a:latin typeface="Arial" panose="020B0604020202020204"/>
                <a:cs typeface="Arial" panose="020B0604020202020204"/>
              </a:rPr>
              <a:t> and</a:t>
            </a:r>
            <a:r>
              <a:rPr sz="2400" spc="-5" dirty="0">
                <a:solidFill>
                  <a:srgbClr val="191919"/>
                </a:solidFill>
                <a:latin typeface="Arial" panose="020B0604020202020204"/>
                <a:cs typeface="Arial" panose="020B0604020202020204"/>
              </a:rPr>
              <a:t> rank </a:t>
            </a:r>
            <a:r>
              <a:rPr sz="2400" dirty="0">
                <a:solidFill>
                  <a:srgbClr val="191919"/>
                </a:solidFill>
                <a:latin typeface="Arial" panose="020B0604020202020204"/>
                <a:cs typeface="Arial" panose="020B0604020202020204"/>
              </a:rPr>
              <a:t>more</a:t>
            </a:r>
            <a:r>
              <a:rPr sz="2400" spc="-1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similar</a:t>
            </a:r>
            <a:r>
              <a:rPr sz="2400" spc="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sequences </a:t>
            </a:r>
            <a:r>
              <a:rPr sz="2400" spc="-25" dirty="0">
                <a:solidFill>
                  <a:srgbClr val="191919"/>
                </a:solidFill>
                <a:latin typeface="Arial" panose="020B0604020202020204"/>
                <a:cs typeface="Arial" panose="020B0604020202020204"/>
              </a:rPr>
              <a:t>higher.</a:t>
            </a:r>
            <a:endParaRPr sz="2400">
              <a:latin typeface="Arial" panose="020B0604020202020204"/>
              <a:cs typeface="Arial" panose="020B0604020202020204"/>
            </a:endParaRPr>
          </a:p>
        </p:txBody>
      </p:sp>
      <p:sp>
        <p:nvSpPr>
          <p:cNvPr id="7" name="object 7"/>
          <p:cNvSpPr txBox="1"/>
          <p:nvPr/>
        </p:nvSpPr>
        <p:spPr>
          <a:xfrm>
            <a:off x="669290" y="435482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8" name="object 8"/>
          <p:cNvSpPr txBox="1"/>
          <p:nvPr/>
        </p:nvSpPr>
        <p:spPr>
          <a:xfrm>
            <a:off x="994410" y="4251959"/>
            <a:ext cx="614235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191919"/>
                </a:solidFill>
                <a:latin typeface="Arial" panose="020B0604020202020204"/>
                <a:cs typeface="Arial" panose="020B0604020202020204"/>
              </a:rPr>
              <a:t>Sequences</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can</a:t>
            </a:r>
            <a:r>
              <a:rPr sz="2400" spc="-1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NOT</a:t>
            </a:r>
            <a:r>
              <a:rPr sz="2400" spc="-5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be</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partially</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homologous</a:t>
            </a:r>
            <a:endParaRPr sz="2400">
              <a:latin typeface="Arial" panose="020B0604020202020204"/>
              <a:cs typeface="Arial" panose="020B0604020202020204"/>
            </a:endParaRPr>
          </a:p>
        </p:txBody>
      </p:sp>
      <p:sp>
        <p:nvSpPr>
          <p:cNvPr id="9" name="object 9"/>
          <p:cNvSpPr txBox="1"/>
          <p:nvPr/>
        </p:nvSpPr>
        <p:spPr>
          <a:xfrm>
            <a:off x="1102360" y="4869179"/>
            <a:ext cx="125730" cy="176530"/>
          </a:xfrm>
          <a:prstGeom prst="rect">
            <a:avLst/>
          </a:prstGeom>
        </p:spPr>
        <p:txBody>
          <a:bodyPr vert="horz" wrap="square" lIns="0" tIns="11430" rIns="0" bIns="0" rtlCol="0">
            <a:spAutoFit/>
          </a:bodyPr>
          <a:lstStyle/>
          <a:p>
            <a:pPr marL="12700">
              <a:lnSpc>
                <a:spcPct val="100000"/>
              </a:lnSpc>
              <a:spcBef>
                <a:spcPts val="90"/>
              </a:spcBef>
            </a:pPr>
            <a:r>
              <a:rPr sz="1000" spc="180" dirty="0">
                <a:solidFill>
                  <a:srgbClr val="191919"/>
                </a:solidFill>
                <a:latin typeface="Calibri"/>
                <a:cs typeface="Calibri"/>
              </a:rPr>
              <a:t>●</a:t>
            </a:r>
            <a:endParaRPr sz="1000">
              <a:latin typeface="Calibri"/>
              <a:cs typeface="Calibri"/>
            </a:endParaRPr>
          </a:p>
        </p:txBody>
      </p:sp>
      <p:sp>
        <p:nvSpPr>
          <p:cNvPr id="10" name="object 10"/>
          <p:cNvSpPr txBox="1"/>
          <p:nvPr/>
        </p:nvSpPr>
        <p:spPr>
          <a:xfrm>
            <a:off x="1426210" y="4775200"/>
            <a:ext cx="6070600" cy="360680"/>
          </a:xfrm>
          <a:prstGeom prst="rect">
            <a:avLst/>
          </a:prstGeom>
        </p:spPr>
        <p:txBody>
          <a:bodyPr vert="horz" wrap="square" lIns="0" tIns="12700" rIns="0" bIns="0" rtlCol="0">
            <a:spAutoFit/>
          </a:bodyPr>
          <a:lstStyle/>
          <a:p>
            <a:pPr marL="12700">
              <a:lnSpc>
                <a:spcPct val="100000"/>
              </a:lnSpc>
              <a:spcBef>
                <a:spcPts val="100"/>
              </a:spcBef>
            </a:pPr>
            <a:r>
              <a:rPr sz="2200" spc="-10" dirty="0">
                <a:solidFill>
                  <a:srgbClr val="191919"/>
                </a:solidFill>
                <a:latin typeface="Arial" panose="020B0604020202020204"/>
                <a:cs typeface="Arial" panose="020B0604020202020204"/>
              </a:rPr>
              <a:t>WRONG:</a:t>
            </a:r>
            <a:r>
              <a:rPr sz="2200" spc="-15"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Gene</a:t>
            </a:r>
            <a:r>
              <a:rPr sz="2200" spc="-10" dirty="0">
                <a:solidFill>
                  <a:srgbClr val="191919"/>
                </a:solidFill>
                <a:latin typeface="Arial" panose="020B0604020202020204"/>
                <a:cs typeface="Arial" panose="020B0604020202020204"/>
              </a:rPr>
              <a:t> </a:t>
            </a:r>
            <a:r>
              <a:rPr sz="2200" dirty="0">
                <a:solidFill>
                  <a:srgbClr val="191919"/>
                </a:solidFill>
                <a:latin typeface="Arial" panose="020B0604020202020204"/>
                <a:cs typeface="Arial" panose="020B0604020202020204"/>
              </a:rPr>
              <a:t>X</a:t>
            </a:r>
            <a:r>
              <a:rPr sz="2200" spc="-1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is</a:t>
            </a:r>
            <a:r>
              <a:rPr sz="220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80% homologous</a:t>
            </a:r>
            <a:r>
              <a:rPr sz="2200" spc="-1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to Gene</a:t>
            </a:r>
            <a:r>
              <a:rPr sz="2200" spc="-40" dirty="0">
                <a:solidFill>
                  <a:srgbClr val="191919"/>
                </a:solidFill>
                <a:latin typeface="Arial" panose="020B0604020202020204"/>
                <a:cs typeface="Arial" panose="020B0604020202020204"/>
              </a:rPr>
              <a:t> </a:t>
            </a:r>
            <a:r>
              <a:rPr sz="2200" dirty="0">
                <a:solidFill>
                  <a:srgbClr val="191919"/>
                </a:solidFill>
                <a:latin typeface="Arial" panose="020B0604020202020204"/>
                <a:cs typeface="Arial" panose="020B0604020202020204"/>
              </a:rPr>
              <a:t>Y</a:t>
            </a:r>
            <a:endParaRPr sz="2200">
              <a:latin typeface="Arial" panose="020B0604020202020204"/>
              <a:cs typeface="Arial" panose="020B0604020202020204"/>
            </a:endParaRPr>
          </a:p>
        </p:txBody>
      </p:sp>
      <p:sp>
        <p:nvSpPr>
          <p:cNvPr id="11" name="object 11"/>
          <p:cNvSpPr txBox="1"/>
          <p:nvPr/>
        </p:nvSpPr>
        <p:spPr>
          <a:xfrm>
            <a:off x="669290" y="578739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12" name="object 12"/>
          <p:cNvSpPr txBox="1"/>
          <p:nvPr/>
        </p:nvSpPr>
        <p:spPr>
          <a:xfrm>
            <a:off x="994410" y="5684520"/>
            <a:ext cx="464248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191919"/>
                </a:solidFill>
                <a:latin typeface="Arial" panose="020B0604020202020204"/>
                <a:cs typeface="Arial" panose="020B0604020202020204"/>
              </a:rPr>
              <a:t>Sequences</a:t>
            </a:r>
            <a:r>
              <a:rPr sz="2400" spc="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can</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be </a:t>
            </a:r>
            <a:r>
              <a:rPr sz="2400" spc="-10" dirty="0">
                <a:solidFill>
                  <a:srgbClr val="191919"/>
                </a:solidFill>
                <a:latin typeface="Arial" panose="020B0604020202020204"/>
                <a:cs typeface="Arial" panose="020B0604020202020204"/>
              </a:rPr>
              <a:t>partially</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similar</a:t>
            </a:r>
            <a:endParaRPr sz="2400">
              <a:latin typeface="Arial" panose="020B0604020202020204"/>
              <a:cs typeface="Arial" panose="020B0604020202020204"/>
            </a:endParaRPr>
          </a:p>
        </p:txBody>
      </p:sp>
      <p:sp>
        <p:nvSpPr>
          <p:cNvPr id="13" name="object 13"/>
          <p:cNvSpPr txBox="1"/>
          <p:nvPr/>
        </p:nvSpPr>
        <p:spPr>
          <a:xfrm>
            <a:off x="1102360" y="6315709"/>
            <a:ext cx="125730" cy="176530"/>
          </a:xfrm>
          <a:prstGeom prst="rect">
            <a:avLst/>
          </a:prstGeom>
        </p:spPr>
        <p:txBody>
          <a:bodyPr vert="horz" wrap="square" lIns="0" tIns="11430" rIns="0" bIns="0" rtlCol="0">
            <a:spAutoFit/>
          </a:bodyPr>
          <a:lstStyle/>
          <a:p>
            <a:pPr marL="12700">
              <a:lnSpc>
                <a:spcPct val="100000"/>
              </a:lnSpc>
              <a:spcBef>
                <a:spcPts val="90"/>
              </a:spcBef>
            </a:pPr>
            <a:r>
              <a:rPr sz="1000" spc="180" dirty="0">
                <a:solidFill>
                  <a:srgbClr val="191919"/>
                </a:solidFill>
                <a:latin typeface="Calibri"/>
                <a:cs typeface="Calibri"/>
              </a:rPr>
              <a:t>●</a:t>
            </a:r>
            <a:endParaRPr sz="1000">
              <a:latin typeface="Calibri"/>
              <a:cs typeface="Calibri"/>
            </a:endParaRPr>
          </a:p>
        </p:txBody>
      </p:sp>
      <p:sp>
        <p:nvSpPr>
          <p:cNvPr id="14" name="object 14"/>
          <p:cNvSpPr txBox="1"/>
          <p:nvPr/>
        </p:nvSpPr>
        <p:spPr>
          <a:xfrm>
            <a:off x="1426210" y="6230620"/>
            <a:ext cx="5932170" cy="360680"/>
          </a:xfrm>
          <a:prstGeom prst="rect">
            <a:avLst/>
          </a:prstGeom>
        </p:spPr>
        <p:txBody>
          <a:bodyPr vert="horz" wrap="square" lIns="0" tIns="12700" rIns="0" bIns="0" rtlCol="0">
            <a:spAutoFit/>
          </a:bodyPr>
          <a:lstStyle/>
          <a:p>
            <a:pPr marL="12700">
              <a:lnSpc>
                <a:spcPct val="100000"/>
              </a:lnSpc>
              <a:spcBef>
                <a:spcPts val="100"/>
              </a:spcBef>
            </a:pPr>
            <a:r>
              <a:rPr sz="2200" spc="-40" dirty="0">
                <a:solidFill>
                  <a:srgbClr val="191919"/>
                </a:solidFill>
                <a:latin typeface="Arial" panose="020B0604020202020204"/>
                <a:cs typeface="Arial" panose="020B0604020202020204"/>
              </a:rPr>
              <a:t>CORRECT:</a:t>
            </a:r>
            <a:r>
              <a:rPr sz="220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Gene </a:t>
            </a:r>
            <a:r>
              <a:rPr sz="2200" dirty="0">
                <a:solidFill>
                  <a:srgbClr val="191919"/>
                </a:solidFill>
                <a:latin typeface="Arial" panose="020B0604020202020204"/>
                <a:cs typeface="Arial" panose="020B0604020202020204"/>
              </a:rPr>
              <a:t>X</a:t>
            </a:r>
            <a:r>
              <a:rPr sz="2200" spc="-15"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has</a:t>
            </a:r>
            <a:r>
              <a:rPr sz="220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80% identity</a:t>
            </a:r>
            <a:r>
              <a:rPr sz="220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to</a:t>
            </a:r>
            <a:r>
              <a:rPr sz="2200" dirty="0">
                <a:solidFill>
                  <a:srgbClr val="191919"/>
                </a:solidFill>
                <a:latin typeface="Arial" panose="020B0604020202020204"/>
                <a:cs typeface="Arial" panose="020B0604020202020204"/>
              </a:rPr>
              <a:t> </a:t>
            </a:r>
            <a:r>
              <a:rPr sz="2200" spc="-5" dirty="0">
                <a:solidFill>
                  <a:srgbClr val="191919"/>
                </a:solidFill>
                <a:latin typeface="Arial" panose="020B0604020202020204"/>
                <a:cs typeface="Arial" panose="020B0604020202020204"/>
              </a:rPr>
              <a:t>Gene</a:t>
            </a:r>
            <a:r>
              <a:rPr sz="2200" spc="-40" dirty="0">
                <a:solidFill>
                  <a:srgbClr val="191919"/>
                </a:solidFill>
                <a:latin typeface="Arial" panose="020B0604020202020204"/>
                <a:cs typeface="Arial" panose="020B0604020202020204"/>
              </a:rPr>
              <a:t> </a:t>
            </a:r>
            <a:r>
              <a:rPr sz="2200" dirty="0">
                <a:solidFill>
                  <a:srgbClr val="191919"/>
                </a:solidFill>
                <a:latin typeface="Arial" panose="020B0604020202020204"/>
                <a:cs typeface="Arial" panose="020B0604020202020204"/>
              </a:rPr>
              <a:t>Y</a:t>
            </a:r>
            <a:endParaRPr sz="2200">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6</a:t>
            </a:fld>
            <a:endParaRPr dirty="0"/>
          </a:p>
        </p:txBody>
      </p:sp>
      <p:sp>
        <p:nvSpPr>
          <p:cNvPr id="2" name="object 2"/>
          <p:cNvSpPr txBox="1">
            <a:spLocks noGrp="1"/>
          </p:cNvSpPr>
          <p:nvPr>
            <p:ph type="title"/>
          </p:nvPr>
        </p:nvSpPr>
        <p:spPr>
          <a:xfrm>
            <a:off x="2552700" y="553720"/>
            <a:ext cx="4965700" cy="695960"/>
          </a:xfrm>
          <a:prstGeom prst="rect">
            <a:avLst/>
          </a:prstGeom>
        </p:spPr>
        <p:txBody>
          <a:bodyPr vert="horz" wrap="square" lIns="0" tIns="12700" rIns="0" bIns="0" rtlCol="0">
            <a:spAutoFit/>
          </a:bodyPr>
          <a:lstStyle/>
          <a:p>
            <a:pPr marL="12700">
              <a:lnSpc>
                <a:spcPct val="100000"/>
              </a:lnSpc>
              <a:spcBef>
                <a:spcPts val="100"/>
              </a:spcBef>
            </a:pPr>
            <a:r>
              <a:rPr sz="4400" spc="-5" dirty="0"/>
              <a:t>Identity</a:t>
            </a:r>
            <a:r>
              <a:rPr sz="4400" spc="-30" dirty="0"/>
              <a:t> </a:t>
            </a:r>
            <a:r>
              <a:rPr sz="4400" dirty="0"/>
              <a:t>vs</a:t>
            </a:r>
            <a:r>
              <a:rPr sz="4400" spc="-20" dirty="0"/>
              <a:t> </a:t>
            </a:r>
            <a:r>
              <a:rPr sz="4400" spc="-5" dirty="0"/>
              <a:t>Similarity</a:t>
            </a:r>
            <a:endParaRPr sz="4400"/>
          </a:p>
        </p:txBody>
      </p:sp>
      <p:sp>
        <p:nvSpPr>
          <p:cNvPr id="3" name="object 3"/>
          <p:cNvSpPr txBox="1"/>
          <p:nvPr/>
        </p:nvSpPr>
        <p:spPr>
          <a:xfrm>
            <a:off x="599440" y="185547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923289" y="1718309"/>
            <a:ext cx="8076565" cy="1424940"/>
          </a:xfrm>
          <a:prstGeom prst="rect">
            <a:avLst/>
          </a:prstGeom>
        </p:spPr>
        <p:txBody>
          <a:bodyPr vert="horz" wrap="square" lIns="0" tIns="53975" rIns="0" bIns="0" rtlCol="0">
            <a:spAutoFit/>
          </a:bodyPr>
          <a:lstStyle/>
          <a:p>
            <a:pPr marL="12700" marR="5080" algn="just">
              <a:lnSpc>
                <a:spcPts val="3590"/>
              </a:lnSpc>
              <a:spcBef>
                <a:spcPts val="425"/>
              </a:spcBef>
            </a:pPr>
            <a:r>
              <a:rPr sz="3200" spc="-5" dirty="0">
                <a:solidFill>
                  <a:srgbClr val="191919"/>
                </a:solidFill>
                <a:latin typeface="Arial" panose="020B0604020202020204"/>
                <a:cs typeface="Arial" panose="020B0604020202020204"/>
              </a:rPr>
              <a:t>Identity is </a:t>
            </a:r>
            <a:r>
              <a:rPr sz="3200" dirty="0">
                <a:solidFill>
                  <a:srgbClr val="191919"/>
                </a:solidFill>
                <a:latin typeface="Arial" panose="020B0604020202020204"/>
                <a:cs typeface="Arial" panose="020B0604020202020204"/>
              </a:rPr>
              <a:t>a percentage measurement </a:t>
            </a:r>
            <a:r>
              <a:rPr sz="3200" spc="-5" dirty="0">
                <a:solidFill>
                  <a:srgbClr val="191919"/>
                </a:solidFill>
                <a:latin typeface="Arial" panose="020B0604020202020204"/>
                <a:cs typeface="Arial" panose="020B0604020202020204"/>
              </a:rPr>
              <a:t>that </a:t>
            </a:r>
            <a:r>
              <a:rPr sz="320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states </a:t>
            </a:r>
            <a:r>
              <a:rPr sz="3200" dirty="0">
                <a:solidFill>
                  <a:srgbClr val="191919"/>
                </a:solidFill>
                <a:latin typeface="Arial" panose="020B0604020202020204"/>
                <a:cs typeface="Arial" panose="020B0604020202020204"/>
              </a:rPr>
              <a:t>how many characters </a:t>
            </a:r>
            <a:r>
              <a:rPr sz="3200" spc="-5" dirty="0">
                <a:solidFill>
                  <a:srgbClr val="191919"/>
                </a:solidFill>
                <a:latin typeface="Arial" panose="020B0604020202020204"/>
                <a:cs typeface="Arial" panose="020B0604020202020204"/>
              </a:rPr>
              <a:t>in the </a:t>
            </a:r>
            <a:r>
              <a:rPr sz="3200" dirty="0">
                <a:solidFill>
                  <a:srgbClr val="191919"/>
                </a:solidFill>
                <a:latin typeface="Arial" panose="020B0604020202020204"/>
                <a:cs typeface="Arial" panose="020B0604020202020204"/>
              </a:rPr>
              <a:t>sequence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are</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identical</a:t>
            </a:r>
            <a:endParaRPr sz="3200">
              <a:latin typeface="Arial" panose="020B0604020202020204"/>
              <a:cs typeface="Arial" panose="020B0604020202020204"/>
            </a:endParaRPr>
          </a:p>
        </p:txBody>
      </p:sp>
      <p:sp>
        <p:nvSpPr>
          <p:cNvPr id="5" name="object 5"/>
          <p:cNvSpPr txBox="1"/>
          <p:nvPr/>
        </p:nvSpPr>
        <p:spPr>
          <a:xfrm>
            <a:off x="599440" y="403860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6" name="object 6"/>
          <p:cNvSpPr txBox="1"/>
          <p:nvPr/>
        </p:nvSpPr>
        <p:spPr>
          <a:xfrm>
            <a:off x="923289" y="3901440"/>
            <a:ext cx="8116570" cy="1424940"/>
          </a:xfrm>
          <a:prstGeom prst="rect">
            <a:avLst/>
          </a:prstGeom>
        </p:spPr>
        <p:txBody>
          <a:bodyPr vert="horz" wrap="square" lIns="0" tIns="53975" rIns="0" bIns="0" rtlCol="0">
            <a:spAutoFit/>
          </a:bodyPr>
          <a:lstStyle/>
          <a:p>
            <a:pPr marL="12700" marR="5080" algn="just">
              <a:lnSpc>
                <a:spcPts val="3590"/>
              </a:lnSpc>
              <a:spcBef>
                <a:spcPts val="425"/>
              </a:spcBef>
            </a:pPr>
            <a:r>
              <a:rPr sz="3200" spc="-5" dirty="0">
                <a:solidFill>
                  <a:srgbClr val="191919"/>
                </a:solidFill>
                <a:latin typeface="Arial" panose="020B0604020202020204"/>
                <a:cs typeface="Arial" panose="020B0604020202020204"/>
              </a:rPr>
              <a:t>Similarity </a:t>
            </a:r>
            <a:r>
              <a:rPr sz="3200" dirty="0">
                <a:solidFill>
                  <a:srgbClr val="191919"/>
                </a:solidFill>
                <a:latin typeface="Arial" panose="020B0604020202020204"/>
                <a:cs typeface="Arial" panose="020B0604020202020204"/>
              </a:rPr>
              <a:t>can also </a:t>
            </a:r>
            <a:r>
              <a:rPr sz="3200" spc="-5" dirty="0">
                <a:solidFill>
                  <a:srgbClr val="191919"/>
                </a:solidFill>
                <a:latin typeface="Arial" panose="020B0604020202020204"/>
                <a:cs typeface="Arial" panose="020B0604020202020204"/>
              </a:rPr>
              <a:t>be </a:t>
            </a:r>
            <a:r>
              <a:rPr sz="3200" dirty="0">
                <a:solidFill>
                  <a:srgbClr val="191919"/>
                </a:solidFill>
                <a:latin typeface="Arial" panose="020B0604020202020204"/>
                <a:cs typeface="Arial" panose="020B0604020202020204"/>
              </a:rPr>
              <a:t>used as a </a:t>
            </a:r>
            <a:r>
              <a:rPr sz="3200" spc="-5" dirty="0">
                <a:solidFill>
                  <a:srgbClr val="191919"/>
                </a:solidFill>
                <a:latin typeface="Arial" panose="020B0604020202020204"/>
                <a:cs typeface="Arial" panose="020B0604020202020204"/>
              </a:rPr>
              <a:t>metric </a:t>
            </a:r>
            <a:r>
              <a:rPr sz="3200" dirty="0">
                <a:solidFill>
                  <a:srgbClr val="191919"/>
                </a:solidFill>
                <a:latin typeface="Arial" panose="020B0604020202020204"/>
                <a:cs typeface="Arial" panose="020B0604020202020204"/>
              </a:rPr>
              <a:t>which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means how many </a:t>
            </a:r>
            <a:r>
              <a:rPr sz="3200" spc="-5" dirty="0">
                <a:solidFill>
                  <a:srgbClr val="191919"/>
                </a:solidFill>
                <a:latin typeface="Arial" panose="020B0604020202020204"/>
                <a:cs typeface="Arial" panose="020B0604020202020204"/>
              </a:rPr>
              <a:t>characters are “positive </a:t>
            </a:r>
            <a:r>
              <a:rPr sz="3200" dirty="0">
                <a:solidFill>
                  <a:srgbClr val="191919"/>
                </a:solidFill>
                <a:latin typeface="Arial" panose="020B0604020202020204"/>
                <a:cs typeface="Arial" panose="020B0604020202020204"/>
              </a:rPr>
              <a:t> scoring”</a:t>
            </a:r>
            <a:endParaRPr sz="3200">
              <a:latin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7</a:t>
            </a:fld>
            <a:endParaRPr dirty="0"/>
          </a:p>
        </p:txBody>
      </p:sp>
      <p:sp>
        <p:nvSpPr>
          <p:cNvPr id="2" name="object 2"/>
          <p:cNvSpPr txBox="1">
            <a:spLocks noGrp="1"/>
          </p:cNvSpPr>
          <p:nvPr>
            <p:ph type="title"/>
          </p:nvPr>
        </p:nvSpPr>
        <p:spPr>
          <a:xfrm>
            <a:off x="2552700" y="401320"/>
            <a:ext cx="4965700" cy="695960"/>
          </a:xfrm>
          <a:prstGeom prst="rect">
            <a:avLst/>
          </a:prstGeom>
        </p:spPr>
        <p:txBody>
          <a:bodyPr vert="horz" wrap="square" lIns="0" tIns="12700" rIns="0" bIns="0" rtlCol="0">
            <a:spAutoFit/>
          </a:bodyPr>
          <a:lstStyle/>
          <a:p>
            <a:pPr marL="12700">
              <a:lnSpc>
                <a:spcPct val="100000"/>
              </a:lnSpc>
              <a:spcBef>
                <a:spcPts val="100"/>
              </a:spcBef>
            </a:pPr>
            <a:r>
              <a:rPr sz="4400" spc="-5" dirty="0"/>
              <a:t>Identity</a:t>
            </a:r>
            <a:r>
              <a:rPr sz="4400" spc="-30" dirty="0"/>
              <a:t> </a:t>
            </a:r>
            <a:r>
              <a:rPr sz="4400" dirty="0"/>
              <a:t>vs</a:t>
            </a:r>
            <a:r>
              <a:rPr sz="4400" spc="-20" dirty="0"/>
              <a:t> </a:t>
            </a:r>
            <a:r>
              <a:rPr sz="4400" spc="-5" dirty="0"/>
              <a:t>Similarity</a:t>
            </a:r>
            <a:endParaRPr sz="4400"/>
          </a:p>
        </p:txBody>
      </p:sp>
      <p:pic>
        <p:nvPicPr>
          <p:cNvPr id="8" name="Picture 7"/>
          <p:cNvPicPr>
            <a:picLocks noChangeAspect="1"/>
          </p:cNvPicPr>
          <p:nvPr/>
        </p:nvPicPr>
        <p:blipFill>
          <a:blip r:embed="rId2"/>
          <a:stretch>
            <a:fillRect/>
          </a:stretch>
        </p:blipFill>
        <p:spPr>
          <a:xfrm>
            <a:off x="433705" y="3698875"/>
            <a:ext cx="4346575" cy="3299460"/>
          </a:xfrm>
          <a:prstGeom prst="rect">
            <a:avLst/>
          </a:prstGeom>
        </p:spPr>
      </p:pic>
      <p:sp>
        <p:nvSpPr>
          <p:cNvPr id="9" name="Text Box 8"/>
          <p:cNvSpPr txBox="1"/>
          <p:nvPr/>
        </p:nvSpPr>
        <p:spPr>
          <a:xfrm>
            <a:off x="433705" y="1368425"/>
            <a:ext cx="4286885" cy="2306955"/>
          </a:xfrm>
          <a:prstGeom prst="rect">
            <a:avLst/>
          </a:prstGeom>
          <a:noFill/>
        </p:spPr>
        <p:txBody>
          <a:bodyPr wrap="square" rtlCol="0" anchor="t">
            <a:spAutoFit/>
          </a:bodyPr>
          <a:lstStyle/>
          <a:p>
            <a:pPr algn="just"/>
            <a:r>
              <a:rPr lang="en-US" sz="1600" b="1"/>
              <a:t>Similarity</a:t>
            </a:r>
            <a:r>
              <a:rPr lang="en-US" sz="1600"/>
              <a:t> in sequence alignment is the resemblance between two sequences when compared. This fact is dependent on the identity of sequences. Similarity depicts the extent to which the residues are aligned. Hence, similar sequences contain similar properties. In bioinformatics, similarity is a tool to assess the likeness between two proteins.</a:t>
            </a:r>
          </a:p>
        </p:txBody>
      </p:sp>
      <p:pic>
        <p:nvPicPr>
          <p:cNvPr id="10" name="Picture 9"/>
          <p:cNvPicPr>
            <a:picLocks noChangeAspect="1"/>
          </p:cNvPicPr>
          <p:nvPr/>
        </p:nvPicPr>
        <p:blipFill>
          <a:blip r:embed="rId3"/>
          <a:stretch>
            <a:fillRect/>
          </a:stretch>
        </p:blipFill>
        <p:spPr>
          <a:xfrm>
            <a:off x="5080635" y="4291330"/>
            <a:ext cx="4839970" cy="2344420"/>
          </a:xfrm>
          <a:prstGeom prst="rect">
            <a:avLst/>
          </a:prstGeom>
        </p:spPr>
      </p:pic>
      <p:sp>
        <p:nvSpPr>
          <p:cNvPr id="11" name="Text Box 10"/>
          <p:cNvSpPr txBox="1"/>
          <p:nvPr/>
        </p:nvSpPr>
        <p:spPr>
          <a:xfrm>
            <a:off x="5180330" y="1350645"/>
            <a:ext cx="4640580" cy="2676525"/>
          </a:xfrm>
          <a:prstGeom prst="rect">
            <a:avLst/>
          </a:prstGeom>
          <a:noFill/>
        </p:spPr>
        <p:txBody>
          <a:bodyPr wrap="square" rtlCol="0" anchor="t">
            <a:spAutoFit/>
          </a:bodyPr>
          <a:lstStyle/>
          <a:p>
            <a:pPr algn="just"/>
            <a:r>
              <a:rPr lang="en-US" sz="1200" b="1"/>
              <a:t>Identity</a:t>
            </a:r>
            <a:r>
              <a:rPr lang="en-US" sz="1200"/>
              <a:t> in sequence alignment is the number of characters that match exactly between two different sequences. Hence, gaps do not count when assessing identity. The measurement is considered to be relational to the shorter sequence among the two sequences. It significantly implies that it has the effect where the sequence identity is not transitive. If X=Y and Y=Z, then X is not necessarily equal to Z. This is deduced in terms of the identity distance measure.</a:t>
            </a:r>
          </a:p>
          <a:p>
            <a:pPr algn="just"/>
            <a:r>
              <a:rPr lang="en-US" sz="1200"/>
              <a:t>X </a:t>
            </a:r>
            <a:r>
              <a:rPr lang="" altLang="en-US" sz="1200"/>
              <a:t>= </a:t>
            </a:r>
            <a:r>
              <a:rPr lang="en-US" sz="1200"/>
              <a:t>AAGGCTT, Y </a:t>
            </a:r>
            <a:r>
              <a:rPr lang="" altLang="en-US" sz="1200"/>
              <a:t>=</a:t>
            </a:r>
            <a:r>
              <a:rPr lang="en-US" sz="1200"/>
              <a:t> AAGGC and Z </a:t>
            </a:r>
            <a:r>
              <a:rPr lang="" altLang="en-US" sz="1200"/>
              <a:t>= </a:t>
            </a:r>
            <a:r>
              <a:rPr lang="en-US" sz="1200"/>
              <a:t>AAGGCAT. </a:t>
            </a:r>
          </a:p>
          <a:p>
            <a:pPr algn="just"/>
            <a:r>
              <a:rPr lang="en-US" sz="1200"/>
              <a:t>Identity between X and Y is 100% {5 identical nucleotides / min[length(X),length(Y)]}. </a:t>
            </a:r>
          </a:p>
          <a:p>
            <a:pPr algn="just"/>
            <a:r>
              <a:rPr lang="en-US" sz="1200"/>
              <a:t>Identity between Y and Z is also 100%. </a:t>
            </a:r>
          </a:p>
          <a:p>
            <a:pPr algn="just"/>
            <a:r>
              <a:rPr lang="en-US" sz="1200"/>
              <a:t>But identity between X and Z is only 85% {(6 identical nucleotides / 7)}.</a:t>
            </a:r>
          </a:p>
        </p:txBody>
      </p:sp>
      <p:sp>
        <p:nvSpPr>
          <p:cNvPr id="12" name="Text Box 11"/>
          <p:cNvSpPr txBox="1"/>
          <p:nvPr/>
        </p:nvSpPr>
        <p:spPr>
          <a:xfrm>
            <a:off x="433705" y="7157085"/>
            <a:ext cx="6176010" cy="245110"/>
          </a:xfrm>
          <a:prstGeom prst="rect">
            <a:avLst/>
          </a:prstGeom>
          <a:noFill/>
        </p:spPr>
        <p:txBody>
          <a:bodyPr wrap="square" rtlCol="0" anchor="t">
            <a:spAutoFit/>
          </a:bodyPr>
          <a:lstStyle/>
          <a:p>
            <a:r>
              <a:rPr lang="en-US" sz="1000"/>
              <a:t>https://www.differencebetween.com/difference-between-similarity-and-identity-in-sequence-alignment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8</a:t>
            </a:fld>
            <a:endParaRPr dirty="0"/>
          </a:p>
        </p:txBody>
      </p:sp>
      <p:sp>
        <p:nvSpPr>
          <p:cNvPr id="2" name="object 2"/>
          <p:cNvSpPr txBox="1">
            <a:spLocks noGrp="1"/>
          </p:cNvSpPr>
          <p:nvPr>
            <p:ph type="title"/>
          </p:nvPr>
        </p:nvSpPr>
        <p:spPr>
          <a:xfrm>
            <a:off x="2552700" y="401320"/>
            <a:ext cx="4965700" cy="695960"/>
          </a:xfrm>
          <a:prstGeom prst="rect">
            <a:avLst/>
          </a:prstGeom>
        </p:spPr>
        <p:txBody>
          <a:bodyPr vert="horz" wrap="square" lIns="0" tIns="12700" rIns="0" bIns="0" rtlCol="0">
            <a:spAutoFit/>
          </a:bodyPr>
          <a:lstStyle/>
          <a:p>
            <a:pPr marL="12700">
              <a:lnSpc>
                <a:spcPct val="100000"/>
              </a:lnSpc>
              <a:spcBef>
                <a:spcPts val="100"/>
              </a:spcBef>
            </a:pPr>
            <a:r>
              <a:rPr sz="4400" spc="-5" dirty="0"/>
              <a:t>Identity</a:t>
            </a:r>
            <a:r>
              <a:rPr sz="4400" spc="-30" dirty="0"/>
              <a:t> </a:t>
            </a:r>
            <a:r>
              <a:rPr sz="4400" dirty="0"/>
              <a:t>vs</a:t>
            </a:r>
            <a:r>
              <a:rPr sz="4400" spc="-20" dirty="0"/>
              <a:t> </a:t>
            </a:r>
            <a:r>
              <a:rPr sz="4400" spc="-5" dirty="0"/>
              <a:t>Similarity</a:t>
            </a:r>
            <a:endParaRPr sz="4400"/>
          </a:p>
        </p:txBody>
      </p:sp>
      <p:sp>
        <p:nvSpPr>
          <p:cNvPr id="61443" name="Subtitle 61442"/>
          <p:cNvSpPr>
            <a:spLocks noGrp="1"/>
          </p:cNvSpPr>
          <p:nvPr>
            <p:ph type="subTitle" idx="1"/>
          </p:nvPr>
        </p:nvSpPr>
        <p:spPr>
          <a:xfrm>
            <a:off x="1127760" y="1283970"/>
            <a:ext cx="7937500" cy="4812665"/>
          </a:xfrm>
        </p:spPr>
        <p:txBody>
          <a:bodyPr wrap="square"/>
          <a:lstStyle/>
          <a:p>
            <a:pPr algn="just" defTabSz="914400">
              <a:lnSpc>
                <a:spcPct val="115000"/>
              </a:lnSpc>
              <a:buSzPct val="100000"/>
            </a:pPr>
            <a:r>
              <a:rPr lang="en-US" altLang="x-none" sz="2400" b="1" kern="1200" baseline="0" dirty="0">
                <a:solidFill>
                  <a:schemeClr val="accent2"/>
                </a:solidFill>
                <a:latin typeface="Times New Roman" panose="02020603050405020304" charset="0"/>
              </a:rPr>
              <a:t>Identity</a:t>
            </a:r>
          </a:p>
          <a:p>
            <a:pPr algn="just" defTabSz="914400">
              <a:lnSpc>
                <a:spcPct val="115000"/>
              </a:lnSpc>
              <a:buSzPct val="100000"/>
            </a:pPr>
            <a:r>
              <a:rPr lang="en-US" altLang="x-none" sz="2000" kern="1200" baseline="0" dirty="0">
                <a:latin typeface="Times New Roman" panose="02020603050405020304" charset="0"/>
              </a:rPr>
              <a:t>The extent to which two (nucleotide or amino acid) sequences are </a:t>
            </a:r>
            <a:r>
              <a:rPr lang="en-US" altLang="x-none" sz="2000" b="1" kern="1200" baseline="0" dirty="0">
                <a:latin typeface="Times New Roman" panose="02020603050405020304" charset="0"/>
              </a:rPr>
              <a:t>invariant </a:t>
            </a:r>
            <a:r>
              <a:rPr lang="en-US" altLang="x-none" sz="2000" kern="1200" baseline="0" dirty="0">
                <a:latin typeface="Times New Roman" panose="02020603050405020304" charset="0"/>
              </a:rPr>
              <a:t>(identical).</a:t>
            </a:r>
          </a:p>
          <a:p>
            <a:pPr algn="just" defTabSz="914400">
              <a:lnSpc>
                <a:spcPct val="115000"/>
              </a:lnSpc>
              <a:buSzPct val="100000"/>
            </a:pPr>
            <a:endParaRPr lang="en-US" altLang="x-none" sz="2000" kern="1200" baseline="0" dirty="0">
              <a:latin typeface="Times New Roman" panose="02020603050405020304" charset="0"/>
            </a:endParaRPr>
          </a:p>
          <a:p>
            <a:pPr algn="just" defTabSz="914400">
              <a:lnSpc>
                <a:spcPct val="115000"/>
              </a:lnSpc>
              <a:buSzPct val="100000"/>
            </a:pPr>
            <a:r>
              <a:rPr lang="en-US" altLang="x-none" sz="2400" b="1" kern="1200" baseline="0" dirty="0">
                <a:solidFill>
                  <a:schemeClr val="accent2"/>
                </a:solidFill>
                <a:latin typeface="Times New Roman" panose="02020603050405020304" charset="0"/>
              </a:rPr>
              <a:t>Similarity</a:t>
            </a:r>
          </a:p>
          <a:p>
            <a:pPr algn="just" defTabSz="914400">
              <a:lnSpc>
                <a:spcPct val="115000"/>
              </a:lnSpc>
              <a:buSzPct val="100000"/>
            </a:pPr>
            <a:r>
              <a:rPr lang="en-US" altLang="x-none" sz="2000" kern="1200" baseline="0" dirty="0">
                <a:latin typeface="Times New Roman" panose="02020603050405020304" charset="0"/>
              </a:rPr>
              <a:t>The extent to which (nucleotide or amino acid) sequences are </a:t>
            </a:r>
            <a:r>
              <a:rPr lang="en-US" altLang="x-none" sz="2000" b="1" kern="1200" baseline="0" dirty="0">
                <a:latin typeface="Times New Roman" panose="02020603050405020304" charset="0"/>
              </a:rPr>
              <a:t>related</a:t>
            </a:r>
            <a:r>
              <a:rPr lang="en-US" altLang="x-none" sz="2000" kern="1200" baseline="0" dirty="0">
                <a:latin typeface="Times New Roman" panose="02020603050405020304" charset="0"/>
              </a:rPr>
              <a:t>. The extent of similarity between two sequences can be based on percent sequence identity and/or conservation. In BLAST similarity refers to a positive matrix score. This is quite flexible (see later examples of DNA polymerases) – similar across the whole sequence </a:t>
            </a:r>
            <a:r>
              <a:rPr lang="en-US" altLang="x-none" sz="2000" i="1" kern="1200" baseline="0" dirty="0">
                <a:latin typeface="Times New Roman" panose="02020603050405020304" charset="0"/>
              </a:rPr>
              <a:t>or</a:t>
            </a:r>
            <a:r>
              <a:rPr lang="en-US" altLang="x-none" sz="2000" kern="1200" baseline="0" dirty="0">
                <a:latin typeface="Times New Roman" panose="02020603050405020304" charset="0"/>
              </a:rPr>
              <a:t> similarity restricted to domains !</a:t>
            </a:r>
          </a:p>
          <a:p>
            <a:pPr algn="just" defTabSz="914400">
              <a:lnSpc>
                <a:spcPct val="115000"/>
              </a:lnSpc>
              <a:buSzPct val="100000"/>
            </a:pPr>
            <a:endParaRPr lang="en-US" altLang="x-none" sz="2000" kern="1200" baseline="0" dirty="0">
              <a:latin typeface="Times New Roman" panose="02020603050405020304" charset="0"/>
            </a:endParaRPr>
          </a:p>
          <a:p>
            <a:pPr algn="just" defTabSz="914400">
              <a:lnSpc>
                <a:spcPct val="115000"/>
              </a:lnSpc>
              <a:buSzPct val="100000"/>
            </a:pPr>
            <a:r>
              <a:rPr lang="en-US" altLang="x-none" sz="2400" b="1" kern="1200" baseline="0" dirty="0">
                <a:solidFill>
                  <a:schemeClr val="accent2"/>
                </a:solidFill>
                <a:latin typeface="Times New Roman" panose="02020603050405020304" charset="0"/>
              </a:rPr>
              <a:t>Homology</a:t>
            </a:r>
          </a:p>
          <a:p>
            <a:pPr algn="just" defTabSz="914400">
              <a:lnSpc>
                <a:spcPct val="115000"/>
              </a:lnSpc>
              <a:buSzPct val="100000"/>
            </a:pPr>
            <a:r>
              <a:rPr lang="en-US" altLang="x-none" sz="2000" kern="1200" baseline="0" dirty="0">
                <a:latin typeface="Times New Roman" panose="02020603050405020304" charset="0"/>
              </a:rPr>
              <a:t>Similarity attributed to </a:t>
            </a:r>
            <a:r>
              <a:rPr lang="en-US" altLang="x-none" sz="2000" b="1" kern="1200" baseline="0" dirty="0">
                <a:latin typeface="Times New Roman" panose="02020603050405020304" charset="0"/>
              </a:rPr>
              <a:t>descent from a common ancestor</a:t>
            </a:r>
            <a:r>
              <a:rPr lang="en-US" altLang="x-none" sz="2000" kern="1200" baseline="0" dirty="0">
                <a:latin typeface="Times New Roman" panose="0202060305040502030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9500" y="1035050"/>
            <a:ext cx="7010400" cy="628377"/>
          </a:xfrm>
          <a:prstGeom prst="rect">
            <a:avLst/>
          </a:prstGeom>
        </p:spPr>
        <p:txBody>
          <a:bodyPr vert="horz" wrap="square" lIns="0" tIns="12700" rIns="0" bIns="0" rtlCol="0">
            <a:spAutoFit/>
          </a:bodyPr>
          <a:lstStyle/>
          <a:p>
            <a:pPr marL="1389380" marR="5080" indent="-1376680">
              <a:lnSpc>
                <a:spcPct val="100000"/>
              </a:lnSpc>
              <a:spcBef>
                <a:spcPts val="100"/>
              </a:spcBef>
            </a:pPr>
            <a:r>
              <a:rPr sz="4000" spc="-5" dirty="0"/>
              <a:t>Assessing</a:t>
            </a:r>
            <a:r>
              <a:rPr sz="4000" spc="-70" dirty="0"/>
              <a:t> </a:t>
            </a:r>
            <a:r>
              <a:rPr sz="4000" spc="-5" dirty="0"/>
              <a:t>Sequence</a:t>
            </a:r>
            <a:r>
              <a:rPr lang="en-GB" sz="4000" spc="-5" dirty="0"/>
              <a:t> </a:t>
            </a:r>
            <a:r>
              <a:rPr sz="4000" spc="-5" dirty="0"/>
              <a:t>Similarity</a:t>
            </a:r>
            <a:endParaRPr sz="4000" dirty="0"/>
          </a:p>
        </p:txBody>
      </p:sp>
      <p:sp>
        <p:nvSpPr>
          <p:cNvPr id="3" name="object 3"/>
          <p:cNvSpPr txBox="1"/>
          <p:nvPr/>
        </p:nvSpPr>
        <p:spPr>
          <a:xfrm>
            <a:off x="1144269" y="2242820"/>
            <a:ext cx="43688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91919"/>
                </a:solidFill>
                <a:latin typeface="Courier New" panose="02070309020205020404"/>
                <a:cs typeface="Courier New" panose="02070309020205020404"/>
              </a:rPr>
              <a:t>Rbn  Lsz</a:t>
            </a:r>
            <a:endParaRPr sz="1800">
              <a:latin typeface="Courier New" panose="02070309020205020404"/>
              <a:cs typeface="Courier New" panose="02070309020205020404"/>
            </a:endParaRPr>
          </a:p>
        </p:txBody>
      </p:sp>
      <p:sp>
        <p:nvSpPr>
          <p:cNvPr id="4" name="object 4"/>
          <p:cNvSpPr txBox="1"/>
          <p:nvPr/>
        </p:nvSpPr>
        <p:spPr>
          <a:xfrm>
            <a:off x="2058670" y="2242820"/>
            <a:ext cx="5511800" cy="1397000"/>
          </a:xfrm>
          <a:prstGeom prst="rect">
            <a:avLst/>
          </a:prstGeom>
        </p:spPr>
        <p:txBody>
          <a:bodyPr vert="horz" wrap="square" lIns="0" tIns="12700" rIns="0" bIns="0" rtlCol="0">
            <a:spAutoFit/>
          </a:bodyPr>
          <a:lstStyle/>
          <a:p>
            <a:pPr marL="12700" marR="5080" indent="3566160" algn="r">
              <a:lnSpc>
                <a:spcPct val="100000"/>
              </a:lnSpc>
              <a:spcBef>
                <a:spcPts val="100"/>
              </a:spcBef>
            </a:pPr>
            <a:r>
              <a:rPr sz="1800" spc="-5" dirty="0">
                <a:solidFill>
                  <a:srgbClr val="191919"/>
                </a:solidFill>
                <a:latin typeface="Courier New" panose="02070309020205020404"/>
                <a:cs typeface="Courier New" panose="02070309020205020404"/>
              </a:rPr>
              <a:t>KETAAAKFERQHMD  KVFGRCELAAAMKRHGLDNYRGYSLGNWVCAAKFESNFNT</a:t>
            </a:r>
            <a:endParaRPr sz="1800">
              <a:latin typeface="Courier New" panose="02070309020205020404"/>
              <a:cs typeface="Courier New" panose="02070309020205020404"/>
            </a:endParaRPr>
          </a:p>
          <a:p>
            <a:pPr>
              <a:lnSpc>
                <a:spcPct val="100000"/>
              </a:lnSpc>
              <a:spcBef>
                <a:spcPts val="5"/>
              </a:spcBef>
            </a:pPr>
            <a:endParaRPr sz="1900">
              <a:latin typeface="Courier New" panose="02070309020205020404"/>
              <a:cs typeface="Courier New" panose="02070309020205020404"/>
            </a:endParaRPr>
          </a:p>
          <a:p>
            <a:pPr marL="12700" marR="5080" algn="r">
              <a:lnSpc>
                <a:spcPct val="100000"/>
              </a:lnSpc>
              <a:tabLst>
                <a:tab pos="697865" algn="l"/>
                <a:tab pos="4949190" algn="l"/>
              </a:tabLst>
            </a:pPr>
            <a:r>
              <a:rPr sz="1800" spc="-5" dirty="0">
                <a:solidFill>
                  <a:srgbClr val="191919"/>
                </a:solidFill>
                <a:latin typeface="Courier New" panose="02070309020205020404"/>
                <a:cs typeface="Courier New" panose="02070309020205020404"/>
              </a:rPr>
              <a:t>SST	SAASSSNYCNQMMKSRNLTKDRCKPMNTFVHESLA </a:t>
            </a:r>
            <a:r>
              <a:rPr sz="1800" spc="-1070" dirty="0">
                <a:solidFill>
                  <a:srgbClr val="191919"/>
                </a:solidFill>
                <a:latin typeface="Courier New" panose="02070309020205020404"/>
                <a:cs typeface="Courier New" panose="02070309020205020404"/>
              </a:rPr>
              <a:t> </a:t>
            </a:r>
            <a:r>
              <a:rPr sz="1800" spc="-5" dirty="0">
                <a:solidFill>
                  <a:srgbClr val="191919"/>
                </a:solidFill>
                <a:latin typeface="Courier New" panose="02070309020205020404"/>
                <a:cs typeface="Courier New" panose="02070309020205020404"/>
              </a:rPr>
              <a:t>QATNRNTDGSTDYGILQINSRWWCNDGRT</a:t>
            </a:r>
            <a:r>
              <a:rPr sz="1800" dirty="0">
                <a:solidFill>
                  <a:srgbClr val="191919"/>
                </a:solidFill>
                <a:latin typeface="Courier New" panose="02070309020205020404"/>
                <a:cs typeface="Courier New" panose="02070309020205020404"/>
              </a:rPr>
              <a:t>P	</a:t>
            </a:r>
            <a:r>
              <a:rPr sz="1800" spc="-5" dirty="0">
                <a:solidFill>
                  <a:srgbClr val="191919"/>
                </a:solidFill>
                <a:latin typeface="Courier New" panose="02070309020205020404"/>
                <a:cs typeface="Courier New" panose="02070309020205020404"/>
              </a:rPr>
              <a:t>GSRN</a:t>
            </a:r>
            <a:endParaRPr sz="1800">
              <a:latin typeface="Courier New" panose="02070309020205020404"/>
              <a:cs typeface="Courier New" panose="02070309020205020404"/>
            </a:endParaRPr>
          </a:p>
        </p:txBody>
      </p:sp>
      <p:sp>
        <p:nvSpPr>
          <p:cNvPr id="5" name="object 5"/>
          <p:cNvSpPr txBox="1"/>
          <p:nvPr/>
        </p:nvSpPr>
        <p:spPr>
          <a:xfrm>
            <a:off x="1144269" y="3065779"/>
            <a:ext cx="43688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91919"/>
                </a:solidFill>
                <a:latin typeface="Courier New" panose="02070309020205020404"/>
                <a:cs typeface="Courier New" panose="02070309020205020404"/>
              </a:rPr>
              <a:t>Rbn  Lsz</a:t>
            </a:r>
            <a:endParaRPr sz="1800">
              <a:latin typeface="Courier New" panose="02070309020205020404"/>
              <a:cs typeface="Courier New" panose="02070309020205020404"/>
            </a:endParaRPr>
          </a:p>
        </p:txBody>
      </p:sp>
      <p:sp>
        <p:nvSpPr>
          <p:cNvPr id="6" name="object 6"/>
          <p:cNvSpPr txBox="1"/>
          <p:nvPr/>
        </p:nvSpPr>
        <p:spPr>
          <a:xfrm>
            <a:off x="1144269" y="3888740"/>
            <a:ext cx="43688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91919"/>
                </a:solidFill>
                <a:latin typeface="Courier New" panose="02070309020205020404"/>
                <a:cs typeface="Courier New" panose="02070309020205020404"/>
              </a:rPr>
              <a:t>Rbn  Lsz</a:t>
            </a:r>
            <a:endParaRPr sz="1800">
              <a:latin typeface="Courier New" panose="02070309020205020404"/>
              <a:cs typeface="Courier New" panose="02070309020205020404"/>
            </a:endParaRPr>
          </a:p>
        </p:txBody>
      </p:sp>
      <p:sp>
        <p:nvSpPr>
          <p:cNvPr id="7" name="object 7"/>
          <p:cNvSpPr txBox="1"/>
          <p:nvPr/>
        </p:nvSpPr>
        <p:spPr>
          <a:xfrm>
            <a:off x="1144269" y="4711700"/>
            <a:ext cx="43688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91919"/>
                </a:solidFill>
                <a:latin typeface="Courier New" panose="02070309020205020404"/>
                <a:cs typeface="Courier New" panose="02070309020205020404"/>
              </a:rPr>
              <a:t>Rbn  Lsz</a:t>
            </a:r>
            <a:endParaRPr sz="1800">
              <a:latin typeface="Courier New" panose="02070309020205020404"/>
              <a:cs typeface="Courier New" panose="02070309020205020404"/>
            </a:endParaRPr>
          </a:p>
        </p:txBody>
      </p:sp>
      <p:sp>
        <p:nvSpPr>
          <p:cNvPr id="8" name="object 8"/>
          <p:cNvSpPr/>
          <p:nvPr/>
        </p:nvSpPr>
        <p:spPr>
          <a:xfrm>
            <a:off x="6187440" y="2274570"/>
            <a:ext cx="685800" cy="533400"/>
          </a:xfrm>
          <a:custGeom>
            <a:avLst/>
            <a:gdLst/>
            <a:ahLst/>
            <a:cxnLst/>
            <a:rect l="l" t="t" r="r" b="b"/>
            <a:pathLst>
              <a:path w="685800" h="533400">
                <a:moveTo>
                  <a:pt x="342900" y="533400"/>
                </a:moveTo>
                <a:lnTo>
                  <a:pt x="0" y="533400"/>
                </a:lnTo>
                <a:lnTo>
                  <a:pt x="0" y="0"/>
                </a:lnTo>
                <a:lnTo>
                  <a:pt x="685800" y="0"/>
                </a:lnTo>
                <a:lnTo>
                  <a:pt x="685800" y="533400"/>
                </a:lnTo>
                <a:lnTo>
                  <a:pt x="342900" y="533400"/>
                </a:lnTo>
                <a:close/>
              </a:path>
            </a:pathLst>
          </a:custGeom>
          <a:ln w="38097">
            <a:solidFill>
              <a:srgbClr val="000000"/>
            </a:solidFill>
          </a:ln>
        </p:spPr>
        <p:txBody>
          <a:bodyPr wrap="square" lIns="0" tIns="0" rIns="0" bIns="0" rtlCol="0"/>
          <a:lstStyle/>
          <a:p>
            <a:endParaRPr/>
          </a:p>
        </p:txBody>
      </p:sp>
      <p:sp>
        <p:nvSpPr>
          <p:cNvPr id="9" name="object 9"/>
          <p:cNvSpPr/>
          <p:nvPr/>
        </p:nvSpPr>
        <p:spPr>
          <a:xfrm>
            <a:off x="2377439"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0" name="object 10"/>
          <p:cNvSpPr/>
          <p:nvPr/>
        </p:nvSpPr>
        <p:spPr>
          <a:xfrm>
            <a:off x="3291840"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1" name="object 11"/>
          <p:cNvSpPr/>
          <p:nvPr/>
        </p:nvSpPr>
        <p:spPr>
          <a:xfrm>
            <a:off x="3749040"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2" name="object 12"/>
          <p:cNvSpPr/>
          <p:nvPr/>
        </p:nvSpPr>
        <p:spPr>
          <a:xfrm>
            <a:off x="4663440" y="3112770"/>
            <a:ext cx="304800" cy="533400"/>
          </a:xfrm>
          <a:custGeom>
            <a:avLst/>
            <a:gdLst/>
            <a:ahLst/>
            <a:cxnLst/>
            <a:rect l="l" t="t" r="r" b="b"/>
            <a:pathLst>
              <a:path w="304800" h="533400">
                <a:moveTo>
                  <a:pt x="152400" y="533400"/>
                </a:moveTo>
                <a:lnTo>
                  <a:pt x="0" y="533400"/>
                </a:lnTo>
                <a:lnTo>
                  <a:pt x="0" y="0"/>
                </a:lnTo>
                <a:lnTo>
                  <a:pt x="304800" y="0"/>
                </a:lnTo>
                <a:lnTo>
                  <a:pt x="304800" y="533400"/>
                </a:lnTo>
                <a:lnTo>
                  <a:pt x="152400" y="533400"/>
                </a:lnTo>
                <a:close/>
              </a:path>
            </a:pathLst>
          </a:custGeom>
          <a:ln w="28393">
            <a:solidFill>
              <a:srgbClr val="000000"/>
            </a:solidFill>
          </a:ln>
        </p:spPr>
        <p:txBody>
          <a:bodyPr wrap="square" lIns="0" tIns="0" rIns="0" bIns="0" rtlCol="0"/>
          <a:lstStyle/>
          <a:p>
            <a:endParaRPr/>
          </a:p>
        </p:txBody>
      </p:sp>
      <p:sp>
        <p:nvSpPr>
          <p:cNvPr id="13" name="object 13"/>
          <p:cNvSpPr/>
          <p:nvPr/>
        </p:nvSpPr>
        <p:spPr>
          <a:xfrm>
            <a:off x="5501640"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4" name="object 14"/>
          <p:cNvSpPr/>
          <p:nvPr/>
        </p:nvSpPr>
        <p:spPr>
          <a:xfrm>
            <a:off x="6035040"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5" name="object 15"/>
          <p:cNvSpPr/>
          <p:nvPr/>
        </p:nvSpPr>
        <p:spPr>
          <a:xfrm>
            <a:off x="7160260" y="3112770"/>
            <a:ext cx="152400" cy="533400"/>
          </a:xfrm>
          <a:custGeom>
            <a:avLst/>
            <a:gdLst/>
            <a:ahLst/>
            <a:cxnLst/>
            <a:rect l="l" t="t" r="r" b="b"/>
            <a:pathLst>
              <a:path w="152400" h="533400">
                <a:moveTo>
                  <a:pt x="76200" y="533400"/>
                </a:moveTo>
                <a:lnTo>
                  <a:pt x="0" y="533400"/>
                </a:lnTo>
                <a:lnTo>
                  <a:pt x="0" y="0"/>
                </a:lnTo>
                <a:lnTo>
                  <a:pt x="152400" y="0"/>
                </a:lnTo>
                <a:lnTo>
                  <a:pt x="152400" y="533400"/>
                </a:lnTo>
                <a:lnTo>
                  <a:pt x="76200" y="533400"/>
                </a:lnTo>
                <a:close/>
              </a:path>
            </a:pathLst>
          </a:custGeom>
          <a:ln w="28393">
            <a:solidFill>
              <a:srgbClr val="000000"/>
            </a:solidFill>
          </a:ln>
        </p:spPr>
        <p:txBody>
          <a:bodyPr wrap="square" lIns="0" tIns="0" rIns="0" bIns="0" rtlCol="0"/>
          <a:lstStyle/>
          <a:p>
            <a:endParaRPr/>
          </a:p>
        </p:txBody>
      </p:sp>
      <p:sp>
        <p:nvSpPr>
          <p:cNvPr id="16" name="object 16"/>
          <p:cNvSpPr/>
          <p:nvPr/>
        </p:nvSpPr>
        <p:spPr>
          <a:xfrm>
            <a:off x="4511040" y="3950970"/>
            <a:ext cx="304800" cy="533400"/>
          </a:xfrm>
          <a:custGeom>
            <a:avLst/>
            <a:gdLst/>
            <a:ahLst/>
            <a:cxnLst/>
            <a:rect l="l" t="t" r="r" b="b"/>
            <a:pathLst>
              <a:path w="304800" h="533400">
                <a:moveTo>
                  <a:pt x="152400" y="533399"/>
                </a:moveTo>
                <a:lnTo>
                  <a:pt x="0" y="533399"/>
                </a:lnTo>
                <a:lnTo>
                  <a:pt x="0" y="0"/>
                </a:lnTo>
                <a:lnTo>
                  <a:pt x="304800" y="0"/>
                </a:lnTo>
                <a:lnTo>
                  <a:pt x="304800" y="533399"/>
                </a:lnTo>
                <a:lnTo>
                  <a:pt x="152400" y="533399"/>
                </a:lnTo>
                <a:close/>
              </a:path>
            </a:pathLst>
          </a:custGeom>
          <a:ln w="28393">
            <a:solidFill>
              <a:srgbClr val="000000"/>
            </a:solidFill>
          </a:ln>
        </p:spPr>
        <p:txBody>
          <a:bodyPr wrap="square" lIns="0" tIns="0" rIns="0" bIns="0" rtlCol="0"/>
          <a:lstStyle/>
          <a:p>
            <a:endParaRPr/>
          </a:p>
        </p:txBody>
      </p:sp>
      <p:sp>
        <p:nvSpPr>
          <p:cNvPr id="17" name="object 17"/>
          <p:cNvSpPr/>
          <p:nvPr/>
        </p:nvSpPr>
        <p:spPr>
          <a:xfrm>
            <a:off x="5730240" y="3950970"/>
            <a:ext cx="152400" cy="533400"/>
          </a:xfrm>
          <a:custGeom>
            <a:avLst/>
            <a:gdLst/>
            <a:ahLst/>
            <a:cxnLst/>
            <a:rect l="l" t="t" r="r" b="b"/>
            <a:pathLst>
              <a:path w="152400" h="533400">
                <a:moveTo>
                  <a:pt x="76200" y="533399"/>
                </a:moveTo>
                <a:lnTo>
                  <a:pt x="0" y="533399"/>
                </a:lnTo>
                <a:lnTo>
                  <a:pt x="0" y="0"/>
                </a:lnTo>
                <a:lnTo>
                  <a:pt x="152400" y="0"/>
                </a:lnTo>
                <a:lnTo>
                  <a:pt x="152400" y="533399"/>
                </a:lnTo>
                <a:lnTo>
                  <a:pt x="76200" y="533399"/>
                </a:lnTo>
                <a:close/>
              </a:path>
            </a:pathLst>
          </a:custGeom>
          <a:ln w="28393">
            <a:solidFill>
              <a:srgbClr val="000000"/>
            </a:solidFill>
          </a:ln>
        </p:spPr>
        <p:txBody>
          <a:bodyPr wrap="square" lIns="0" tIns="0" rIns="0" bIns="0" rtlCol="0"/>
          <a:lstStyle/>
          <a:p>
            <a:endParaRPr/>
          </a:p>
        </p:txBody>
      </p:sp>
      <p:sp>
        <p:nvSpPr>
          <p:cNvPr id="18" name="object 18"/>
          <p:cNvSpPr/>
          <p:nvPr/>
        </p:nvSpPr>
        <p:spPr>
          <a:xfrm>
            <a:off x="6187440" y="3950970"/>
            <a:ext cx="152400" cy="533400"/>
          </a:xfrm>
          <a:custGeom>
            <a:avLst/>
            <a:gdLst/>
            <a:ahLst/>
            <a:cxnLst/>
            <a:rect l="l" t="t" r="r" b="b"/>
            <a:pathLst>
              <a:path w="152400" h="533400">
                <a:moveTo>
                  <a:pt x="76200" y="533399"/>
                </a:moveTo>
                <a:lnTo>
                  <a:pt x="0" y="533399"/>
                </a:lnTo>
                <a:lnTo>
                  <a:pt x="0" y="0"/>
                </a:lnTo>
                <a:lnTo>
                  <a:pt x="152400" y="0"/>
                </a:lnTo>
                <a:lnTo>
                  <a:pt x="152400" y="533399"/>
                </a:lnTo>
                <a:lnTo>
                  <a:pt x="76200" y="533399"/>
                </a:lnTo>
                <a:close/>
              </a:path>
            </a:pathLst>
          </a:custGeom>
          <a:ln w="28393">
            <a:solidFill>
              <a:srgbClr val="000000"/>
            </a:solidFill>
          </a:ln>
        </p:spPr>
        <p:txBody>
          <a:bodyPr wrap="square" lIns="0" tIns="0" rIns="0" bIns="0" rtlCol="0"/>
          <a:lstStyle/>
          <a:p>
            <a:endParaRPr/>
          </a:p>
        </p:txBody>
      </p:sp>
      <p:sp>
        <p:nvSpPr>
          <p:cNvPr id="19" name="object 19"/>
          <p:cNvSpPr/>
          <p:nvPr/>
        </p:nvSpPr>
        <p:spPr>
          <a:xfrm>
            <a:off x="3139439" y="4789170"/>
            <a:ext cx="304800" cy="533400"/>
          </a:xfrm>
          <a:custGeom>
            <a:avLst/>
            <a:gdLst/>
            <a:ahLst/>
            <a:cxnLst/>
            <a:rect l="l" t="t" r="r" b="b"/>
            <a:pathLst>
              <a:path w="304800" h="533400">
                <a:moveTo>
                  <a:pt x="152400" y="533399"/>
                </a:moveTo>
                <a:lnTo>
                  <a:pt x="0" y="533399"/>
                </a:lnTo>
                <a:lnTo>
                  <a:pt x="0" y="0"/>
                </a:lnTo>
                <a:lnTo>
                  <a:pt x="304800" y="0"/>
                </a:lnTo>
                <a:lnTo>
                  <a:pt x="304800" y="533399"/>
                </a:lnTo>
                <a:lnTo>
                  <a:pt x="152400" y="533399"/>
                </a:lnTo>
                <a:close/>
              </a:path>
            </a:pathLst>
          </a:custGeom>
          <a:ln w="28393">
            <a:solidFill>
              <a:srgbClr val="000000"/>
            </a:solidFill>
          </a:ln>
        </p:spPr>
        <p:txBody>
          <a:bodyPr wrap="square" lIns="0" tIns="0" rIns="0" bIns="0" rtlCol="0"/>
          <a:lstStyle/>
          <a:p>
            <a:endParaRPr/>
          </a:p>
        </p:txBody>
      </p:sp>
      <p:sp>
        <p:nvSpPr>
          <p:cNvPr id="20" name="object 20"/>
          <p:cNvSpPr/>
          <p:nvPr/>
        </p:nvSpPr>
        <p:spPr>
          <a:xfrm>
            <a:off x="3977640" y="4789170"/>
            <a:ext cx="152400" cy="533400"/>
          </a:xfrm>
          <a:custGeom>
            <a:avLst/>
            <a:gdLst/>
            <a:ahLst/>
            <a:cxnLst/>
            <a:rect l="l" t="t" r="r" b="b"/>
            <a:pathLst>
              <a:path w="152400" h="533400">
                <a:moveTo>
                  <a:pt x="76200" y="533399"/>
                </a:moveTo>
                <a:lnTo>
                  <a:pt x="0" y="533399"/>
                </a:lnTo>
                <a:lnTo>
                  <a:pt x="0" y="0"/>
                </a:lnTo>
                <a:lnTo>
                  <a:pt x="152400" y="0"/>
                </a:lnTo>
                <a:lnTo>
                  <a:pt x="152400" y="533399"/>
                </a:lnTo>
                <a:lnTo>
                  <a:pt x="76200" y="533399"/>
                </a:lnTo>
                <a:close/>
              </a:path>
            </a:pathLst>
          </a:custGeom>
          <a:ln w="28393">
            <a:solidFill>
              <a:srgbClr val="000000"/>
            </a:solidFill>
          </a:ln>
        </p:spPr>
        <p:txBody>
          <a:bodyPr wrap="square" lIns="0" tIns="0" rIns="0" bIns="0" rtlCol="0"/>
          <a:lstStyle/>
          <a:p>
            <a:endParaRPr/>
          </a:p>
        </p:txBody>
      </p:sp>
      <p:sp>
        <p:nvSpPr>
          <p:cNvPr id="21" name="object 21"/>
          <p:cNvSpPr/>
          <p:nvPr/>
        </p:nvSpPr>
        <p:spPr>
          <a:xfrm>
            <a:off x="4358640" y="4789170"/>
            <a:ext cx="152400" cy="533400"/>
          </a:xfrm>
          <a:custGeom>
            <a:avLst/>
            <a:gdLst/>
            <a:ahLst/>
            <a:cxnLst/>
            <a:rect l="l" t="t" r="r" b="b"/>
            <a:pathLst>
              <a:path w="152400" h="533400">
                <a:moveTo>
                  <a:pt x="76200" y="533399"/>
                </a:moveTo>
                <a:lnTo>
                  <a:pt x="0" y="533399"/>
                </a:lnTo>
                <a:lnTo>
                  <a:pt x="0" y="0"/>
                </a:lnTo>
                <a:lnTo>
                  <a:pt x="152400" y="0"/>
                </a:lnTo>
                <a:lnTo>
                  <a:pt x="152400" y="533399"/>
                </a:lnTo>
                <a:lnTo>
                  <a:pt x="76200" y="533399"/>
                </a:lnTo>
                <a:close/>
              </a:path>
            </a:pathLst>
          </a:custGeom>
          <a:ln w="28393">
            <a:solidFill>
              <a:srgbClr val="000000"/>
            </a:solidFill>
          </a:ln>
        </p:spPr>
        <p:txBody>
          <a:bodyPr wrap="square" lIns="0" tIns="0" rIns="0" bIns="0" rtlCol="0"/>
          <a:lstStyle/>
          <a:p>
            <a:endParaRPr/>
          </a:p>
        </p:txBody>
      </p:sp>
      <p:sp>
        <p:nvSpPr>
          <p:cNvPr id="22" name="object 22"/>
          <p:cNvSpPr/>
          <p:nvPr/>
        </p:nvSpPr>
        <p:spPr>
          <a:xfrm>
            <a:off x="2758439" y="3950970"/>
            <a:ext cx="304800" cy="533400"/>
          </a:xfrm>
          <a:custGeom>
            <a:avLst/>
            <a:gdLst/>
            <a:ahLst/>
            <a:cxnLst/>
            <a:rect l="l" t="t" r="r" b="b"/>
            <a:pathLst>
              <a:path w="304800" h="533400">
                <a:moveTo>
                  <a:pt x="152400" y="533399"/>
                </a:moveTo>
                <a:lnTo>
                  <a:pt x="0" y="533399"/>
                </a:lnTo>
                <a:lnTo>
                  <a:pt x="0" y="0"/>
                </a:lnTo>
                <a:lnTo>
                  <a:pt x="304800" y="0"/>
                </a:lnTo>
                <a:lnTo>
                  <a:pt x="304800" y="533399"/>
                </a:lnTo>
                <a:lnTo>
                  <a:pt x="152400" y="533399"/>
                </a:lnTo>
                <a:close/>
              </a:path>
            </a:pathLst>
          </a:custGeom>
          <a:ln w="28393">
            <a:solidFill>
              <a:srgbClr val="000000"/>
            </a:solidFill>
          </a:ln>
        </p:spPr>
        <p:txBody>
          <a:bodyPr wrap="square" lIns="0" tIns="0" rIns="0" bIns="0" rtlCol="0"/>
          <a:lstStyle/>
          <a:p>
            <a:endParaRPr/>
          </a:p>
        </p:txBody>
      </p:sp>
      <p:sp>
        <p:nvSpPr>
          <p:cNvPr id="23" name="object 23"/>
          <p:cNvSpPr txBox="1"/>
          <p:nvPr/>
        </p:nvSpPr>
        <p:spPr>
          <a:xfrm>
            <a:off x="1992629" y="3888740"/>
            <a:ext cx="5622290" cy="2145030"/>
          </a:xfrm>
          <a:prstGeom prst="rect">
            <a:avLst/>
          </a:prstGeom>
        </p:spPr>
        <p:txBody>
          <a:bodyPr vert="horz" wrap="square" lIns="0" tIns="12700" rIns="0" bIns="0" rtlCol="0">
            <a:spAutoFit/>
          </a:bodyPr>
          <a:lstStyle/>
          <a:p>
            <a:pPr marL="78105" marR="48895">
              <a:lnSpc>
                <a:spcPct val="100000"/>
              </a:lnSpc>
              <a:spcBef>
                <a:spcPts val="100"/>
              </a:spcBef>
              <a:tabLst>
                <a:tab pos="3095625" algn="l"/>
              </a:tabLst>
            </a:pPr>
            <a:r>
              <a:rPr sz="1800" spc="-5" dirty="0">
                <a:solidFill>
                  <a:srgbClr val="191919"/>
                </a:solidFill>
                <a:latin typeface="Courier New" panose="02070309020205020404"/>
                <a:cs typeface="Courier New" panose="02070309020205020404"/>
              </a:rPr>
              <a:t>DVQAVCSQKNVACKNGQTNCYQSYSTMSITDCRETGSSKY </a:t>
            </a:r>
            <a:r>
              <a:rPr sz="1800" spc="-1070" dirty="0">
                <a:solidFill>
                  <a:srgbClr val="191919"/>
                </a:solidFill>
                <a:latin typeface="Courier New" panose="02070309020205020404"/>
                <a:cs typeface="Courier New" panose="02070309020205020404"/>
              </a:rPr>
              <a:t> </a:t>
            </a:r>
            <a:r>
              <a:rPr sz="1800" spc="-5" dirty="0">
                <a:solidFill>
                  <a:srgbClr val="191919"/>
                </a:solidFill>
                <a:latin typeface="Courier New" panose="02070309020205020404"/>
                <a:cs typeface="Courier New" panose="02070309020205020404"/>
              </a:rPr>
              <a:t>LCNIPCSALLSSDITASVN</a:t>
            </a:r>
            <a:r>
              <a:rPr sz="1800" dirty="0">
                <a:solidFill>
                  <a:srgbClr val="191919"/>
                </a:solidFill>
                <a:latin typeface="Courier New" panose="02070309020205020404"/>
                <a:cs typeface="Courier New" panose="02070309020205020404"/>
              </a:rPr>
              <a:t>C	</a:t>
            </a:r>
            <a:r>
              <a:rPr sz="1800" spc="-5" dirty="0">
                <a:solidFill>
                  <a:srgbClr val="191919"/>
                </a:solidFill>
                <a:latin typeface="Courier New" panose="02070309020205020404"/>
                <a:cs typeface="Courier New" panose="02070309020205020404"/>
              </a:rPr>
              <a:t>AKKIVSDGDGMNAWVAWR</a:t>
            </a:r>
            <a:endParaRPr sz="1800" dirty="0">
              <a:latin typeface="Courier New" panose="02070309020205020404"/>
              <a:cs typeface="Courier New" panose="02070309020205020404"/>
            </a:endParaRPr>
          </a:p>
          <a:p>
            <a:pPr>
              <a:lnSpc>
                <a:spcPct val="100000"/>
              </a:lnSpc>
              <a:spcBef>
                <a:spcPts val="5"/>
              </a:spcBef>
            </a:pPr>
            <a:endParaRPr sz="1900" dirty="0">
              <a:latin typeface="Courier New" panose="02070309020205020404"/>
              <a:cs typeface="Courier New" panose="02070309020205020404"/>
            </a:endParaRPr>
          </a:p>
          <a:p>
            <a:pPr marL="78105" marR="1283335">
              <a:lnSpc>
                <a:spcPct val="100000"/>
              </a:lnSpc>
              <a:tabLst>
                <a:tab pos="1861185" algn="l"/>
              </a:tabLst>
            </a:pPr>
            <a:r>
              <a:rPr sz="1800" spc="-5" dirty="0">
                <a:solidFill>
                  <a:srgbClr val="191919"/>
                </a:solidFill>
                <a:latin typeface="Courier New" panose="02070309020205020404"/>
                <a:cs typeface="Courier New" panose="02070309020205020404"/>
              </a:rPr>
              <a:t>PNACYKTTQANKHIIVACEGNPYVPHFDASV </a:t>
            </a:r>
            <a:r>
              <a:rPr sz="1800" spc="-1070" dirty="0">
                <a:solidFill>
                  <a:srgbClr val="191919"/>
                </a:solidFill>
                <a:latin typeface="Courier New" panose="02070309020205020404"/>
                <a:cs typeface="Courier New" panose="02070309020205020404"/>
              </a:rPr>
              <a:t> </a:t>
            </a:r>
            <a:r>
              <a:rPr sz="1800" spc="-5" dirty="0">
                <a:solidFill>
                  <a:srgbClr val="191919"/>
                </a:solidFill>
                <a:latin typeface="Courier New" panose="02070309020205020404"/>
                <a:cs typeface="Courier New" panose="02070309020205020404"/>
              </a:rPr>
              <a:t>NRCKGTDVQA	WIRGCRL</a:t>
            </a:r>
            <a:endParaRPr sz="1800" dirty="0">
              <a:latin typeface="Courier New" panose="02070309020205020404"/>
              <a:cs typeface="Courier New" panose="02070309020205020404"/>
            </a:endParaRPr>
          </a:p>
          <a:p>
            <a:pPr>
              <a:lnSpc>
                <a:spcPct val="100000"/>
              </a:lnSpc>
              <a:spcBef>
                <a:spcPts val="10"/>
              </a:spcBef>
            </a:pPr>
            <a:endParaRPr sz="1800" dirty="0">
              <a:latin typeface="Courier New" panose="02070309020205020404"/>
              <a:cs typeface="Courier New" panose="02070309020205020404"/>
            </a:endParaRPr>
          </a:p>
          <a:p>
            <a:pPr marL="12700">
              <a:lnSpc>
                <a:spcPct val="100000"/>
              </a:lnSpc>
            </a:pPr>
            <a:r>
              <a:rPr sz="3200" b="1" spc="-5" dirty="0">
                <a:solidFill>
                  <a:srgbClr val="3333CC"/>
                </a:solidFill>
                <a:latin typeface="Arial" panose="020B0604020202020204"/>
                <a:cs typeface="Arial" panose="020B0604020202020204"/>
              </a:rPr>
              <a:t>is</a:t>
            </a:r>
            <a:r>
              <a:rPr sz="3200" b="1" spc="-25" dirty="0">
                <a:solidFill>
                  <a:srgbClr val="3333CC"/>
                </a:solidFill>
                <a:latin typeface="Arial" panose="020B0604020202020204"/>
                <a:cs typeface="Arial" panose="020B0604020202020204"/>
              </a:rPr>
              <a:t> </a:t>
            </a:r>
            <a:r>
              <a:rPr sz="3200" b="1" spc="-5" dirty="0">
                <a:solidFill>
                  <a:srgbClr val="3333CC"/>
                </a:solidFill>
                <a:latin typeface="Arial" panose="020B0604020202020204"/>
                <a:cs typeface="Arial" panose="020B0604020202020204"/>
              </a:rPr>
              <a:t>this</a:t>
            </a:r>
            <a:r>
              <a:rPr sz="3200" b="1" spc="-10" dirty="0">
                <a:solidFill>
                  <a:srgbClr val="3333CC"/>
                </a:solidFill>
                <a:latin typeface="Arial" panose="020B0604020202020204"/>
                <a:cs typeface="Arial" panose="020B0604020202020204"/>
              </a:rPr>
              <a:t> </a:t>
            </a:r>
            <a:r>
              <a:rPr sz="3200" b="1" spc="-5" dirty="0">
                <a:solidFill>
                  <a:srgbClr val="3333CC"/>
                </a:solidFill>
                <a:latin typeface="Arial" panose="020B0604020202020204"/>
                <a:cs typeface="Arial" panose="020B0604020202020204"/>
              </a:rPr>
              <a:t>alignment</a:t>
            </a:r>
            <a:r>
              <a:rPr sz="3200" b="1" spc="-20" dirty="0">
                <a:solidFill>
                  <a:srgbClr val="3333CC"/>
                </a:solidFill>
                <a:latin typeface="Arial" panose="020B0604020202020204"/>
                <a:cs typeface="Arial" panose="020B0604020202020204"/>
              </a:rPr>
              <a:t> </a:t>
            </a:r>
            <a:r>
              <a:rPr sz="3200" b="1" spc="-5" dirty="0">
                <a:solidFill>
                  <a:srgbClr val="3333CC"/>
                </a:solidFill>
                <a:latin typeface="Arial" panose="020B0604020202020204"/>
                <a:cs typeface="Arial" panose="020B0604020202020204"/>
              </a:rPr>
              <a:t>significant?</a:t>
            </a:r>
            <a:endParaRPr sz="3200" dirty="0">
              <a:latin typeface="Arial" panose="020B0604020202020204"/>
              <a:cs typeface="Arial" panose="020B0604020202020204"/>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87041"/>
          <p:cNvSpPr txBox="1"/>
          <p:nvPr/>
        </p:nvSpPr>
        <p:spPr>
          <a:xfrm>
            <a:off x="5629628" y="4785783"/>
            <a:ext cx="3946172" cy="1416685"/>
          </a:xfrm>
          <a:prstGeom prst="rect">
            <a:avLst/>
          </a:prstGeom>
          <a:noFill/>
          <a:ln w="9525">
            <a:noFill/>
          </a:ln>
        </p:spPr>
        <p:txBody>
          <a:bodyPr>
            <a:spAutoFit/>
          </a:bodyPr>
          <a:lstStyle/>
          <a:p>
            <a:pPr defTabSz="0">
              <a:lnSpc>
                <a:spcPct val="130000"/>
              </a:lnSpc>
              <a:tabLst>
                <a:tab pos="1625600" algn="r"/>
                <a:tab pos="1816100" algn="ctr"/>
                <a:tab pos="2387600" algn="r"/>
                <a:tab pos="2578100" algn="ctr"/>
                <a:tab pos="3149600" algn="r"/>
              </a:tabLst>
            </a:pPr>
            <a:r>
              <a:rPr lang="en-US" altLang="x-none" sz="2205">
                <a:latin typeface="Arial" panose="020B0604020202020204" pitchFamily="34" charset="0"/>
              </a:rPr>
              <a:t>Match: 	5 	x 	1	=	5 </a:t>
            </a:r>
          </a:p>
          <a:p>
            <a:pPr defTabSz="0">
              <a:lnSpc>
                <a:spcPct val="130000"/>
              </a:lnSpc>
              <a:tabLst>
                <a:tab pos="1625600" algn="r"/>
                <a:tab pos="1816100" algn="ctr"/>
                <a:tab pos="2387600" algn="r"/>
                <a:tab pos="2578100" algn="ctr"/>
                <a:tab pos="3149600" algn="r"/>
              </a:tabLst>
            </a:pPr>
            <a:r>
              <a:rPr lang="en-US" altLang="x-none" sz="2205">
                <a:latin typeface="Arial" panose="020B0604020202020204" pitchFamily="34" charset="0"/>
              </a:rPr>
              <a:t>Mismatch:	19	x	0	=	0 </a:t>
            </a:r>
          </a:p>
          <a:p>
            <a:pPr defTabSz="0">
              <a:lnSpc>
                <a:spcPct val="130000"/>
              </a:lnSpc>
              <a:tabLst>
                <a:tab pos="1625600" algn="r"/>
                <a:tab pos="1816100" algn="ctr"/>
                <a:tab pos="2387600" algn="r"/>
                <a:tab pos="2578100" algn="ctr"/>
                <a:tab pos="3149600" algn="r"/>
              </a:tabLst>
            </a:pPr>
            <a:r>
              <a:rPr lang="en-US" altLang="x-none" sz="2205">
                <a:latin typeface="Arial" panose="020B0604020202020204" pitchFamily="34" charset="0"/>
              </a:rPr>
              <a:t>Score:  				       5</a:t>
            </a:r>
          </a:p>
        </p:txBody>
      </p:sp>
      <p:sp>
        <p:nvSpPr>
          <p:cNvPr id="87043" name="Text Box 87042"/>
          <p:cNvSpPr txBox="1"/>
          <p:nvPr/>
        </p:nvSpPr>
        <p:spPr>
          <a:xfrm>
            <a:off x="1431572" y="3778250"/>
            <a:ext cx="3778250" cy="2466975"/>
          </a:xfrm>
          <a:prstGeom prst="rect">
            <a:avLst/>
          </a:prstGeom>
          <a:noFill/>
          <a:ln w="9525">
            <a:noFill/>
          </a:ln>
        </p:spPr>
        <p:txBody>
          <a:bodyPr>
            <a:spAutoFit/>
          </a:bodyPr>
          <a:lstStyle/>
          <a:p>
            <a:r>
              <a:rPr lang="en-US" altLang="x-none" sz="3085">
                <a:latin typeface="Courier New" panose="02070309020205020404" pitchFamily="49" charset="0"/>
              </a:rPr>
              <a:t>   A  C  G  T </a:t>
            </a:r>
          </a:p>
          <a:p>
            <a:r>
              <a:rPr lang="en-US" altLang="x-none" sz="3085">
                <a:latin typeface="Courier New" panose="02070309020205020404" pitchFamily="49" charset="0"/>
              </a:rPr>
              <a:t>A  </a:t>
            </a:r>
            <a:r>
              <a:rPr lang="en-US" altLang="x-none" sz="3085" b="1">
                <a:latin typeface="Courier New" panose="02070309020205020404" pitchFamily="49" charset="0"/>
              </a:rPr>
              <a:t>1</a:t>
            </a:r>
            <a:r>
              <a:rPr lang="en-US" altLang="x-none" sz="3085">
                <a:latin typeface="Courier New" panose="02070309020205020404" pitchFamily="49" charset="0"/>
              </a:rPr>
              <a:t>  0  0  0 </a:t>
            </a:r>
          </a:p>
          <a:p>
            <a:r>
              <a:rPr lang="en-US" altLang="x-none" sz="3085">
                <a:latin typeface="Courier New" panose="02070309020205020404" pitchFamily="49" charset="0"/>
              </a:rPr>
              <a:t>C  0  </a:t>
            </a:r>
            <a:r>
              <a:rPr lang="en-US" altLang="x-none" sz="3085" b="1">
                <a:latin typeface="Courier New" panose="02070309020205020404" pitchFamily="49" charset="0"/>
              </a:rPr>
              <a:t>1</a:t>
            </a:r>
            <a:r>
              <a:rPr lang="en-US" altLang="x-none" sz="3085">
                <a:latin typeface="Courier New" panose="02070309020205020404" pitchFamily="49" charset="0"/>
              </a:rPr>
              <a:t>  0  0 </a:t>
            </a:r>
          </a:p>
          <a:p>
            <a:r>
              <a:rPr lang="en-US" altLang="x-none" sz="3085">
                <a:latin typeface="Courier New" panose="02070309020205020404" pitchFamily="49" charset="0"/>
              </a:rPr>
              <a:t>G  0  0  </a:t>
            </a:r>
            <a:r>
              <a:rPr lang="en-US" altLang="x-none" sz="3085" b="1">
                <a:latin typeface="Courier New" panose="02070309020205020404" pitchFamily="49" charset="0"/>
              </a:rPr>
              <a:t>1</a:t>
            </a:r>
            <a:r>
              <a:rPr lang="en-US" altLang="x-none" sz="3085">
                <a:latin typeface="Courier New" panose="02070309020205020404" pitchFamily="49" charset="0"/>
              </a:rPr>
              <a:t>  0 </a:t>
            </a:r>
          </a:p>
          <a:p>
            <a:r>
              <a:rPr lang="en-US" altLang="x-none" sz="3085">
                <a:latin typeface="Courier New" panose="02070309020205020404" pitchFamily="49" charset="0"/>
              </a:rPr>
              <a:t>T  0  0  0  </a:t>
            </a:r>
            <a:r>
              <a:rPr lang="en-US" altLang="x-none" sz="3085" b="1">
                <a:latin typeface="Courier New" panose="02070309020205020404" pitchFamily="49" charset="0"/>
              </a:rPr>
              <a:t>1</a:t>
            </a:r>
            <a:r>
              <a:rPr lang="en-US" altLang="x-none" sz="3085">
                <a:latin typeface="Courier New" panose="02070309020205020404" pitchFamily="49" charset="0"/>
              </a:rPr>
              <a:t> </a:t>
            </a:r>
          </a:p>
        </p:txBody>
      </p:sp>
      <p:sp>
        <p:nvSpPr>
          <p:cNvPr id="87044" name="Straight Connector 87043"/>
          <p:cNvSpPr/>
          <p:nvPr/>
        </p:nvSpPr>
        <p:spPr>
          <a:xfrm>
            <a:off x="1893358" y="3946172"/>
            <a:ext cx="0" cy="2266950"/>
          </a:xfrm>
          <a:prstGeom prst="line">
            <a:avLst/>
          </a:prstGeom>
          <a:ln w="9525" cap="flat" cmpd="sng">
            <a:solidFill>
              <a:schemeClr val="tx1"/>
            </a:solidFill>
            <a:prstDash val="solid"/>
            <a:headEnd type="none" w="med" len="med"/>
            <a:tailEnd type="none" w="med" len="med"/>
          </a:ln>
        </p:spPr>
      </p:sp>
      <p:sp>
        <p:nvSpPr>
          <p:cNvPr id="87045" name="Straight Connector 87044"/>
          <p:cNvSpPr/>
          <p:nvPr/>
        </p:nvSpPr>
        <p:spPr>
          <a:xfrm>
            <a:off x="1515533" y="4282017"/>
            <a:ext cx="3106561" cy="0"/>
          </a:xfrm>
          <a:prstGeom prst="line">
            <a:avLst/>
          </a:prstGeom>
          <a:ln w="9525" cap="flat" cmpd="sng">
            <a:solidFill>
              <a:schemeClr val="tx1"/>
            </a:solidFill>
            <a:prstDash val="solid"/>
            <a:headEnd type="none" w="med" len="med"/>
            <a:tailEnd type="none" w="med" len="med"/>
          </a:ln>
        </p:spPr>
      </p:sp>
      <p:sp>
        <p:nvSpPr>
          <p:cNvPr id="87046" name="Text Box 87045"/>
          <p:cNvSpPr txBox="1"/>
          <p:nvPr/>
        </p:nvSpPr>
        <p:spPr>
          <a:xfrm>
            <a:off x="574469" y="2099028"/>
            <a:ext cx="8933180" cy="804545"/>
          </a:xfrm>
          <a:prstGeom prst="rect">
            <a:avLst/>
          </a:prstGeom>
          <a:noFill/>
          <a:ln w="9525">
            <a:noFill/>
          </a:ln>
        </p:spPr>
        <p:txBody>
          <a:bodyPr wrap="none" anchor="t">
            <a:spAutoFit/>
          </a:bodyPr>
          <a:lstStyle/>
          <a:p>
            <a:pPr>
              <a:lnSpc>
                <a:spcPct val="70000"/>
              </a:lnSpc>
            </a:pPr>
            <a:r>
              <a:rPr lang="en-US" altLang="x-none" sz="2205">
                <a:latin typeface="Courier New" panose="02070309020205020404" pitchFamily="49" charset="0"/>
              </a:rPr>
              <a:t>Sequence 1  ACTACCAGTTCATTTGATACTTCTCAAA</a:t>
            </a:r>
          </a:p>
          <a:p>
            <a:pPr>
              <a:lnSpc>
                <a:spcPct val="70000"/>
              </a:lnSpc>
            </a:pPr>
            <a:r>
              <a:rPr lang="en-US" altLang="x-none" sz="2205">
                <a:latin typeface="Courier New" panose="02070309020205020404" pitchFamily="49" charset="0"/>
              </a:rPr>
              <a:t>                     | |     |       ||</a:t>
            </a:r>
          </a:p>
          <a:p>
            <a:pPr>
              <a:lnSpc>
                <a:spcPct val="70000"/>
              </a:lnSpc>
            </a:pPr>
            <a:r>
              <a:rPr lang="en-US" altLang="x-none" sz="2205">
                <a:latin typeface="Courier New" panose="02070309020205020404" pitchFamily="49" charset="0"/>
              </a:rPr>
              <a:t>Sequence 2      TACCATTACCGTGTTAACTGAAAGGACTTAAAGACT</a:t>
            </a:r>
          </a:p>
        </p:txBody>
      </p:sp>
      <p:sp>
        <p:nvSpPr>
          <p:cNvPr id="87047" name="Rectangle 87046"/>
          <p:cNvSpPr/>
          <p:nvPr/>
        </p:nvSpPr>
        <p:spPr>
          <a:xfrm>
            <a:off x="759883" y="671689"/>
            <a:ext cx="8564033" cy="671689"/>
          </a:xfrm>
          <a:prstGeom prst="rect">
            <a:avLst/>
          </a:prstGeom>
          <a:noFill/>
          <a:ln w="9525">
            <a:noFill/>
          </a:ln>
        </p:spPr>
        <p:txBody>
          <a:bodyPr anchor="ctr"/>
          <a:lstStyle/>
          <a:p>
            <a:pPr algn="ctr"/>
            <a:r>
              <a:rPr lang="en-US" altLang="x-none" sz="4000">
                <a:solidFill>
                  <a:srgbClr val="000066"/>
                </a:solidFill>
                <a:latin typeface="Arial" panose="020B0604020202020204" pitchFamily="34" charset="0"/>
              </a:rPr>
              <a:t>DNA scoring systems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6865"/>
          <p:cNvSpPr>
            <a:spLocks noGrp="1"/>
          </p:cNvSpPr>
          <p:nvPr>
            <p:ph type="ctrTitle"/>
          </p:nvPr>
        </p:nvSpPr>
        <p:spPr>
          <a:xfrm>
            <a:off x="759883" y="316265"/>
            <a:ext cx="8564033" cy="542925"/>
          </a:xfrm>
        </p:spPr>
        <p:txBody>
          <a:bodyPr anchor="ctr"/>
          <a:lstStyle/>
          <a:p>
            <a:pPr defTabSz="914400">
              <a:buSzPct val="100000"/>
            </a:pPr>
            <a:r>
              <a:rPr lang="en-US" altLang="x-none" sz="3525" b="1" u="sng" kern="1200" baseline="0">
                <a:latin typeface="Times New Roman" panose="02020603050405020304" charset="0"/>
              </a:rPr>
              <a:t>The Scoring Schemes or Weight Matrices</a:t>
            </a:r>
            <a:endParaRPr sz="3525" b="1" u="sng" kern="1200" baseline="0">
              <a:latin typeface="Times New Roman" panose="02020603050405020304" charset="0"/>
            </a:endParaRPr>
          </a:p>
        </p:txBody>
      </p:sp>
      <p:sp>
        <p:nvSpPr>
          <p:cNvPr id="36867" name="Subtitle 36866"/>
          <p:cNvSpPr>
            <a:spLocks noGrp="1"/>
          </p:cNvSpPr>
          <p:nvPr>
            <p:ph type="subTitle" idx="1"/>
          </p:nvPr>
        </p:nvSpPr>
        <p:spPr>
          <a:xfrm>
            <a:off x="675922" y="1259417"/>
            <a:ext cx="9151761" cy="3188970"/>
          </a:xfrm>
        </p:spPr>
        <p:txBody>
          <a:bodyPr/>
          <a:lstStyle/>
          <a:p>
            <a:pPr algn="l" defTabSz="914400">
              <a:buSzPct val="100000"/>
            </a:pPr>
            <a:r>
              <a:rPr lang="en-US" altLang="x-none" sz="3965" kern="1200" baseline="0">
                <a:latin typeface="Times New Roman" panose="02020603050405020304" charset="0"/>
              </a:rPr>
              <a:t> </a:t>
            </a:r>
            <a:r>
              <a:rPr lang="en-US" altLang="x-none" sz="3525" b="1" kern="1200" baseline="0">
                <a:latin typeface="Times New Roman" panose="02020603050405020304" charset="0"/>
              </a:rPr>
              <a:t>Genetic Code Scoring</a:t>
            </a:r>
          </a:p>
          <a:p>
            <a:pPr marL="457200" lvl="1" algn="l">
              <a:buClr>
                <a:schemeClr val="tx1"/>
              </a:buClr>
              <a:buFont typeface="Wingdings" panose="05000000000000000000" pitchFamily="2" charset="2"/>
              <a:buChar char="Ø"/>
            </a:pPr>
            <a:r>
              <a:rPr lang="en-US" altLang="x-none" sz="3085" kern="1200"/>
              <a:t>Fitch 1966 based on Nucleotide Base change required (0,1,2,3)</a:t>
            </a:r>
          </a:p>
          <a:p>
            <a:pPr marL="457200" lvl="1" algn="l">
              <a:buClr>
                <a:schemeClr val="tx1"/>
              </a:buClr>
              <a:buFont typeface="Wingdings" panose="05000000000000000000" pitchFamily="2" charset="2"/>
              <a:buChar char="Ø"/>
            </a:pPr>
            <a:r>
              <a:rPr lang="en-US" altLang="x-none" sz="3085" kern="1200"/>
              <a:t>Required to interconvert the </a:t>
            </a:r>
            <a:r>
              <a:rPr lang="en-US" altLang="x-none" sz="3085" kern="1200" err="1"/>
              <a:t>codons</a:t>
            </a:r>
            <a:r>
              <a:rPr lang="en-US" altLang="x-none" sz="3085" kern="1200"/>
              <a:t> for the two amino acids</a:t>
            </a:r>
            <a:r>
              <a:rPr lang="en-US" altLang="x-none" sz="4405" kern="1200"/>
              <a:t> </a:t>
            </a:r>
          </a:p>
          <a:p>
            <a:pPr marL="457200" lvl="1" algn="l">
              <a:buClr>
                <a:schemeClr val="tx1"/>
              </a:buClr>
              <a:buFont typeface="Wingdings" panose="05000000000000000000" pitchFamily="2" charset="2"/>
              <a:buChar char="Ø"/>
            </a:pPr>
            <a:r>
              <a:rPr lang="en-US" altLang="x-none" sz="3085" kern="1200"/>
              <a:t>Rarely used nowadays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89089"/>
          <p:cNvPicPr>
            <a:picLocks noChangeAspect="1"/>
          </p:cNvPicPr>
          <p:nvPr/>
        </p:nvPicPr>
        <p:blipFill>
          <a:blip r:embed="rId2"/>
          <a:srcRect l="4642" t="36607" r="3188"/>
          <a:stretch>
            <a:fillRect/>
          </a:stretch>
        </p:blipFill>
        <p:spPr>
          <a:xfrm>
            <a:off x="4233" y="2756723"/>
            <a:ext cx="10075333" cy="4798028"/>
          </a:xfrm>
          <a:prstGeom prst="rect">
            <a:avLst/>
          </a:prstGeom>
          <a:noFill/>
          <a:ln w="9525">
            <a:noFill/>
          </a:ln>
        </p:spPr>
      </p:pic>
      <p:sp>
        <p:nvSpPr>
          <p:cNvPr id="89091" name="Text Box 89090"/>
          <p:cNvSpPr txBox="1"/>
          <p:nvPr/>
        </p:nvSpPr>
        <p:spPr>
          <a:xfrm>
            <a:off x="308111" y="532347"/>
            <a:ext cx="9504526" cy="508601"/>
          </a:xfrm>
          <a:prstGeom prst="rect">
            <a:avLst/>
          </a:prstGeom>
          <a:solidFill>
            <a:schemeClr val="bg1"/>
          </a:solidFill>
          <a:ln w="9525">
            <a:noFill/>
          </a:ln>
        </p:spPr>
        <p:txBody>
          <a:bodyPr wrap="none" anchor="t">
            <a:spAutoFit/>
          </a:bodyPr>
          <a:lstStyle/>
          <a:p>
            <a:pPr algn="ctr">
              <a:lnSpc>
                <a:spcPct val="125000"/>
              </a:lnSpc>
            </a:pPr>
            <a:r>
              <a:rPr lang="en-US" altLang="x-none" sz="2400" dirty="0">
                <a:latin typeface="Arial" panose="020B0604020202020204" pitchFamily="34" charset="0"/>
              </a:rPr>
              <a:t>Complication: </a:t>
            </a:r>
            <a:r>
              <a:rPr lang="en-US" altLang="x-none" sz="2400" b="1" dirty="0">
                <a:latin typeface="Arial" panose="020B0604020202020204" pitchFamily="34" charset="0"/>
              </a:rPr>
              <a:t>„inexact“ is not binary (1|0) but something </a:t>
            </a:r>
            <a:r>
              <a:rPr lang="en-US" altLang="x-none" sz="2400" b="1" i="1" dirty="0">
                <a:latin typeface="Arial" panose="020B0604020202020204" pitchFamily="34" charset="0"/>
              </a:rPr>
              <a:t>relative</a:t>
            </a:r>
          </a:p>
        </p:txBody>
      </p:sp>
      <p:sp>
        <p:nvSpPr>
          <p:cNvPr id="89092" name="Text Box 89091"/>
          <p:cNvSpPr txBox="1"/>
          <p:nvPr/>
        </p:nvSpPr>
        <p:spPr>
          <a:xfrm>
            <a:off x="256117" y="1343378"/>
            <a:ext cx="9571567" cy="856615"/>
          </a:xfrm>
          <a:prstGeom prst="rect">
            <a:avLst/>
          </a:prstGeom>
          <a:noFill/>
          <a:ln w="9525">
            <a:noFill/>
          </a:ln>
        </p:spPr>
        <p:txBody>
          <a:bodyPr>
            <a:spAutoFit/>
          </a:bodyPr>
          <a:lstStyle/>
          <a:p>
            <a:pPr algn="ctr">
              <a:lnSpc>
                <a:spcPct val="125000"/>
              </a:lnSpc>
            </a:pPr>
            <a:r>
              <a:rPr lang="en-US" altLang="x-none" sz="1985" dirty="0">
                <a:latin typeface="Arial" panose="020B0604020202020204" pitchFamily="34" charset="0"/>
              </a:rPr>
              <a:t>Amino acids have different physical and biochemical properties that are/are not important for function and thus influence their probability to be replaced in evolution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46433"/>
          <p:cNvSpPr>
            <a:spLocks noGrp="1"/>
          </p:cNvSpPr>
          <p:nvPr>
            <p:ph type="ctrTitle"/>
          </p:nvPr>
        </p:nvSpPr>
        <p:spPr>
          <a:xfrm>
            <a:off x="759883" y="316265"/>
            <a:ext cx="8564033" cy="542925"/>
          </a:xfrm>
        </p:spPr>
        <p:txBody>
          <a:bodyPr anchor="ctr"/>
          <a:lstStyle/>
          <a:p>
            <a:pPr defTabSz="914400">
              <a:buSzPct val="100000"/>
            </a:pPr>
            <a:r>
              <a:rPr lang="en-US" altLang="x-none" sz="3525" u="sng" kern="1200" baseline="0">
                <a:latin typeface="Times New Roman" panose="02020603050405020304" charset="0"/>
              </a:rPr>
              <a:t>The Scoring Schemes or Weight Matrices</a:t>
            </a:r>
            <a:endParaRPr sz="3525" u="sng" kern="1200" baseline="0">
              <a:latin typeface="Times New Roman" panose="02020603050405020304" charset="0"/>
            </a:endParaRPr>
          </a:p>
        </p:txBody>
      </p:sp>
      <p:sp>
        <p:nvSpPr>
          <p:cNvPr id="146435" name="Subtitle 146434"/>
          <p:cNvSpPr>
            <a:spLocks noGrp="1"/>
          </p:cNvSpPr>
          <p:nvPr>
            <p:ph type="subTitle" idx="1"/>
          </p:nvPr>
        </p:nvSpPr>
        <p:spPr>
          <a:xfrm>
            <a:off x="759883" y="1091494"/>
            <a:ext cx="9067800" cy="3461385"/>
          </a:xfrm>
        </p:spPr>
        <p:txBody>
          <a:bodyPr/>
          <a:lstStyle/>
          <a:p>
            <a:pPr algn="l" defTabSz="914400">
              <a:buClr>
                <a:schemeClr val="tx1"/>
              </a:buClr>
              <a:buSzPct val="100000"/>
              <a:buFont typeface="Wingdings" panose="05000000000000000000" pitchFamily="2" charset="2"/>
              <a:buNone/>
            </a:pPr>
            <a:r>
              <a:rPr lang="en-US" altLang="x-none" sz="3525" b="1" kern="1200" baseline="0">
                <a:latin typeface="Times New Roman" panose="02020603050405020304" charset="0"/>
              </a:rPr>
              <a:t>Chemical Similarity Scoring</a:t>
            </a:r>
          </a:p>
          <a:p>
            <a:pPr marL="457200" lvl="1" algn="l">
              <a:buClr>
                <a:schemeClr val="tx1"/>
              </a:buClr>
              <a:buFont typeface="Wingdings" panose="05000000000000000000" pitchFamily="2" charset="2"/>
              <a:buChar char="v"/>
            </a:pPr>
            <a:r>
              <a:rPr lang="en-US" altLang="x-none" sz="3085" kern="1200"/>
              <a:t>Similarity based on </a:t>
            </a:r>
            <a:r>
              <a:rPr lang="en-US" altLang="x-none" sz="3085" kern="1200" err="1"/>
              <a:t>Physio</a:t>
            </a:r>
            <a:r>
              <a:rPr lang="en-US" altLang="x-none" sz="3085" kern="1200"/>
              <a:t>-chemical properties</a:t>
            </a:r>
          </a:p>
          <a:p>
            <a:pPr marL="457200" lvl="1" algn="l">
              <a:buClr>
                <a:schemeClr val="tx1"/>
              </a:buClr>
              <a:buFont typeface="Wingdings" panose="05000000000000000000" pitchFamily="2" charset="2"/>
              <a:buChar char="v"/>
            </a:pPr>
            <a:r>
              <a:rPr lang="en-US" altLang="x-none" sz="3085" kern="1200" err="1"/>
              <a:t>MacLachlan</a:t>
            </a:r>
            <a:r>
              <a:rPr lang="en-US" altLang="x-none" sz="3085" kern="1200"/>
              <a:t> 1972, Based on size, shape, charge and polar</a:t>
            </a:r>
          </a:p>
          <a:p>
            <a:pPr marL="457200" lvl="1" algn="l">
              <a:buClr>
                <a:schemeClr val="tx1"/>
              </a:buClr>
              <a:buFont typeface="Wingdings" panose="05000000000000000000" pitchFamily="2" charset="2"/>
              <a:buChar char="v"/>
            </a:pPr>
            <a:r>
              <a:rPr lang="en-US" altLang="x-none" sz="3085" kern="1200"/>
              <a:t>Score 0 for opposite (e.g. E &amp; F) and 6 for identical character</a:t>
            </a:r>
          </a:p>
          <a:p>
            <a:pPr algn="l" defTabSz="914400">
              <a:buClr>
                <a:schemeClr val="tx1"/>
              </a:buClr>
              <a:buSzPct val="100000"/>
              <a:buFont typeface="Wingdings" panose="05000000000000000000" pitchFamily="2" charset="2"/>
              <a:buNone/>
            </a:pPr>
            <a:r>
              <a:rPr lang="en-US" altLang="x-none" sz="3525" b="1" kern="1200" baseline="0">
                <a:latin typeface="Times New Roman" panose="02020603050405020304" charset="0"/>
              </a:rPr>
              <a:t> </a:t>
            </a:r>
            <a:endParaRPr lang="en-US" altLang="x-none" sz="3525" kern="1200" baseline="0">
              <a:latin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44385"/>
          <p:cNvSpPr>
            <a:spLocks noGrp="1"/>
          </p:cNvSpPr>
          <p:nvPr>
            <p:ph type="ctrTitle"/>
          </p:nvPr>
        </p:nvSpPr>
        <p:spPr>
          <a:xfrm>
            <a:off x="759883" y="316265"/>
            <a:ext cx="8564033" cy="542925"/>
          </a:xfrm>
        </p:spPr>
        <p:txBody>
          <a:bodyPr anchor="ctr"/>
          <a:lstStyle/>
          <a:p>
            <a:pPr defTabSz="914400">
              <a:buSzPct val="100000"/>
            </a:pPr>
            <a:r>
              <a:rPr lang="en-US" altLang="x-none" sz="3525" u="sng" kern="1200" baseline="0">
                <a:latin typeface="Times New Roman" panose="02020603050405020304" charset="0"/>
              </a:rPr>
              <a:t>The Scoring Schemes or Weight Matrices</a:t>
            </a:r>
            <a:endParaRPr sz="3525" u="sng" kern="1200" baseline="0">
              <a:latin typeface="Times New Roman" panose="02020603050405020304" charset="0"/>
            </a:endParaRPr>
          </a:p>
        </p:txBody>
      </p:sp>
      <p:sp>
        <p:nvSpPr>
          <p:cNvPr id="144387" name="Subtitle 144386"/>
          <p:cNvSpPr>
            <a:spLocks noGrp="1"/>
          </p:cNvSpPr>
          <p:nvPr>
            <p:ph type="subTitle" idx="1"/>
          </p:nvPr>
        </p:nvSpPr>
        <p:spPr>
          <a:xfrm>
            <a:off x="759883" y="1091494"/>
            <a:ext cx="9067800" cy="4829810"/>
          </a:xfrm>
        </p:spPr>
        <p:txBody>
          <a:bodyPr/>
          <a:lstStyle/>
          <a:p>
            <a:pPr algn="l" defTabSz="914400">
              <a:lnSpc>
                <a:spcPct val="90000"/>
              </a:lnSpc>
              <a:buClr>
                <a:schemeClr val="tx1"/>
              </a:buClr>
              <a:buSzPct val="100000"/>
              <a:buFont typeface="Wingdings" panose="05000000000000000000" pitchFamily="2" charset="2"/>
              <a:buNone/>
            </a:pPr>
            <a:r>
              <a:rPr lang="en-US" altLang="x-none" sz="2645" b="1" kern="1200" baseline="0">
                <a:latin typeface="Times New Roman" panose="02020603050405020304" charset="0"/>
              </a:rPr>
              <a:t> </a:t>
            </a:r>
            <a:endParaRPr lang="en-US" altLang="x-none" sz="2645" kern="1200" baseline="0">
              <a:latin typeface="Times New Roman" panose="02020603050405020304" charset="0"/>
            </a:endParaRPr>
          </a:p>
          <a:p>
            <a:pPr algn="l" defTabSz="914400">
              <a:lnSpc>
                <a:spcPct val="90000"/>
              </a:lnSpc>
              <a:buClr>
                <a:schemeClr val="tx1"/>
              </a:buClr>
              <a:buSzPct val="100000"/>
              <a:buFont typeface="Wingdings" panose="05000000000000000000" pitchFamily="2" charset="2"/>
              <a:buNone/>
            </a:pPr>
            <a:r>
              <a:rPr lang="en-US" altLang="x-none" sz="2645" b="1" kern="1200" baseline="0">
                <a:latin typeface="Times New Roman" panose="02020603050405020304" charset="0"/>
              </a:rPr>
              <a:t>Observed Substitutions or PAM matrices</a:t>
            </a:r>
          </a:p>
          <a:p>
            <a:pPr marL="457200" lvl="1" algn="l">
              <a:lnSpc>
                <a:spcPct val="90000"/>
              </a:lnSpc>
              <a:buClr>
                <a:schemeClr val="tx1"/>
              </a:buClr>
              <a:buFont typeface="Wingdings" panose="05000000000000000000" pitchFamily="2" charset="2"/>
              <a:buChar char="v"/>
            </a:pPr>
            <a:r>
              <a:rPr lang="en-US" altLang="x-none" sz="2205" kern="1200"/>
              <a:t> Based on Observed Substitutions</a:t>
            </a:r>
          </a:p>
          <a:p>
            <a:pPr marL="457200" lvl="1" algn="l">
              <a:lnSpc>
                <a:spcPct val="90000"/>
              </a:lnSpc>
              <a:buClr>
                <a:schemeClr val="tx1"/>
              </a:buClr>
              <a:buFont typeface="Wingdings" panose="05000000000000000000" pitchFamily="2" charset="2"/>
              <a:buChar char="v"/>
            </a:pPr>
            <a:r>
              <a:rPr lang="en-US" altLang="x-none" sz="2205" kern="1200"/>
              <a:t>Chicken and Egg problem</a:t>
            </a:r>
          </a:p>
          <a:p>
            <a:pPr marL="457200" lvl="1" algn="l">
              <a:lnSpc>
                <a:spcPct val="90000"/>
              </a:lnSpc>
              <a:buClr>
                <a:schemeClr val="tx1"/>
              </a:buClr>
              <a:buFont typeface="Wingdings" panose="05000000000000000000" pitchFamily="2" charset="2"/>
              <a:buChar char="v"/>
            </a:pPr>
            <a:r>
              <a:rPr lang="en-US" altLang="x-none" sz="2205" kern="1200" err="1"/>
              <a:t>Dayhoff</a:t>
            </a:r>
            <a:r>
              <a:rPr lang="en-US" altLang="x-none" sz="2205" kern="1200"/>
              <a:t> group in 1977 align sequence manually</a:t>
            </a:r>
          </a:p>
          <a:p>
            <a:pPr marL="457200" lvl="1" algn="l">
              <a:lnSpc>
                <a:spcPct val="90000"/>
              </a:lnSpc>
              <a:buClr>
                <a:schemeClr val="tx1"/>
              </a:buClr>
              <a:buFont typeface="Wingdings" panose="05000000000000000000" pitchFamily="2" charset="2"/>
              <a:buChar char="v"/>
            </a:pPr>
            <a:r>
              <a:rPr lang="en-US" altLang="x-none" sz="2205" kern="1200"/>
              <a:t>Observed Substitutions or point mutation frequency</a:t>
            </a:r>
          </a:p>
          <a:p>
            <a:pPr marL="457200" lvl="1" algn="l">
              <a:lnSpc>
                <a:spcPct val="90000"/>
              </a:lnSpc>
              <a:buClr>
                <a:schemeClr val="tx1"/>
              </a:buClr>
              <a:buFont typeface="Wingdings" panose="05000000000000000000" pitchFamily="2" charset="2"/>
              <a:buChar char="v"/>
            </a:pPr>
            <a:r>
              <a:rPr lang="en-US" altLang="x-none" sz="2205" kern="1200"/>
              <a:t>MATRICES are PAM30, PAM250, PAM100 etc</a:t>
            </a:r>
          </a:p>
          <a:p>
            <a:pPr algn="l" defTabSz="914400">
              <a:lnSpc>
                <a:spcPct val="90000"/>
              </a:lnSpc>
              <a:buClr>
                <a:schemeClr val="tx1"/>
              </a:buClr>
              <a:buSzPct val="100000"/>
              <a:buFont typeface="Wingdings" panose="05000000000000000000" pitchFamily="2" charset="2"/>
              <a:buNone/>
            </a:pPr>
            <a:endParaRPr lang="en-US" altLang="x-none" sz="2645" b="1" kern="1200" baseline="0">
              <a:latin typeface="Courier New" panose="02070309020205020404" pitchFamily="49" charset="0"/>
            </a:endParaRPr>
          </a:p>
          <a:p>
            <a:pPr algn="l" defTabSz="914400">
              <a:lnSpc>
                <a:spcPct val="90000"/>
              </a:lnSpc>
              <a:buClr>
                <a:schemeClr val="tx1"/>
              </a:buClr>
              <a:buSzPct val="100000"/>
              <a:buFont typeface="Wingdings" panose="05000000000000000000" pitchFamily="2" charset="2"/>
              <a:buNone/>
            </a:pPr>
            <a:r>
              <a:rPr lang="en-US" altLang="x-none" sz="2645" b="1" kern="1200" baseline="0">
                <a:latin typeface="Courier New" panose="02070309020205020404" pitchFamily="49" charset="0"/>
              </a:rPr>
              <a:t>AILD</a:t>
            </a:r>
            <a:r>
              <a:rPr lang="en-US" altLang="x-none" sz="2645" b="1" kern="1200" baseline="0">
                <a:solidFill>
                  <a:schemeClr val="accent2"/>
                </a:solidFill>
                <a:latin typeface="Courier New" panose="02070309020205020404" pitchFamily="49" charset="0"/>
              </a:rPr>
              <a:t>C</a:t>
            </a:r>
            <a:r>
              <a:rPr lang="en-US" altLang="x-none" sz="2645" b="1" kern="1200" baseline="0">
                <a:latin typeface="Courier New" panose="02070309020205020404" pitchFamily="49" charset="0"/>
              </a:rPr>
              <a:t>TG</a:t>
            </a:r>
            <a:r>
              <a:rPr lang="en-US" altLang="x-none" sz="2645" kern="1200" baseline="0">
                <a:latin typeface="Courier New" panose="02070309020205020404" pitchFamily="49" charset="0"/>
              </a:rPr>
              <a:t>RTG……</a:t>
            </a:r>
          </a:p>
          <a:p>
            <a:pPr algn="l" defTabSz="914400">
              <a:lnSpc>
                <a:spcPct val="90000"/>
              </a:lnSpc>
              <a:buClr>
                <a:schemeClr val="tx1"/>
              </a:buClr>
              <a:buSzPct val="100000"/>
              <a:buFont typeface="Wingdings" panose="05000000000000000000" pitchFamily="2" charset="2"/>
              <a:buNone/>
            </a:pPr>
            <a:r>
              <a:rPr lang="en-US" altLang="x-none" sz="2645" b="1" kern="1200" baseline="0">
                <a:latin typeface="Courier New" panose="02070309020205020404" pitchFamily="49" charset="0"/>
              </a:rPr>
              <a:t>ALLD</a:t>
            </a:r>
            <a:r>
              <a:rPr lang="en-US" altLang="x-none" sz="2645" b="1" kern="1200" baseline="0">
                <a:solidFill>
                  <a:schemeClr val="accent2"/>
                </a:solidFill>
                <a:latin typeface="Courier New" panose="02070309020205020404" pitchFamily="49" charset="0"/>
              </a:rPr>
              <a:t>C</a:t>
            </a:r>
            <a:r>
              <a:rPr lang="en-US" altLang="x-none" sz="2645" b="1" kern="1200" baseline="0">
                <a:latin typeface="Courier New" panose="02070309020205020404" pitchFamily="49" charset="0"/>
              </a:rPr>
              <a:t>TG</a:t>
            </a:r>
            <a:r>
              <a:rPr lang="en-US" altLang="x-none" sz="2645" kern="1200" baseline="0">
                <a:latin typeface="Courier New" panose="02070309020205020404" pitchFamily="49" charset="0"/>
              </a:rPr>
              <a:t>R--……</a:t>
            </a:r>
          </a:p>
          <a:p>
            <a:pPr algn="l" defTabSz="914400">
              <a:lnSpc>
                <a:spcPct val="90000"/>
              </a:lnSpc>
              <a:buClr>
                <a:schemeClr val="tx1"/>
              </a:buClr>
              <a:buSzPct val="100000"/>
              <a:buFont typeface="Wingdings" panose="05000000000000000000" pitchFamily="2" charset="2"/>
              <a:buNone/>
            </a:pPr>
            <a:r>
              <a:rPr lang="en-US" altLang="x-none" sz="2645" b="1" kern="1200" baseline="0">
                <a:latin typeface="Courier New" panose="02070309020205020404" pitchFamily="49" charset="0"/>
              </a:rPr>
              <a:t>SLID</a:t>
            </a:r>
            <a:r>
              <a:rPr lang="en-US" altLang="x-none" sz="2645" b="1" kern="1200" baseline="0">
                <a:solidFill>
                  <a:schemeClr val="accent2"/>
                </a:solidFill>
                <a:latin typeface="Courier New" panose="02070309020205020404" pitchFamily="49" charset="0"/>
              </a:rPr>
              <a:t>C</a:t>
            </a:r>
            <a:r>
              <a:rPr lang="en-US" altLang="x-none" sz="2645" b="1" kern="1200" baseline="0">
                <a:latin typeface="Courier New" panose="02070309020205020404" pitchFamily="49" charset="0"/>
              </a:rPr>
              <a:t>SA</a:t>
            </a:r>
            <a:r>
              <a:rPr lang="en-US" altLang="x-none" sz="2645" kern="1200" baseline="0">
                <a:latin typeface="Courier New" panose="02070309020205020404" pitchFamily="49" charset="0"/>
              </a:rPr>
              <a:t>R-G……</a:t>
            </a:r>
          </a:p>
          <a:p>
            <a:pPr algn="l" defTabSz="914400">
              <a:lnSpc>
                <a:spcPct val="90000"/>
              </a:lnSpc>
              <a:buClr>
                <a:schemeClr val="tx1"/>
              </a:buClr>
              <a:buSzPct val="100000"/>
              <a:buFont typeface="Wingdings" panose="05000000000000000000" pitchFamily="2" charset="2"/>
              <a:buNone/>
            </a:pPr>
            <a:r>
              <a:rPr lang="en-US" altLang="x-none" sz="2645" b="1" kern="1200" baseline="0">
                <a:latin typeface="Courier New" panose="02070309020205020404" pitchFamily="49" charset="0"/>
              </a:rPr>
              <a:t>AILN</a:t>
            </a:r>
            <a:r>
              <a:rPr lang="en-US" altLang="x-none" sz="2645" b="1" kern="1200" baseline="0">
                <a:solidFill>
                  <a:schemeClr val="accent2"/>
                </a:solidFill>
                <a:latin typeface="Courier New" panose="02070309020205020404" pitchFamily="49" charset="0"/>
              </a:rPr>
              <a:t>C</a:t>
            </a:r>
            <a:r>
              <a:rPr lang="en-US" altLang="x-none" sz="2645" b="1" kern="1200" baseline="0">
                <a:latin typeface="Courier New" panose="02070309020205020404" pitchFamily="49" charset="0"/>
              </a:rPr>
              <a:t>TL</a:t>
            </a:r>
            <a:r>
              <a:rPr lang="en-US" altLang="x-none" sz="2645" kern="1200" baseline="0">
                <a:latin typeface="Courier New" panose="02070309020205020404" pitchFamily="49" charset="0"/>
              </a:rPr>
              <a:t>-RG……</a:t>
            </a:r>
          </a:p>
          <a:p>
            <a:pPr algn="l" defTabSz="914400">
              <a:lnSpc>
                <a:spcPct val="90000"/>
              </a:lnSpc>
              <a:buClr>
                <a:schemeClr val="tx1"/>
              </a:buClr>
              <a:buSzPct val="100000"/>
              <a:buFont typeface="Wingdings" panose="05000000000000000000" pitchFamily="2" charset="2"/>
              <a:buNone/>
            </a:pPr>
            <a:endParaRPr lang="en-US" altLang="x-none" sz="2645" b="1" kern="1200" baseline="0">
              <a:latin typeface="Times New Roman" panose="02020603050405020304" charset="0"/>
            </a:endParaRPr>
          </a:p>
          <a:p>
            <a:pPr algn="l" defTabSz="914400">
              <a:lnSpc>
                <a:spcPct val="90000"/>
              </a:lnSpc>
              <a:buClr>
                <a:schemeClr val="tx1"/>
              </a:buClr>
              <a:buSzPct val="100000"/>
              <a:buFont typeface="Wingdings" panose="05000000000000000000" pitchFamily="2" charset="2"/>
              <a:buNone/>
            </a:pPr>
            <a:r>
              <a:rPr lang="en-US" altLang="x-none" sz="2645" b="1" kern="1200" baseline="0">
                <a:latin typeface="Times New Roman" panose="02020603050405020304" charset="0"/>
              </a:rPr>
              <a:t> </a:t>
            </a:r>
            <a:endParaRPr lang="en-US" altLang="x-none" sz="2645" kern="1200" baseline="0">
              <a:latin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15</a:t>
            </a:fld>
            <a:endParaRPr dirty="0"/>
          </a:p>
        </p:txBody>
      </p:sp>
      <p:sp>
        <p:nvSpPr>
          <p:cNvPr id="2" name="object 2"/>
          <p:cNvSpPr txBox="1">
            <a:spLocks noGrp="1"/>
          </p:cNvSpPr>
          <p:nvPr>
            <p:ph type="title"/>
          </p:nvPr>
        </p:nvSpPr>
        <p:spPr>
          <a:xfrm>
            <a:off x="1645920" y="1045209"/>
            <a:ext cx="6917690" cy="513080"/>
          </a:xfrm>
          <a:prstGeom prst="rect">
            <a:avLst/>
          </a:prstGeom>
        </p:spPr>
        <p:txBody>
          <a:bodyPr vert="horz" wrap="square" lIns="0" tIns="12700" rIns="0" bIns="0" rtlCol="0">
            <a:spAutoFit/>
          </a:bodyPr>
          <a:lstStyle/>
          <a:p>
            <a:pPr marL="12700">
              <a:lnSpc>
                <a:spcPct val="100000"/>
              </a:lnSpc>
              <a:spcBef>
                <a:spcPts val="100"/>
              </a:spcBef>
            </a:pPr>
            <a:r>
              <a:rPr spc="-5" dirty="0"/>
              <a:t>Where</a:t>
            </a:r>
            <a:r>
              <a:rPr spc="-10" dirty="0"/>
              <a:t> </a:t>
            </a:r>
            <a:r>
              <a:rPr dirty="0"/>
              <a:t>does</a:t>
            </a:r>
            <a:r>
              <a:rPr spc="-10" dirty="0"/>
              <a:t> </a:t>
            </a:r>
            <a:r>
              <a:rPr spc="-5" dirty="0"/>
              <a:t>the</a:t>
            </a:r>
            <a:r>
              <a:rPr spc="-15" dirty="0"/>
              <a:t> </a:t>
            </a:r>
            <a:r>
              <a:rPr dirty="0"/>
              <a:t>score</a:t>
            </a:r>
            <a:r>
              <a:rPr spc="-10" dirty="0"/>
              <a:t> </a:t>
            </a:r>
            <a:r>
              <a:rPr spc="-5" dirty="0"/>
              <a:t>(S)</a:t>
            </a:r>
            <a:r>
              <a:rPr spc="-15" dirty="0"/>
              <a:t> </a:t>
            </a:r>
            <a:r>
              <a:rPr dirty="0"/>
              <a:t>come</a:t>
            </a:r>
            <a:r>
              <a:rPr spc="-5" dirty="0"/>
              <a:t> from?</a:t>
            </a:r>
          </a:p>
        </p:txBody>
      </p:sp>
      <p:sp>
        <p:nvSpPr>
          <p:cNvPr id="3" name="object 3"/>
          <p:cNvSpPr txBox="1"/>
          <p:nvPr/>
        </p:nvSpPr>
        <p:spPr>
          <a:xfrm>
            <a:off x="941069" y="2284729"/>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1264919" y="2169159"/>
            <a:ext cx="7873365" cy="3759200"/>
          </a:xfrm>
          <a:prstGeom prst="rect">
            <a:avLst/>
          </a:prstGeom>
        </p:spPr>
        <p:txBody>
          <a:bodyPr vert="horz" wrap="square" lIns="0" tIns="68580" rIns="0" bIns="0" rtlCol="0">
            <a:spAutoFit/>
          </a:bodyPr>
          <a:lstStyle/>
          <a:p>
            <a:pPr marL="12700" marR="207645">
              <a:lnSpc>
                <a:spcPts val="3450"/>
              </a:lnSpc>
              <a:spcBef>
                <a:spcPts val="540"/>
              </a:spcBef>
            </a:pPr>
            <a:r>
              <a:rPr sz="3200" dirty="0">
                <a:solidFill>
                  <a:srgbClr val="191919"/>
                </a:solidFill>
                <a:latin typeface="Arial" panose="020B0604020202020204"/>
                <a:cs typeface="Arial" panose="020B0604020202020204"/>
              </a:rPr>
              <a:t>The</a:t>
            </a:r>
            <a:r>
              <a:rPr sz="3200" spc="-5" dirty="0">
                <a:solidFill>
                  <a:srgbClr val="191919"/>
                </a:solidFill>
                <a:latin typeface="Arial" panose="020B0604020202020204"/>
                <a:cs typeface="Arial" panose="020B0604020202020204"/>
              </a:rPr>
              <a:t> quality</a:t>
            </a:r>
            <a:r>
              <a:rPr sz="3200" spc="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of </a:t>
            </a:r>
            <a:r>
              <a:rPr sz="3200" dirty="0">
                <a:solidFill>
                  <a:srgbClr val="191919"/>
                </a:solidFill>
                <a:latin typeface="Arial" panose="020B0604020202020204"/>
                <a:cs typeface="Arial" panose="020B0604020202020204"/>
              </a:rPr>
              <a:t>each </a:t>
            </a:r>
            <a:r>
              <a:rPr sz="3200" spc="-5" dirty="0">
                <a:solidFill>
                  <a:srgbClr val="191919"/>
                </a:solidFill>
                <a:latin typeface="Arial" panose="020B0604020202020204"/>
                <a:cs typeface="Arial" panose="020B0604020202020204"/>
              </a:rPr>
              <a:t>pair-wise</a:t>
            </a:r>
            <a:r>
              <a:rPr sz="3200" spc="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alignment</a:t>
            </a:r>
            <a:r>
              <a:rPr sz="3200" spc="-1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is </a:t>
            </a:r>
            <a:r>
              <a:rPr sz="3200" dirty="0">
                <a:solidFill>
                  <a:srgbClr val="191919"/>
                </a:solidFill>
                <a:latin typeface="Arial" panose="020B0604020202020204"/>
                <a:cs typeface="Arial" panose="020B0604020202020204"/>
              </a:rPr>
              <a:t> represented as a score and </a:t>
            </a:r>
            <a:r>
              <a:rPr sz="3200" spc="-5" dirty="0">
                <a:solidFill>
                  <a:srgbClr val="191919"/>
                </a:solidFill>
                <a:latin typeface="Arial" panose="020B0604020202020204"/>
                <a:cs typeface="Arial" panose="020B0604020202020204"/>
              </a:rPr>
              <a:t>the </a:t>
            </a:r>
            <a:r>
              <a:rPr sz="3200" dirty="0">
                <a:solidFill>
                  <a:srgbClr val="191919"/>
                </a:solidFill>
                <a:latin typeface="Arial" panose="020B0604020202020204"/>
                <a:cs typeface="Arial" panose="020B0604020202020204"/>
              </a:rPr>
              <a:t>scores </a:t>
            </a:r>
            <a:r>
              <a:rPr sz="3200" spc="-5" dirty="0">
                <a:solidFill>
                  <a:srgbClr val="191919"/>
                </a:solidFill>
                <a:latin typeface="Arial" panose="020B0604020202020204"/>
                <a:cs typeface="Arial" panose="020B0604020202020204"/>
              </a:rPr>
              <a:t>are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ranked.</a:t>
            </a:r>
            <a:endParaRPr sz="3200">
              <a:latin typeface="Arial" panose="020B0604020202020204"/>
              <a:cs typeface="Arial" panose="020B0604020202020204"/>
            </a:endParaRPr>
          </a:p>
          <a:p>
            <a:pPr marL="12700" marR="5080" algn="just">
              <a:lnSpc>
                <a:spcPct val="90000"/>
              </a:lnSpc>
              <a:spcBef>
                <a:spcPts val="640"/>
              </a:spcBef>
            </a:pPr>
            <a:r>
              <a:rPr sz="3200" b="1" spc="-5" dirty="0">
                <a:solidFill>
                  <a:srgbClr val="7F0000"/>
                </a:solidFill>
                <a:latin typeface="Arial" panose="020B0604020202020204"/>
                <a:cs typeface="Arial" panose="020B0604020202020204"/>
              </a:rPr>
              <a:t>Scoring matrices </a:t>
            </a:r>
            <a:r>
              <a:rPr sz="3200" spc="-5" dirty="0">
                <a:solidFill>
                  <a:srgbClr val="191919"/>
                </a:solidFill>
                <a:latin typeface="Arial" panose="020B0604020202020204"/>
                <a:cs typeface="Arial" panose="020B0604020202020204"/>
              </a:rPr>
              <a:t>are </a:t>
            </a:r>
            <a:r>
              <a:rPr sz="3200" dirty="0">
                <a:solidFill>
                  <a:srgbClr val="191919"/>
                </a:solidFill>
                <a:latin typeface="Arial" panose="020B0604020202020204"/>
                <a:cs typeface="Arial" panose="020B0604020202020204"/>
              </a:rPr>
              <a:t>used </a:t>
            </a:r>
            <a:r>
              <a:rPr sz="3200" spc="-5" dirty="0">
                <a:solidFill>
                  <a:srgbClr val="191919"/>
                </a:solidFill>
                <a:latin typeface="Arial" panose="020B0604020202020204"/>
                <a:cs typeface="Arial" panose="020B0604020202020204"/>
              </a:rPr>
              <a:t>to calculate the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score of </a:t>
            </a:r>
            <a:r>
              <a:rPr sz="3200" spc="-5" dirty="0">
                <a:solidFill>
                  <a:srgbClr val="191919"/>
                </a:solidFill>
                <a:latin typeface="Arial" panose="020B0604020202020204"/>
                <a:cs typeface="Arial" panose="020B0604020202020204"/>
              </a:rPr>
              <a:t>the alignment </a:t>
            </a:r>
            <a:r>
              <a:rPr sz="3200" dirty="0">
                <a:solidFill>
                  <a:srgbClr val="191919"/>
                </a:solidFill>
                <a:latin typeface="Arial" panose="020B0604020202020204"/>
                <a:cs typeface="Arial" panose="020B0604020202020204"/>
              </a:rPr>
              <a:t>base by base </a:t>
            </a:r>
            <a:r>
              <a:rPr sz="3200" spc="-5" dirty="0">
                <a:solidFill>
                  <a:srgbClr val="191919"/>
                </a:solidFill>
                <a:latin typeface="Arial" panose="020B0604020202020204"/>
                <a:cs typeface="Arial" panose="020B0604020202020204"/>
              </a:rPr>
              <a:t>(DNA)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or</a:t>
            </a:r>
            <a:r>
              <a:rPr sz="3200" spc="-1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amino </a:t>
            </a:r>
            <a:r>
              <a:rPr sz="3200" dirty="0">
                <a:solidFill>
                  <a:srgbClr val="191919"/>
                </a:solidFill>
                <a:latin typeface="Arial" panose="020B0604020202020204"/>
                <a:cs typeface="Arial" panose="020B0604020202020204"/>
              </a:rPr>
              <a:t>acid</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by</a:t>
            </a:r>
            <a:r>
              <a:rPr sz="3200" spc="-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amino</a:t>
            </a:r>
            <a:r>
              <a:rPr sz="3200" spc="-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acid </a:t>
            </a:r>
            <a:r>
              <a:rPr sz="3200" spc="-5" dirty="0">
                <a:solidFill>
                  <a:srgbClr val="191919"/>
                </a:solidFill>
                <a:latin typeface="Arial" panose="020B0604020202020204"/>
                <a:cs typeface="Arial" panose="020B0604020202020204"/>
              </a:rPr>
              <a:t>(protein).</a:t>
            </a:r>
            <a:endParaRPr sz="3200">
              <a:latin typeface="Arial" panose="020B0604020202020204"/>
              <a:cs typeface="Arial" panose="020B0604020202020204"/>
            </a:endParaRPr>
          </a:p>
          <a:p>
            <a:pPr marL="12700" marR="381000" algn="just">
              <a:lnSpc>
                <a:spcPts val="3450"/>
              </a:lnSpc>
              <a:spcBef>
                <a:spcPts val="750"/>
              </a:spcBef>
            </a:pPr>
            <a:r>
              <a:rPr sz="3200" b="1" spc="-5" dirty="0">
                <a:solidFill>
                  <a:srgbClr val="7F0000"/>
                </a:solidFill>
                <a:latin typeface="Arial" panose="020B0604020202020204"/>
                <a:cs typeface="Arial" panose="020B0604020202020204"/>
              </a:rPr>
              <a:t>The alignment </a:t>
            </a:r>
            <a:r>
              <a:rPr sz="3200" b="1" dirty="0">
                <a:solidFill>
                  <a:srgbClr val="7F0000"/>
                </a:solidFill>
                <a:latin typeface="Arial" panose="020B0604020202020204"/>
                <a:cs typeface="Arial" panose="020B0604020202020204"/>
              </a:rPr>
              <a:t>score </a:t>
            </a:r>
            <a:r>
              <a:rPr sz="3200" b="1" spc="-10" dirty="0">
                <a:solidFill>
                  <a:srgbClr val="7F0000"/>
                </a:solidFill>
                <a:latin typeface="Arial" panose="020B0604020202020204"/>
                <a:cs typeface="Arial" panose="020B0604020202020204"/>
              </a:rPr>
              <a:t>will </a:t>
            </a:r>
            <a:r>
              <a:rPr sz="3200" b="1" dirty="0">
                <a:solidFill>
                  <a:srgbClr val="7F0000"/>
                </a:solidFill>
                <a:latin typeface="Arial" panose="020B0604020202020204"/>
                <a:cs typeface="Arial" panose="020B0604020202020204"/>
              </a:rPr>
              <a:t>be </a:t>
            </a:r>
            <a:r>
              <a:rPr sz="3200" b="1" spc="-5" dirty="0">
                <a:solidFill>
                  <a:srgbClr val="7F0000"/>
                </a:solidFill>
                <a:latin typeface="Arial" panose="020B0604020202020204"/>
                <a:cs typeface="Arial" panose="020B0604020202020204"/>
              </a:rPr>
              <a:t>the sum </a:t>
            </a:r>
            <a:r>
              <a:rPr sz="3200" b="1" dirty="0">
                <a:solidFill>
                  <a:srgbClr val="7F0000"/>
                </a:solidFill>
                <a:latin typeface="Arial" panose="020B0604020202020204"/>
                <a:cs typeface="Arial" panose="020B0604020202020204"/>
              </a:rPr>
              <a:t>of </a:t>
            </a:r>
            <a:r>
              <a:rPr sz="3200" b="1" spc="-875" dirty="0">
                <a:solidFill>
                  <a:srgbClr val="7F0000"/>
                </a:solidFill>
                <a:latin typeface="Arial" panose="020B0604020202020204"/>
                <a:cs typeface="Arial" panose="020B0604020202020204"/>
              </a:rPr>
              <a:t> </a:t>
            </a:r>
            <a:r>
              <a:rPr sz="3200" b="1" dirty="0">
                <a:solidFill>
                  <a:srgbClr val="7F0000"/>
                </a:solidFill>
                <a:latin typeface="Arial" panose="020B0604020202020204"/>
                <a:cs typeface="Arial" panose="020B0604020202020204"/>
              </a:rPr>
              <a:t>the</a:t>
            </a:r>
            <a:r>
              <a:rPr sz="3200" b="1" spc="-10" dirty="0">
                <a:solidFill>
                  <a:srgbClr val="7F0000"/>
                </a:solidFill>
                <a:latin typeface="Arial" panose="020B0604020202020204"/>
                <a:cs typeface="Arial" panose="020B0604020202020204"/>
              </a:rPr>
              <a:t> </a:t>
            </a:r>
            <a:r>
              <a:rPr sz="3200" b="1" dirty="0">
                <a:solidFill>
                  <a:srgbClr val="7F0000"/>
                </a:solidFill>
                <a:latin typeface="Arial" panose="020B0604020202020204"/>
                <a:cs typeface="Arial" panose="020B0604020202020204"/>
              </a:rPr>
              <a:t>scores </a:t>
            </a:r>
            <a:r>
              <a:rPr sz="3200" b="1" spc="-5" dirty="0">
                <a:solidFill>
                  <a:srgbClr val="7F0000"/>
                </a:solidFill>
                <a:latin typeface="Arial" panose="020B0604020202020204"/>
                <a:cs typeface="Arial" panose="020B0604020202020204"/>
              </a:rPr>
              <a:t>for </a:t>
            </a:r>
            <a:r>
              <a:rPr sz="3200" b="1" dirty="0">
                <a:solidFill>
                  <a:srgbClr val="7F0000"/>
                </a:solidFill>
                <a:latin typeface="Arial" panose="020B0604020202020204"/>
                <a:cs typeface="Arial" panose="020B0604020202020204"/>
              </a:rPr>
              <a:t>each</a:t>
            </a:r>
            <a:r>
              <a:rPr sz="3200" b="1" spc="-10" dirty="0">
                <a:solidFill>
                  <a:srgbClr val="7F0000"/>
                </a:solidFill>
                <a:latin typeface="Arial" panose="020B0604020202020204"/>
                <a:cs typeface="Arial" panose="020B0604020202020204"/>
              </a:rPr>
              <a:t> </a:t>
            </a:r>
            <a:r>
              <a:rPr sz="3200" b="1" dirty="0">
                <a:solidFill>
                  <a:srgbClr val="7F0000"/>
                </a:solidFill>
                <a:latin typeface="Arial" panose="020B0604020202020204"/>
                <a:cs typeface="Arial" panose="020B0604020202020204"/>
              </a:rPr>
              <a:t>position</a:t>
            </a:r>
            <a:r>
              <a:rPr sz="3200" dirty="0">
                <a:solidFill>
                  <a:srgbClr val="191919"/>
                </a:solidFill>
                <a:latin typeface="Arial" panose="020B0604020202020204"/>
                <a:cs typeface="Arial" panose="020B0604020202020204"/>
              </a:rPr>
              <a:t>.</a:t>
            </a:r>
            <a:endParaRPr sz="3200">
              <a:latin typeface="Arial" panose="020B0604020202020204"/>
              <a:cs typeface="Arial" panose="020B0604020202020204"/>
            </a:endParaRPr>
          </a:p>
        </p:txBody>
      </p:sp>
      <p:sp>
        <p:nvSpPr>
          <p:cNvPr id="5" name="object 5"/>
          <p:cNvSpPr txBox="1"/>
          <p:nvPr/>
        </p:nvSpPr>
        <p:spPr>
          <a:xfrm>
            <a:off x="941069" y="3688079"/>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6" name="object 6"/>
          <p:cNvSpPr txBox="1"/>
          <p:nvPr/>
        </p:nvSpPr>
        <p:spPr>
          <a:xfrm>
            <a:off x="941069" y="509270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4849" y="899795"/>
            <a:ext cx="6133465" cy="695960"/>
          </a:xfrm>
          <a:prstGeom prst="rect">
            <a:avLst/>
          </a:prstGeom>
        </p:spPr>
        <p:txBody>
          <a:bodyPr vert="horz" wrap="square" lIns="0" tIns="12700" rIns="0" bIns="0" rtlCol="0">
            <a:spAutoFit/>
          </a:bodyPr>
          <a:lstStyle/>
          <a:p>
            <a:pPr marL="12700">
              <a:lnSpc>
                <a:spcPct val="100000"/>
              </a:lnSpc>
              <a:spcBef>
                <a:spcPts val="100"/>
              </a:spcBef>
            </a:pPr>
            <a:r>
              <a:rPr sz="4400" spc="-20" dirty="0"/>
              <a:t>What’s</a:t>
            </a:r>
            <a:r>
              <a:rPr sz="4400" spc="-25" dirty="0"/>
              <a:t> </a:t>
            </a:r>
            <a:r>
              <a:rPr sz="4400" dirty="0"/>
              <a:t>a</a:t>
            </a:r>
            <a:r>
              <a:rPr sz="4400" spc="-30" dirty="0"/>
              <a:t> </a:t>
            </a:r>
            <a:r>
              <a:rPr sz="4400" dirty="0"/>
              <a:t>scoring</a:t>
            </a:r>
            <a:r>
              <a:rPr sz="4400" spc="-30" dirty="0"/>
              <a:t> </a:t>
            </a:r>
            <a:r>
              <a:rPr sz="4400" dirty="0"/>
              <a:t>matrix?</a:t>
            </a:r>
            <a:endParaRPr sz="4400"/>
          </a:p>
        </p:txBody>
      </p:sp>
      <p:sp>
        <p:nvSpPr>
          <p:cNvPr id="3" name="object 3"/>
          <p:cNvSpPr txBox="1"/>
          <p:nvPr/>
        </p:nvSpPr>
        <p:spPr>
          <a:xfrm>
            <a:off x="560069" y="230504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4" name="object 4"/>
          <p:cNvSpPr txBox="1"/>
          <p:nvPr/>
        </p:nvSpPr>
        <p:spPr>
          <a:xfrm>
            <a:off x="883919" y="2217420"/>
            <a:ext cx="4121785" cy="75692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Arial" panose="020B0604020202020204"/>
                <a:cs typeface="Arial" panose="020B0604020202020204"/>
              </a:rPr>
              <a:t>Substitution matrices are used </a:t>
            </a:r>
            <a:r>
              <a:rPr sz="2400" spc="-655" dirty="0">
                <a:latin typeface="Arial" panose="020B0604020202020204"/>
                <a:cs typeface="Arial" panose="020B0604020202020204"/>
              </a:rPr>
              <a:t> </a:t>
            </a:r>
            <a:r>
              <a:rPr sz="2400" dirty="0">
                <a:latin typeface="Arial" panose="020B0604020202020204"/>
                <a:cs typeface="Arial" panose="020B0604020202020204"/>
              </a:rPr>
              <a:t>for</a:t>
            </a:r>
            <a:r>
              <a:rPr sz="2400" spc="-10" dirty="0">
                <a:latin typeface="Arial" panose="020B0604020202020204"/>
                <a:cs typeface="Arial" panose="020B0604020202020204"/>
              </a:rPr>
              <a:t> </a:t>
            </a:r>
            <a:r>
              <a:rPr sz="2400" spc="-5" dirty="0">
                <a:latin typeface="Arial" panose="020B0604020202020204"/>
                <a:cs typeface="Arial" panose="020B0604020202020204"/>
              </a:rPr>
              <a:t>amino</a:t>
            </a:r>
            <a:r>
              <a:rPr sz="2400" spc="-15" dirty="0">
                <a:latin typeface="Arial" panose="020B0604020202020204"/>
                <a:cs typeface="Arial" panose="020B0604020202020204"/>
              </a:rPr>
              <a:t> </a:t>
            </a:r>
            <a:r>
              <a:rPr sz="2400" spc="-5" dirty="0">
                <a:latin typeface="Arial" panose="020B0604020202020204"/>
                <a:cs typeface="Arial" panose="020B0604020202020204"/>
              </a:rPr>
              <a:t>acid alignments.</a:t>
            </a:r>
            <a:endParaRPr sz="2400">
              <a:latin typeface="Arial" panose="020B0604020202020204"/>
              <a:cs typeface="Arial" panose="020B0604020202020204"/>
            </a:endParaRPr>
          </a:p>
        </p:txBody>
      </p:sp>
      <p:sp>
        <p:nvSpPr>
          <p:cNvPr id="5" name="object 5"/>
          <p:cNvSpPr txBox="1"/>
          <p:nvPr/>
        </p:nvSpPr>
        <p:spPr>
          <a:xfrm>
            <a:off x="991869" y="3084829"/>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6" name="object 6"/>
          <p:cNvSpPr txBox="1"/>
          <p:nvPr/>
        </p:nvSpPr>
        <p:spPr>
          <a:xfrm>
            <a:off x="883919" y="3012440"/>
            <a:ext cx="4277360" cy="1442720"/>
          </a:xfrm>
          <a:prstGeom prst="rect">
            <a:avLst/>
          </a:prstGeom>
        </p:spPr>
        <p:txBody>
          <a:bodyPr vert="horz" wrap="square" lIns="0" tIns="12700" rIns="0" bIns="0" rtlCol="0">
            <a:spAutoFit/>
          </a:bodyPr>
          <a:lstStyle/>
          <a:p>
            <a:pPr marL="444500" marR="5080">
              <a:lnSpc>
                <a:spcPct val="100000"/>
              </a:lnSpc>
              <a:spcBef>
                <a:spcPts val="100"/>
              </a:spcBef>
            </a:pPr>
            <a:r>
              <a:rPr sz="2000" dirty="0">
                <a:latin typeface="Arial" panose="020B0604020202020204"/>
                <a:cs typeface="Arial" panose="020B0604020202020204"/>
              </a:rPr>
              <a:t>each possible residue </a:t>
            </a:r>
            <a:r>
              <a:rPr sz="2000" spc="-5" dirty="0">
                <a:latin typeface="Arial" panose="020B0604020202020204"/>
                <a:cs typeface="Arial" panose="020B0604020202020204"/>
              </a:rPr>
              <a:t>substitution </a:t>
            </a:r>
            <a:r>
              <a:rPr sz="2000" spc="-545" dirty="0">
                <a:latin typeface="Arial" panose="020B0604020202020204"/>
                <a:cs typeface="Arial" panose="020B0604020202020204"/>
              </a:rPr>
              <a:t> </a:t>
            </a:r>
            <a:r>
              <a:rPr sz="2000" dirty="0">
                <a:latin typeface="Arial" panose="020B0604020202020204"/>
                <a:cs typeface="Arial" panose="020B0604020202020204"/>
              </a:rPr>
              <a:t>is</a:t>
            </a:r>
            <a:r>
              <a:rPr sz="2000" spc="-5" dirty="0">
                <a:latin typeface="Arial" panose="020B0604020202020204"/>
                <a:cs typeface="Arial" panose="020B0604020202020204"/>
              </a:rPr>
              <a:t> </a:t>
            </a:r>
            <a:r>
              <a:rPr sz="2000" dirty="0">
                <a:latin typeface="Arial" panose="020B0604020202020204"/>
                <a:cs typeface="Arial" panose="020B0604020202020204"/>
              </a:rPr>
              <a:t>given</a:t>
            </a:r>
            <a:r>
              <a:rPr sz="2000" spc="-5" dirty="0">
                <a:latin typeface="Arial" panose="020B0604020202020204"/>
                <a:cs typeface="Arial" panose="020B0604020202020204"/>
              </a:rPr>
              <a:t> </a:t>
            </a:r>
            <a:r>
              <a:rPr sz="2000" dirty="0">
                <a:latin typeface="Arial" panose="020B0604020202020204"/>
                <a:cs typeface="Arial" panose="020B0604020202020204"/>
              </a:rPr>
              <a:t>a score</a:t>
            </a:r>
            <a:endParaRPr sz="2000">
              <a:latin typeface="Arial" panose="020B0604020202020204"/>
              <a:cs typeface="Arial" panose="020B0604020202020204"/>
            </a:endParaRPr>
          </a:p>
          <a:p>
            <a:pPr marL="12700" marR="41275">
              <a:lnSpc>
                <a:spcPct val="100000"/>
              </a:lnSpc>
              <a:spcBef>
                <a:spcPts val="600"/>
              </a:spcBef>
            </a:pPr>
            <a:r>
              <a:rPr sz="2400" dirty="0">
                <a:latin typeface="Arial" panose="020B0604020202020204"/>
                <a:cs typeface="Arial" panose="020B0604020202020204"/>
              </a:rPr>
              <a:t>A</a:t>
            </a:r>
            <a:r>
              <a:rPr sz="2400" spc="-145" dirty="0">
                <a:latin typeface="Arial" panose="020B0604020202020204"/>
                <a:cs typeface="Arial" panose="020B0604020202020204"/>
              </a:rPr>
              <a:t> </a:t>
            </a:r>
            <a:r>
              <a:rPr sz="2400" spc="-5" dirty="0">
                <a:latin typeface="Arial" panose="020B0604020202020204"/>
                <a:cs typeface="Arial" panose="020B0604020202020204"/>
              </a:rPr>
              <a:t>simpler</a:t>
            </a:r>
            <a:r>
              <a:rPr sz="2400" dirty="0">
                <a:latin typeface="Arial" panose="020B0604020202020204"/>
                <a:cs typeface="Arial" panose="020B0604020202020204"/>
              </a:rPr>
              <a:t> </a:t>
            </a:r>
            <a:r>
              <a:rPr sz="2400" spc="-5" dirty="0">
                <a:latin typeface="Arial" panose="020B0604020202020204"/>
                <a:cs typeface="Arial" panose="020B0604020202020204"/>
              </a:rPr>
              <a:t>unitary</a:t>
            </a:r>
            <a:r>
              <a:rPr sz="2400" spc="-10" dirty="0">
                <a:latin typeface="Arial" panose="020B0604020202020204"/>
                <a:cs typeface="Arial" panose="020B0604020202020204"/>
              </a:rPr>
              <a:t> </a:t>
            </a:r>
            <a:r>
              <a:rPr sz="2400" spc="-5" dirty="0">
                <a:latin typeface="Arial" panose="020B0604020202020204"/>
                <a:cs typeface="Arial" panose="020B0604020202020204"/>
              </a:rPr>
              <a:t>matrix is</a:t>
            </a:r>
            <a:r>
              <a:rPr sz="2400" spc="-10" dirty="0">
                <a:latin typeface="Arial" panose="020B0604020202020204"/>
                <a:cs typeface="Arial" panose="020B0604020202020204"/>
              </a:rPr>
              <a:t> </a:t>
            </a:r>
            <a:r>
              <a:rPr sz="2400" spc="-5" dirty="0">
                <a:latin typeface="Arial" panose="020B0604020202020204"/>
                <a:cs typeface="Arial" panose="020B0604020202020204"/>
              </a:rPr>
              <a:t>used </a:t>
            </a:r>
            <a:r>
              <a:rPr sz="2400" spc="-655" dirty="0">
                <a:latin typeface="Arial" panose="020B0604020202020204"/>
                <a:cs typeface="Arial" panose="020B0604020202020204"/>
              </a:rPr>
              <a:t> </a:t>
            </a:r>
            <a:r>
              <a:rPr sz="2400" dirty="0">
                <a:latin typeface="Arial" panose="020B0604020202020204"/>
                <a:cs typeface="Arial" panose="020B0604020202020204"/>
              </a:rPr>
              <a:t>for</a:t>
            </a:r>
            <a:r>
              <a:rPr sz="2400" spc="-5" dirty="0">
                <a:latin typeface="Arial" panose="020B0604020202020204"/>
                <a:cs typeface="Arial" panose="020B0604020202020204"/>
              </a:rPr>
              <a:t> DNA</a:t>
            </a:r>
            <a:r>
              <a:rPr sz="2400" spc="-145" dirty="0">
                <a:latin typeface="Arial" panose="020B0604020202020204"/>
                <a:cs typeface="Arial" panose="020B0604020202020204"/>
              </a:rPr>
              <a:t> </a:t>
            </a:r>
            <a:r>
              <a:rPr sz="2400" spc="-5" dirty="0">
                <a:latin typeface="Arial" panose="020B0604020202020204"/>
                <a:cs typeface="Arial" panose="020B0604020202020204"/>
              </a:rPr>
              <a:t>pairs</a:t>
            </a:r>
            <a:endParaRPr sz="2400">
              <a:latin typeface="Arial" panose="020B0604020202020204"/>
              <a:cs typeface="Arial" panose="020B0604020202020204"/>
            </a:endParaRPr>
          </a:p>
        </p:txBody>
      </p:sp>
      <p:sp>
        <p:nvSpPr>
          <p:cNvPr id="7" name="object 7"/>
          <p:cNvSpPr txBox="1"/>
          <p:nvPr/>
        </p:nvSpPr>
        <p:spPr>
          <a:xfrm>
            <a:off x="560069" y="378587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8" name="object 8"/>
          <p:cNvSpPr txBox="1"/>
          <p:nvPr/>
        </p:nvSpPr>
        <p:spPr>
          <a:xfrm>
            <a:off x="991869" y="456565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9" name="object 9"/>
          <p:cNvSpPr txBox="1"/>
          <p:nvPr/>
        </p:nvSpPr>
        <p:spPr>
          <a:xfrm>
            <a:off x="1315720" y="4493259"/>
            <a:ext cx="3944620" cy="9398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Arial" panose="020B0604020202020204"/>
                <a:cs typeface="Arial" panose="020B0604020202020204"/>
              </a:rPr>
              <a:t>each</a:t>
            </a:r>
            <a:r>
              <a:rPr sz="2000" spc="-10" dirty="0">
                <a:latin typeface="Arial" panose="020B0604020202020204"/>
                <a:cs typeface="Arial" panose="020B0604020202020204"/>
              </a:rPr>
              <a:t> </a:t>
            </a:r>
            <a:r>
              <a:rPr sz="2000" dirty="0">
                <a:latin typeface="Arial" panose="020B0604020202020204"/>
                <a:cs typeface="Arial" panose="020B0604020202020204"/>
              </a:rPr>
              <a:t>position</a:t>
            </a:r>
            <a:r>
              <a:rPr sz="2000" spc="-10" dirty="0">
                <a:latin typeface="Arial" panose="020B0604020202020204"/>
                <a:cs typeface="Arial" panose="020B0604020202020204"/>
              </a:rPr>
              <a:t> </a:t>
            </a:r>
            <a:r>
              <a:rPr sz="2000" dirty="0">
                <a:latin typeface="Arial" panose="020B0604020202020204"/>
                <a:cs typeface="Arial" panose="020B0604020202020204"/>
              </a:rPr>
              <a:t>can</a:t>
            </a:r>
            <a:r>
              <a:rPr sz="2000" spc="-10" dirty="0">
                <a:latin typeface="Arial" panose="020B0604020202020204"/>
                <a:cs typeface="Arial" panose="020B0604020202020204"/>
              </a:rPr>
              <a:t> </a:t>
            </a:r>
            <a:r>
              <a:rPr sz="2000" spc="-5" dirty="0">
                <a:latin typeface="Arial" panose="020B0604020202020204"/>
                <a:cs typeface="Arial" panose="020B0604020202020204"/>
              </a:rPr>
              <a:t>be</a:t>
            </a:r>
            <a:r>
              <a:rPr sz="2000" spc="-10" dirty="0">
                <a:latin typeface="Arial" panose="020B0604020202020204"/>
                <a:cs typeface="Arial" panose="020B0604020202020204"/>
              </a:rPr>
              <a:t> </a:t>
            </a:r>
            <a:r>
              <a:rPr sz="2000" dirty="0">
                <a:latin typeface="Arial" panose="020B0604020202020204"/>
                <a:cs typeface="Arial" panose="020B0604020202020204"/>
              </a:rPr>
              <a:t>given</a:t>
            </a:r>
            <a:r>
              <a:rPr sz="2000" spc="-10" dirty="0">
                <a:latin typeface="Arial" panose="020B0604020202020204"/>
                <a:cs typeface="Arial" panose="020B0604020202020204"/>
              </a:rPr>
              <a:t> </a:t>
            </a:r>
            <a:r>
              <a:rPr sz="2000" dirty="0">
                <a:latin typeface="Arial" panose="020B0604020202020204"/>
                <a:cs typeface="Arial" panose="020B0604020202020204"/>
              </a:rPr>
              <a:t>a</a:t>
            </a:r>
            <a:r>
              <a:rPr sz="2000" spc="-15" dirty="0">
                <a:latin typeface="Arial" panose="020B0604020202020204"/>
                <a:cs typeface="Arial" panose="020B0604020202020204"/>
              </a:rPr>
              <a:t> </a:t>
            </a:r>
            <a:r>
              <a:rPr sz="2000" dirty="0">
                <a:latin typeface="Arial" panose="020B0604020202020204"/>
                <a:cs typeface="Arial" panose="020B0604020202020204"/>
              </a:rPr>
              <a:t>score </a:t>
            </a:r>
            <a:r>
              <a:rPr sz="2000" spc="-540" dirty="0">
                <a:latin typeface="Arial" panose="020B0604020202020204"/>
                <a:cs typeface="Arial" panose="020B0604020202020204"/>
              </a:rPr>
              <a:t> </a:t>
            </a:r>
            <a:r>
              <a:rPr sz="2000" dirty="0">
                <a:latin typeface="Arial" panose="020B0604020202020204"/>
                <a:cs typeface="Arial" panose="020B0604020202020204"/>
              </a:rPr>
              <a:t>of</a:t>
            </a:r>
            <a:r>
              <a:rPr sz="2000" spc="-20" dirty="0">
                <a:latin typeface="Arial" panose="020B0604020202020204"/>
                <a:cs typeface="Arial" panose="020B0604020202020204"/>
              </a:rPr>
              <a:t> </a:t>
            </a:r>
            <a:r>
              <a:rPr sz="2000" spc="5" dirty="0">
                <a:latin typeface="Arial" panose="020B0604020202020204"/>
                <a:cs typeface="Arial" panose="020B0604020202020204"/>
              </a:rPr>
              <a:t>+1</a:t>
            </a:r>
            <a:r>
              <a:rPr sz="2000" spc="-5" dirty="0">
                <a:latin typeface="Arial" panose="020B0604020202020204"/>
                <a:cs typeface="Arial" panose="020B0604020202020204"/>
              </a:rPr>
              <a:t> if</a:t>
            </a:r>
            <a:r>
              <a:rPr sz="2000" spc="-10" dirty="0">
                <a:latin typeface="Arial" panose="020B0604020202020204"/>
                <a:cs typeface="Arial" panose="020B0604020202020204"/>
              </a:rPr>
              <a:t> </a:t>
            </a:r>
            <a:r>
              <a:rPr sz="2000" spc="-5" dirty="0">
                <a:latin typeface="Arial" panose="020B0604020202020204"/>
                <a:cs typeface="Arial" panose="020B0604020202020204"/>
              </a:rPr>
              <a:t>it</a:t>
            </a:r>
            <a:r>
              <a:rPr sz="2000" spc="-10" dirty="0">
                <a:latin typeface="Arial" panose="020B0604020202020204"/>
                <a:cs typeface="Arial" panose="020B0604020202020204"/>
              </a:rPr>
              <a:t> </a:t>
            </a:r>
            <a:r>
              <a:rPr sz="2000" spc="-5" dirty="0">
                <a:latin typeface="Arial" panose="020B0604020202020204"/>
                <a:cs typeface="Arial" panose="020B0604020202020204"/>
              </a:rPr>
              <a:t>matches</a:t>
            </a:r>
            <a:r>
              <a:rPr sz="2000" dirty="0">
                <a:latin typeface="Arial" panose="020B0604020202020204"/>
                <a:cs typeface="Arial" panose="020B0604020202020204"/>
              </a:rPr>
              <a:t> and</a:t>
            </a:r>
            <a:r>
              <a:rPr sz="2000" spc="-5" dirty="0">
                <a:latin typeface="Arial" panose="020B0604020202020204"/>
                <a:cs typeface="Arial" panose="020B0604020202020204"/>
              </a:rPr>
              <a:t> </a:t>
            </a:r>
            <a:r>
              <a:rPr sz="2000" dirty="0">
                <a:latin typeface="Arial" panose="020B0604020202020204"/>
                <a:cs typeface="Arial" panose="020B0604020202020204"/>
              </a:rPr>
              <a:t>a</a:t>
            </a:r>
            <a:r>
              <a:rPr sz="2000" spc="-5" dirty="0">
                <a:latin typeface="Arial" panose="020B0604020202020204"/>
                <a:cs typeface="Arial" panose="020B0604020202020204"/>
              </a:rPr>
              <a:t> </a:t>
            </a:r>
            <a:r>
              <a:rPr sz="2000" dirty="0">
                <a:latin typeface="Arial" panose="020B0604020202020204"/>
                <a:cs typeface="Arial" panose="020B0604020202020204"/>
              </a:rPr>
              <a:t>score</a:t>
            </a:r>
            <a:r>
              <a:rPr sz="2000" spc="-5" dirty="0">
                <a:latin typeface="Arial" panose="020B0604020202020204"/>
                <a:cs typeface="Arial" panose="020B0604020202020204"/>
              </a:rPr>
              <a:t> </a:t>
            </a:r>
            <a:r>
              <a:rPr sz="2000" dirty="0">
                <a:latin typeface="Arial" panose="020B0604020202020204"/>
                <a:cs typeface="Arial" panose="020B0604020202020204"/>
              </a:rPr>
              <a:t>of</a:t>
            </a:r>
            <a:endParaRPr sz="2000">
              <a:latin typeface="Arial" panose="020B0604020202020204"/>
              <a:cs typeface="Arial" panose="020B0604020202020204"/>
            </a:endParaRPr>
          </a:p>
          <a:p>
            <a:pPr marL="12700">
              <a:lnSpc>
                <a:spcPct val="100000"/>
              </a:lnSpc>
            </a:pPr>
            <a:r>
              <a:rPr sz="2000" spc="5" dirty="0">
                <a:latin typeface="Arial" panose="020B0604020202020204"/>
                <a:cs typeface="Arial" panose="020B0604020202020204"/>
              </a:rPr>
              <a:t>-1</a:t>
            </a:r>
            <a:r>
              <a:rPr sz="2000" spc="-20" dirty="0">
                <a:latin typeface="Arial" panose="020B0604020202020204"/>
                <a:cs typeface="Arial" panose="020B0604020202020204"/>
              </a:rPr>
              <a:t> </a:t>
            </a:r>
            <a:r>
              <a:rPr sz="2000" spc="-5" dirty="0">
                <a:latin typeface="Arial" panose="020B0604020202020204"/>
                <a:cs typeface="Arial" panose="020B0604020202020204"/>
              </a:rPr>
              <a:t>if</a:t>
            </a:r>
            <a:r>
              <a:rPr sz="2000" spc="-30" dirty="0">
                <a:latin typeface="Arial" panose="020B0604020202020204"/>
                <a:cs typeface="Arial" panose="020B0604020202020204"/>
              </a:rPr>
              <a:t> </a:t>
            </a:r>
            <a:r>
              <a:rPr sz="2000" dirty="0">
                <a:latin typeface="Arial" panose="020B0604020202020204"/>
                <a:cs typeface="Arial" panose="020B0604020202020204"/>
              </a:rPr>
              <a:t>it</a:t>
            </a:r>
            <a:r>
              <a:rPr sz="2000" spc="-30" dirty="0">
                <a:latin typeface="Arial" panose="020B0604020202020204"/>
                <a:cs typeface="Arial" panose="020B0604020202020204"/>
              </a:rPr>
              <a:t> </a:t>
            </a:r>
            <a:r>
              <a:rPr sz="2000" dirty="0">
                <a:latin typeface="Arial" panose="020B0604020202020204"/>
                <a:cs typeface="Arial" panose="020B0604020202020204"/>
              </a:rPr>
              <a:t>does</a:t>
            </a:r>
            <a:r>
              <a:rPr sz="2000" spc="-15" dirty="0">
                <a:latin typeface="Arial" panose="020B0604020202020204"/>
                <a:cs typeface="Arial" panose="020B0604020202020204"/>
              </a:rPr>
              <a:t> </a:t>
            </a:r>
            <a:r>
              <a:rPr sz="2000" spc="-5" dirty="0">
                <a:latin typeface="Arial" panose="020B0604020202020204"/>
                <a:cs typeface="Arial" panose="020B0604020202020204"/>
              </a:rPr>
              <a:t>not.</a:t>
            </a:r>
            <a:endParaRPr sz="2000">
              <a:latin typeface="Arial" panose="020B0604020202020204"/>
              <a:cs typeface="Arial" panose="020B0604020202020204"/>
            </a:endParaRPr>
          </a:p>
        </p:txBody>
      </p:sp>
      <p:pic>
        <p:nvPicPr>
          <p:cNvPr id="10" name="object 10"/>
          <p:cNvPicPr/>
          <p:nvPr/>
        </p:nvPicPr>
        <p:blipFill>
          <a:blip r:embed="rId2" cstate="print"/>
          <a:stretch>
            <a:fillRect/>
          </a:stretch>
        </p:blipFill>
        <p:spPr>
          <a:xfrm>
            <a:off x="5425440" y="2350770"/>
            <a:ext cx="4189729" cy="4199890"/>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6070" y="953770"/>
            <a:ext cx="4582160" cy="695960"/>
          </a:xfrm>
          <a:prstGeom prst="rect">
            <a:avLst/>
          </a:prstGeom>
        </p:spPr>
        <p:txBody>
          <a:bodyPr vert="horz" wrap="square" lIns="0" tIns="12700" rIns="0" bIns="0" rtlCol="0">
            <a:spAutoFit/>
          </a:bodyPr>
          <a:lstStyle/>
          <a:p>
            <a:pPr marL="12700">
              <a:lnSpc>
                <a:spcPct val="100000"/>
              </a:lnSpc>
              <a:spcBef>
                <a:spcPts val="100"/>
              </a:spcBef>
            </a:pPr>
            <a:r>
              <a:rPr sz="4400" spc="-5" dirty="0"/>
              <a:t>BLOSUM</a:t>
            </a:r>
            <a:r>
              <a:rPr sz="4400" spc="-40" dirty="0"/>
              <a:t> </a:t>
            </a:r>
            <a:r>
              <a:rPr sz="4400" dirty="0"/>
              <a:t>vs.</a:t>
            </a:r>
            <a:r>
              <a:rPr sz="4400" spc="-35" dirty="0"/>
              <a:t> </a:t>
            </a:r>
            <a:r>
              <a:rPr sz="4400" spc="-110" dirty="0"/>
              <a:t>PAM</a:t>
            </a:r>
            <a:endParaRPr sz="4400"/>
          </a:p>
        </p:txBody>
      </p:sp>
      <p:grpSp>
        <p:nvGrpSpPr>
          <p:cNvPr id="3" name="object 3"/>
          <p:cNvGrpSpPr/>
          <p:nvPr/>
        </p:nvGrpSpPr>
        <p:grpSpPr>
          <a:xfrm>
            <a:off x="483869" y="1577339"/>
            <a:ext cx="8858250" cy="1885950"/>
            <a:chOff x="483869" y="1577339"/>
            <a:chExt cx="8858250" cy="1885950"/>
          </a:xfrm>
        </p:grpSpPr>
        <p:sp>
          <p:nvSpPr>
            <p:cNvPr id="4" name="object 4"/>
            <p:cNvSpPr/>
            <p:nvPr/>
          </p:nvSpPr>
          <p:spPr>
            <a:xfrm>
              <a:off x="502919" y="1596389"/>
              <a:ext cx="8820150" cy="1847850"/>
            </a:xfrm>
            <a:custGeom>
              <a:avLst/>
              <a:gdLst/>
              <a:ahLst/>
              <a:cxnLst/>
              <a:rect l="l" t="t" r="r" b="b"/>
              <a:pathLst>
                <a:path w="8820150" h="1847850">
                  <a:moveTo>
                    <a:pt x="8820150" y="0"/>
                  </a:moveTo>
                  <a:lnTo>
                    <a:pt x="0" y="0"/>
                  </a:lnTo>
                  <a:lnTo>
                    <a:pt x="0" y="1847850"/>
                  </a:lnTo>
                  <a:lnTo>
                    <a:pt x="4410709" y="1847850"/>
                  </a:lnTo>
                  <a:lnTo>
                    <a:pt x="8820150" y="1847850"/>
                  </a:lnTo>
                  <a:lnTo>
                    <a:pt x="8820150" y="0"/>
                  </a:lnTo>
                  <a:close/>
                </a:path>
              </a:pathLst>
            </a:custGeom>
            <a:solidFill>
              <a:srgbClr val="F7F7F7"/>
            </a:solidFill>
          </p:spPr>
          <p:txBody>
            <a:bodyPr wrap="square" lIns="0" tIns="0" rIns="0" bIns="0" rtlCol="0"/>
            <a:lstStyle/>
            <a:p>
              <a:endParaRPr/>
            </a:p>
          </p:txBody>
        </p:sp>
        <p:sp>
          <p:nvSpPr>
            <p:cNvPr id="5" name="object 5"/>
            <p:cNvSpPr/>
            <p:nvPr/>
          </p:nvSpPr>
          <p:spPr>
            <a:xfrm>
              <a:off x="502919" y="1596389"/>
              <a:ext cx="8820150" cy="1847850"/>
            </a:xfrm>
            <a:custGeom>
              <a:avLst/>
              <a:gdLst/>
              <a:ahLst/>
              <a:cxnLst/>
              <a:rect l="l" t="t" r="r" b="b"/>
              <a:pathLst>
                <a:path w="8820150" h="1847850">
                  <a:moveTo>
                    <a:pt x="4410709" y="1847850"/>
                  </a:moveTo>
                  <a:lnTo>
                    <a:pt x="0" y="1847850"/>
                  </a:lnTo>
                  <a:lnTo>
                    <a:pt x="0" y="0"/>
                  </a:lnTo>
                  <a:lnTo>
                    <a:pt x="8820150" y="0"/>
                  </a:lnTo>
                  <a:lnTo>
                    <a:pt x="8820150" y="1847850"/>
                  </a:lnTo>
                  <a:lnTo>
                    <a:pt x="4410709" y="1847850"/>
                  </a:lnTo>
                  <a:close/>
                </a:path>
              </a:pathLst>
            </a:custGeom>
            <a:ln w="38097">
              <a:solidFill>
                <a:srgbClr val="3333CC"/>
              </a:solidFill>
            </a:ln>
          </p:spPr>
          <p:txBody>
            <a:bodyPr wrap="square" lIns="0" tIns="0" rIns="0" bIns="0" rtlCol="0"/>
            <a:lstStyle/>
            <a:p>
              <a:endParaRPr/>
            </a:p>
          </p:txBody>
        </p:sp>
      </p:grpSp>
      <p:sp>
        <p:nvSpPr>
          <p:cNvPr id="6" name="object 6"/>
          <p:cNvSpPr txBox="1"/>
          <p:nvPr/>
        </p:nvSpPr>
        <p:spPr>
          <a:xfrm>
            <a:off x="3323590" y="1555749"/>
            <a:ext cx="1767205" cy="906780"/>
          </a:xfrm>
          <a:prstGeom prst="rect">
            <a:avLst/>
          </a:prstGeom>
        </p:spPr>
        <p:txBody>
          <a:bodyPr vert="horz" wrap="square" lIns="0" tIns="87630" rIns="0" bIns="0" rtlCol="0">
            <a:spAutoFit/>
          </a:bodyPr>
          <a:lstStyle/>
          <a:p>
            <a:pPr marL="12700">
              <a:lnSpc>
                <a:spcPct val="100000"/>
              </a:lnSpc>
              <a:spcBef>
                <a:spcPts val="690"/>
              </a:spcBef>
            </a:pPr>
            <a:r>
              <a:rPr sz="2400" b="1" spc="-5" dirty="0">
                <a:solidFill>
                  <a:srgbClr val="191919"/>
                </a:solidFill>
                <a:latin typeface="Arial" panose="020B0604020202020204"/>
                <a:cs typeface="Arial" panose="020B0604020202020204"/>
              </a:rPr>
              <a:t>BLOSUM</a:t>
            </a:r>
            <a:r>
              <a:rPr sz="2400" b="1" spc="-85" dirty="0">
                <a:solidFill>
                  <a:srgbClr val="191919"/>
                </a:solidFill>
                <a:latin typeface="Arial" panose="020B0604020202020204"/>
                <a:cs typeface="Arial" panose="020B0604020202020204"/>
              </a:rPr>
              <a:t> </a:t>
            </a:r>
            <a:r>
              <a:rPr sz="2400" b="1" spc="-5" dirty="0">
                <a:solidFill>
                  <a:srgbClr val="191919"/>
                </a:solidFill>
                <a:latin typeface="Arial" panose="020B0604020202020204"/>
                <a:cs typeface="Arial" panose="020B0604020202020204"/>
              </a:rPr>
              <a:t>62</a:t>
            </a:r>
            <a:endParaRPr sz="2400">
              <a:latin typeface="Arial" panose="020B0604020202020204"/>
              <a:cs typeface="Arial" panose="020B0604020202020204"/>
            </a:endParaRPr>
          </a:p>
          <a:p>
            <a:pPr marL="12700">
              <a:lnSpc>
                <a:spcPct val="100000"/>
              </a:lnSpc>
              <a:spcBef>
                <a:spcPts val="590"/>
              </a:spcBef>
            </a:pPr>
            <a:r>
              <a:rPr sz="2400" b="1" spc="-65" dirty="0">
                <a:solidFill>
                  <a:srgbClr val="191919"/>
                </a:solidFill>
                <a:latin typeface="Arial" panose="020B0604020202020204"/>
                <a:cs typeface="Arial" panose="020B0604020202020204"/>
              </a:rPr>
              <a:t>PAM</a:t>
            </a:r>
            <a:r>
              <a:rPr sz="2400" b="1" spc="-35" dirty="0">
                <a:solidFill>
                  <a:srgbClr val="191919"/>
                </a:solidFill>
                <a:latin typeface="Arial" panose="020B0604020202020204"/>
                <a:cs typeface="Arial" panose="020B0604020202020204"/>
              </a:rPr>
              <a:t> </a:t>
            </a:r>
            <a:r>
              <a:rPr sz="2400" b="1" spc="-10" dirty="0">
                <a:solidFill>
                  <a:srgbClr val="191919"/>
                </a:solidFill>
                <a:latin typeface="Arial" panose="020B0604020202020204"/>
                <a:cs typeface="Arial" panose="020B0604020202020204"/>
              </a:rPr>
              <a:t>160</a:t>
            </a:r>
            <a:endParaRPr sz="2400">
              <a:latin typeface="Arial" panose="020B0604020202020204"/>
              <a:cs typeface="Arial" panose="020B0604020202020204"/>
            </a:endParaRPr>
          </a:p>
        </p:txBody>
      </p:sp>
      <p:sp>
        <p:nvSpPr>
          <p:cNvPr id="7" name="object 7"/>
          <p:cNvSpPr txBox="1"/>
          <p:nvPr/>
        </p:nvSpPr>
        <p:spPr>
          <a:xfrm>
            <a:off x="580390" y="1555749"/>
            <a:ext cx="1875789" cy="1275080"/>
          </a:xfrm>
          <a:prstGeom prst="rect">
            <a:avLst/>
          </a:prstGeom>
        </p:spPr>
        <p:txBody>
          <a:bodyPr vert="horz" wrap="square" lIns="0" tIns="87630" rIns="0" bIns="0" rtlCol="0">
            <a:spAutoFit/>
          </a:bodyPr>
          <a:lstStyle/>
          <a:p>
            <a:pPr marL="12700">
              <a:lnSpc>
                <a:spcPct val="100000"/>
              </a:lnSpc>
              <a:spcBef>
                <a:spcPts val="690"/>
              </a:spcBef>
            </a:pPr>
            <a:r>
              <a:rPr sz="2400" b="1" spc="-5" dirty="0">
                <a:solidFill>
                  <a:srgbClr val="191919"/>
                </a:solidFill>
                <a:latin typeface="Arial" panose="020B0604020202020204"/>
                <a:cs typeface="Arial" panose="020B0604020202020204"/>
              </a:rPr>
              <a:t>BLOSUM</a:t>
            </a:r>
            <a:r>
              <a:rPr sz="2400" b="1" spc="-35" dirty="0">
                <a:solidFill>
                  <a:srgbClr val="191919"/>
                </a:solidFill>
                <a:latin typeface="Arial" panose="020B0604020202020204"/>
                <a:cs typeface="Arial" panose="020B0604020202020204"/>
              </a:rPr>
              <a:t> </a:t>
            </a:r>
            <a:r>
              <a:rPr sz="2400" b="1" spc="-5" dirty="0">
                <a:solidFill>
                  <a:srgbClr val="191919"/>
                </a:solidFill>
                <a:latin typeface="Arial" panose="020B0604020202020204"/>
                <a:cs typeface="Arial" panose="020B0604020202020204"/>
              </a:rPr>
              <a:t>45</a:t>
            </a:r>
            <a:endParaRPr sz="2400">
              <a:latin typeface="Arial" panose="020B0604020202020204"/>
              <a:cs typeface="Arial" panose="020B0604020202020204"/>
            </a:endParaRPr>
          </a:p>
          <a:p>
            <a:pPr marL="12700">
              <a:lnSpc>
                <a:spcPct val="100000"/>
              </a:lnSpc>
              <a:spcBef>
                <a:spcPts val="590"/>
              </a:spcBef>
            </a:pPr>
            <a:r>
              <a:rPr sz="2400" b="1" spc="-65" dirty="0">
                <a:solidFill>
                  <a:srgbClr val="191919"/>
                </a:solidFill>
                <a:latin typeface="Arial" panose="020B0604020202020204"/>
                <a:cs typeface="Arial" panose="020B0604020202020204"/>
              </a:rPr>
              <a:t>PAM</a:t>
            </a:r>
            <a:r>
              <a:rPr sz="2400" b="1" spc="-40" dirty="0">
                <a:solidFill>
                  <a:srgbClr val="191919"/>
                </a:solidFill>
                <a:latin typeface="Arial" panose="020B0604020202020204"/>
                <a:cs typeface="Arial" panose="020B0604020202020204"/>
              </a:rPr>
              <a:t> </a:t>
            </a:r>
            <a:r>
              <a:rPr sz="2400" b="1" spc="-5" dirty="0">
                <a:solidFill>
                  <a:srgbClr val="191919"/>
                </a:solidFill>
                <a:latin typeface="Arial" panose="020B0604020202020204"/>
                <a:cs typeface="Arial" panose="020B0604020202020204"/>
              </a:rPr>
              <a:t>250</a:t>
            </a:r>
            <a:endParaRPr sz="2400">
              <a:latin typeface="Arial" panose="020B0604020202020204"/>
              <a:cs typeface="Arial" panose="020B0604020202020204"/>
            </a:endParaRPr>
          </a:p>
          <a:p>
            <a:pPr marL="12700">
              <a:lnSpc>
                <a:spcPct val="100000"/>
              </a:lnSpc>
              <a:spcBef>
                <a:spcPts val="500"/>
              </a:spcBef>
            </a:pPr>
            <a:r>
              <a:rPr sz="2000" b="1" i="1" spc="-5" dirty="0">
                <a:solidFill>
                  <a:srgbClr val="3333CC"/>
                </a:solidFill>
                <a:latin typeface="Arial" panose="020B0604020202020204"/>
                <a:cs typeface="Arial" panose="020B0604020202020204"/>
              </a:rPr>
              <a:t>More</a:t>
            </a:r>
            <a:r>
              <a:rPr sz="2000" b="1" i="1" spc="-55" dirty="0">
                <a:solidFill>
                  <a:srgbClr val="3333CC"/>
                </a:solidFill>
                <a:latin typeface="Arial" panose="020B0604020202020204"/>
                <a:cs typeface="Arial" panose="020B0604020202020204"/>
              </a:rPr>
              <a:t> </a:t>
            </a:r>
            <a:r>
              <a:rPr sz="2000" b="1" i="1" spc="-5" dirty="0">
                <a:solidFill>
                  <a:srgbClr val="3333CC"/>
                </a:solidFill>
                <a:latin typeface="Arial" panose="020B0604020202020204"/>
                <a:cs typeface="Arial" panose="020B0604020202020204"/>
              </a:rPr>
              <a:t>Divergent</a:t>
            </a:r>
            <a:endParaRPr sz="2000">
              <a:latin typeface="Arial" panose="020B0604020202020204"/>
              <a:cs typeface="Arial" panose="020B0604020202020204"/>
            </a:endParaRPr>
          </a:p>
        </p:txBody>
      </p:sp>
      <p:sp>
        <p:nvSpPr>
          <p:cNvPr id="8" name="object 8"/>
          <p:cNvSpPr txBox="1"/>
          <p:nvPr/>
        </p:nvSpPr>
        <p:spPr>
          <a:xfrm>
            <a:off x="6066790" y="1555749"/>
            <a:ext cx="1848485" cy="1275080"/>
          </a:xfrm>
          <a:prstGeom prst="rect">
            <a:avLst/>
          </a:prstGeom>
        </p:spPr>
        <p:txBody>
          <a:bodyPr vert="horz" wrap="square" lIns="0" tIns="87630" rIns="0" bIns="0" rtlCol="0">
            <a:spAutoFit/>
          </a:bodyPr>
          <a:lstStyle/>
          <a:p>
            <a:pPr marL="12700">
              <a:lnSpc>
                <a:spcPct val="100000"/>
              </a:lnSpc>
              <a:spcBef>
                <a:spcPts val="690"/>
              </a:spcBef>
            </a:pPr>
            <a:r>
              <a:rPr sz="2400" b="1" spc="-5" dirty="0">
                <a:solidFill>
                  <a:srgbClr val="191919"/>
                </a:solidFill>
                <a:latin typeface="Arial" panose="020B0604020202020204"/>
                <a:cs typeface="Arial" panose="020B0604020202020204"/>
              </a:rPr>
              <a:t>BLOSUM</a:t>
            </a:r>
            <a:r>
              <a:rPr sz="2400" b="1" spc="-45" dirty="0">
                <a:solidFill>
                  <a:srgbClr val="191919"/>
                </a:solidFill>
                <a:latin typeface="Arial" panose="020B0604020202020204"/>
                <a:cs typeface="Arial" panose="020B0604020202020204"/>
              </a:rPr>
              <a:t> </a:t>
            </a:r>
            <a:r>
              <a:rPr sz="2400" b="1" spc="-5" dirty="0">
                <a:solidFill>
                  <a:srgbClr val="191919"/>
                </a:solidFill>
                <a:latin typeface="Arial" panose="020B0604020202020204"/>
                <a:cs typeface="Arial" panose="020B0604020202020204"/>
              </a:rPr>
              <a:t>90</a:t>
            </a:r>
            <a:endParaRPr sz="2400">
              <a:latin typeface="Arial" panose="020B0604020202020204"/>
              <a:cs typeface="Arial" panose="020B0604020202020204"/>
            </a:endParaRPr>
          </a:p>
          <a:p>
            <a:pPr marL="12700">
              <a:lnSpc>
                <a:spcPct val="100000"/>
              </a:lnSpc>
              <a:spcBef>
                <a:spcPts val="590"/>
              </a:spcBef>
            </a:pPr>
            <a:r>
              <a:rPr sz="2400" b="1" spc="-65" dirty="0">
                <a:solidFill>
                  <a:srgbClr val="191919"/>
                </a:solidFill>
                <a:latin typeface="Arial" panose="020B0604020202020204"/>
                <a:cs typeface="Arial" panose="020B0604020202020204"/>
              </a:rPr>
              <a:t>PAM</a:t>
            </a:r>
            <a:r>
              <a:rPr sz="2400" b="1" spc="-35" dirty="0">
                <a:solidFill>
                  <a:srgbClr val="191919"/>
                </a:solidFill>
                <a:latin typeface="Arial" panose="020B0604020202020204"/>
                <a:cs typeface="Arial" panose="020B0604020202020204"/>
              </a:rPr>
              <a:t> </a:t>
            </a:r>
            <a:r>
              <a:rPr sz="2400" b="1" spc="-10" dirty="0">
                <a:solidFill>
                  <a:srgbClr val="191919"/>
                </a:solidFill>
                <a:latin typeface="Arial" panose="020B0604020202020204"/>
                <a:cs typeface="Arial" panose="020B0604020202020204"/>
              </a:rPr>
              <a:t>100</a:t>
            </a:r>
            <a:endParaRPr sz="2400">
              <a:latin typeface="Arial" panose="020B0604020202020204"/>
              <a:cs typeface="Arial" panose="020B0604020202020204"/>
            </a:endParaRPr>
          </a:p>
          <a:p>
            <a:pPr marL="12700">
              <a:lnSpc>
                <a:spcPct val="100000"/>
              </a:lnSpc>
              <a:spcBef>
                <a:spcPts val="500"/>
              </a:spcBef>
            </a:pPr>
            <a:r>
              <a:rPr sz="2000" b="1" i="1" spc="-5" dirty="0">
                <a:solidFill>
                  <a:srgbClr val="3333CC"/>
                </a:solidFill>
                <a:latin typeface="Arial" panose="020B0604020202020204"/>
                <a:cs typeface="Arial" panose="020B0604020202020204"/>
              </a:rPr>
              <a:t>Less</a:t>
            </a:r>
            <a:r>
              <a:rPr sz="2000" b="1" i="1" spc="-50" dirty="0">
                <a:solidFill>
                  <a:srgbClr val="3333CC"/>
                </a:solidFill>
                <a:latin typeface="Arial" panose="020B0604020202020204"/>
                <a:cs typeface="Arial" panose="020B0604020202020204"/>
              </a:rPr>
              <a:t> </a:t>
            </a:r>
            <a:r>
              <a:rPr sz="2000" b="1" i="1" spc="-5" dirty="0">
                <a:solidFill>
                  <a:srgbClr val="3333CC"/>
                </a:solidFill>
                <a:latin typeface="Arial" panose="020B0604020202020204"/>
                <a:cs typeface="Arial" panose="020B0604020202020204"/>
              </a:rPr>
              <a:t>Divergent</a:t>
            </a:r>
            <a:endParaRPr sz="2000">
              <a:latin typeface="Arial" panose="020B0604020202020204"/>
              <a:cs typeface="Arial" panose="020B0604020202020204"/>
            </a:endParaRPr>
          </a:p>
        </p:txBody>
      </p:sp>
      <p:grpSp>
        <p:nvGrpSpPr>
          <p:cNvPr id="9" name="object 9"/>
          <p:cNvGrpSpPr/>
          <p:nvPr/>
        </p:nvGrpSpPr>
        <p:grpSpPr>
          <a:xfrm>
            <a:off x="3186837" y="2767737"/>
            <a:ext cx="3286125" cy="428625"/>
            <a:chOff x="3186837" y="2767737"/>
            <a:chExt cx="3286125" cy="428625"/>
          </a:xfrm>
        </p:grpSpPr>
        <p:sp>
          <p:nvSpPr>
            <p:cNvPr id="10" name="object 10"/>
            <p:cNvSpPr/>
            <p:nvPr/>
          </p:nvSpPr>
          <p:spPr>
            <a:xfrm>
              <a:off x="3191509" y="2772409"/>
              <a:ext cx="3276600" cy="419100"/>
            </a:xfrm>
            <a:custGeom>
              <a:avLst/>
              <a:gdLst/>
              <a:ahLst/>
              <a:cxnLst/>
              <a:rect l="l" t="t" r="r" b="b"/>
              <a:pathLst>
                <a:path w="3276600" h="419100">
                  <a:moveTo>
                    <a:pt x="3021329" y="0"/>
                  </a:moveTo>
                  <a:lnTo>
                    <a:pt x="3021329" y="104139"/>
                  </a:lnTo>
                  <a:lnTo>
                    <a:pt x="255269" y="104139"/>
                  </a:lnTo>
                  <a:lnTo>
                    <a:pt x="255269" y="0"/>
                  </a:lnTo>
                  <a:lnTo>
                    <a:pt x="0" y="209550"/>
                  </a:lnTo>
                  <a:lnTo>
                    <a:pt x="255269" y="419100"/>
                  </a:lnTo>
                  <a:lnTo>
                    <a:pt x="255269" y="314960"/>
                  </a:lnTo>
                  <a:lnTo>
                    <a:pt x="3021329" y="314960"/>
                  </a:lnTo>
                  <a:lnTo>
                    <a:pt x="3021329" y="419100"/>
                  </a:lnTo>
                  <a:lnTo>
                    <a:pt x="3276600" y="209550"/>
                  </a:lnTo>
                  <a:lnTo>
                    <a:pt x="3021329" y="0"/>
                  </a:lnTo>
                  <a:close/>
                </a:path>
              </a:pathLst>
            </a:custGeom>
            <a:solidFill>
              <a:srgbClr val="00CC99"/>
            </a:solidFill>
          </p:spPr>
          <p:txBody>
            <a:bodyPr wrap="square" lIns="0" tIns="0" rIns="0" bIns="0" rtlCol="0"/>
            <a:lstStyle/>
            <a:p>
              <a:endParaRPr/>
            </a:p>
          </p:txBody>
        </p:sp>
        <p:sp>
          <p:nvSpPr>
            <p:cNvPr id="11" name="object 11"/>
            <p:cNvSpPr/>
            <p:nvPr/>
          </p:nvSpPr>
          <p:spPr>
            <a:xfrm>
              <a:off x="3191509" y="2772409"/>
              <a:ext cx="3276600" cy="419100"/>
            </a:xfrm>
            <a:custGeom>
              <a:avLst/>
              <a:gdLst/>
              <a:ahLst/>
              <a:cxnLst/>
              <a:rect l="l" t="t" r="r" b="b"/>
              <a:pathLst>
                <a:path w="3276600" h="419100">
                  <a:moveTo>
                    <a:pt x="0" y="209550"/>
                  </a:moveTo>
                  <a:lnTo>
                    <a:pt x="255269" y="0"/>
                  </a:lnTo>
                  <a:lnTo>
                    <a:pt x="255269" y="104139"/>
                  </a:lnTo>
                  <a:lnTo>
                    <a:pt x="3021329" y="104139"/>
                  </a:lnTo>
                  <a:lnTo>
                    <a:pt x="3021329" y="0"/>
                  </a:lnTo>
                  <a:lnTo>
                    <a:pt x="3276600" y="209550"/>
                  </a:lnTo>
                  <a:lnTo>
                    <a:pt x="3021329" y="419100"/>
                  </a:lnTo>
                  <a:lnTo>
                    <a:pt x="3021329" y="314960"/>
                  </a:lnTo>
                  <a:lnTo>
                    <a:pt x="255269" y="314960"/>
                  </a:lnTo>
                  <a:lnTo>
                    <a:pt x="255269" y="419100"/>
                  </a:lnTo>
                  <a:lnTo>
                    <a:pt x="0" y="209550"/>
                  </a:lnTo>
                  <a:close/>
                </a:path>
              </a:pathLst>
            </a:custGeom>
            <a:ln w="9344">
              <a:solidFill>
                <a:srgbClr val="000000"/>
              </a:solidFill>
            </a:ln>
          </p:spPr>
          <p:txBody>
            <a:bodyPr wrap="square" lIns="0" tIns="0" rIns="0" bIns="0" rtlCol="0"/>
            <a:lstStyle/>
            <a:p>
              <a:endParaRPr/>
            </a:p>
          </p:txBody>
        </p:sp>
        <p:sp>
          <p:nvSpPr>
            <p:cNvPr id="12" name="object 12"/>
            <p:cNvSpPr/>
            <p:nvPr/>
          </p:nvSpPr>
          <p:spPr>
            <a:xfrm>
              <a:off x="3186836" y="2767748"/>
              <a:ext cx="3286125" cy="428625"/>
            </a:xfrm>
            <a:custGeom>
              <a:avLst/>
              <a:gdLst/>
              <a:ahLst/>
              <a:cxnLst/>
              <a:rect l="l" t="t" r="r" b="b"/>
              <a:pathLst>
                <a:path w="3286125" h="428625">
                  <a:moveTo>
                    <a:pt x="9334" y="4660"/>
                  </a:moveTo>
                  <a:lnTo>
                    <a:pt x="7975" y="1358"/>
                  </a:lnTo>
                  <a:lnTo>
                    <a:pt x="4673" y="0"/>
                  </a:lnTo>
                  <a:lnTo>
                    <a:pt x="1358" y="1358"/>
                  </a:lnTo>
                  <a:lnTo>
                    <a:pt x="0" y="4660"/>
                  </a:lnTo>
                  <a:lnTo>
                    <a:pt x="1358" y="7975"/>
                  </a:lnTo>
                  <a:lnTo>
                    <a:pt x="4673" y="9334"/>
                  </a:lnTo>
                  <a:lnTo>
                    <a:pt x="7975" y="7975"/>
                  </a:lnTo>
                  <a:lnTo>
                    <a:pt x="9334" y="4660"/>
                  </a:lnTo>
                  <a:close/>
                </a:path>
                <a:path w="3286125" h="428625">
                  <a:moveTo>
                    <a:pt x="3285934" y="423760"/>
                  </a:moveTo>
                  <a:lnTo>
                    <a:pt x="3284575" y="420458"/>
                  </a:lnTo>
                  <a:lnTo>
                    <a:pt x="3281273" y="419100"/>
                  </a:lnTo>
                  <a:lnTo>
                    <a:pt x="3277959" y="420458"/>
                  </a:lnTo>
                  <a:lnTo>
                    <a:pt x="3276600" y="423760"/>
                  </a:lnTo>
                  <a:lnTo>
                    <a:pt x="3277959" y="427075"/>
                  </a:lnTo>
                  <a:lnTo>
                    <a:pt x="3281273" y="428434"/>
                  </a:lnTo>
                  <a:lnTo>
                    <a:pt x="3284575" y="427075"/>
                  </a:lnTo>
                  <a:lnTo>
                    <a:pt x="3285934" y="423760"/>
                  </a:lnTo>
                  <a:close/>
                </a:path>
              </a:pathLst>
            </a:custGeom>
            <a:solidFill>
              <a:srgbClr val="000000"/>
            </a:solidFill>
          </p:spPr>
          <p:txBody>
            <a:bodyPr wrap="square" lIns="0" tIns="0" rIns="0" bIns="0" rtlCol="0"/>
            <a:lstStyle/>
            <a:p>
              <a:endParaRPr/>
            </a:p>
          </p:txBody>
        </p:sp>
      </p:grpSp>
      <p:sp>
        <p:nvSpPr>
          <p:cNvPr id="13" name="object 13"/>
          <p:cNvSpPr txBox="1"/>
          <p:nvPr/>
        </p:nvSpPr>
        <p:spPr>
          <a:xfrm>
            <a:off x="991869" y="4020820"/>
            <a:ext cx="143510" cy="429259"/>
          </a:xfrm>
          <a:prstGeom prst="rect">
            <a:avLst/>
          </a:prstGeom>
        </p:spPr>
        <p:txBody>
          <a:bodyPr vert="horz" wrap="square" lIns="0" tIns="12700" rIns="0" bIns="0" rtlCol="0">
            <a:spAutoFit/>
          </a:bodyPr>
          <a:lstStyle/>
          <a:p>
            <a:pPr marL="12700">
              <a:lnSpc>
                <a:spcPct val="100000"/>
              </a:lnSpc>
              <a:spcBef>
                <a:spcPts val="100"/>
              </a:spcBef>
            </a:pPr>
            <a:r>
              <a:rPr sz="2650" dirty="0">
                <a:solidFill>
                  <a:srgbClr val="FF0000"/>
                </a:solidFill>
                <a:latin typeface="Arial" panose="020B0604020202020204"/>
                <a:cs typeface="Arial" panose="020B0604020202020204"/>
              </a:rPr>
              <a:t>•</a:t>
            </a:r>
            <a:endParaRPr sz="2650">
              <a:latin typeface="Arial" panose="020B0604020202020204"/>
              <a:cs typeface="Arial" panose="020B0604020202020204"/>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17</a:t>
            </a:fld>
            <a:endParaRPr dirty="0"/>
          </a:p>
        </p:txBody>
      </p:sp>
      <p:sp>
        <p:nvSpPr>
          <p:cNvPr id="14" name="object 14"/>
          <p:cNvSpPr txBox="1"/>
          <p:nvPr/>
        </p:nvSpPr>
        <p:spPr>
          <a:xfrm>
            <a:off x="1334769" y="4041140"/>
            <a:ext cx="8016875" cy="1640839"/>
          </a:xfrm>
          <a:prstGeom prst="rect">
            <a:avLst/>
          </a:prstGeom>
        </p:spPr>
        <p:txBody>
          <a:bodyPr vert="horz" wrap="square" lIns="0" tIns="12700" rIns="0" bIns="0" rtlCol="0">
            <a:spAutoFit/>
          </a:bodyPr>
          <a:lstStyle/>
          <a:p>
            <a:pPr marL="12700" marR="5080">
              <a:lnSpc>
                <a:spcPct val="100000"/>
              </a:lnSpc>
              <a:spcBef>
                <a:spcPts val="100"/>
              </a:spcBef>
            </a:pPr>
            <a:r>
              <a:rPr sz="2650" spc="-280" dirty="0">
                <a:latin typeface="Arial" panose="020B0604020202020204"/>
                <a:cs typeface="Arial" panose="020B0604020202020204"/>
              </a:rPr>
              <a:t>BLOSUM</a:t>
            </a:r>
            <a:r>
              <a:rPr sz="2650" spc="-540" dirty="0">
                <a:latin typeface="Arial" panose="020B0604020202020204"/>
                <a:cs typeface="Arial" panose="020B0604020202020204"/>
              </a:rPr>
              <a:t> </a:t>
            </a:r>
            <a:r>
              <a:rPr sz="2650" spc="-135" dirty="0">
                <a:latin typeface="Arial" panose="020B0604020202020204"/>
                <a:cs typeface="Arial" panose="020B0604020202020204"/>
              </a:rPr>
              <a:t>62</a:t>
            </a:r>
            <a:r>
              <a:rPr sz="2650" spc="-405" dirty="0">
                <a:latin typeface="Arial" panose="020B0604020202020204"/>
                <a:cs typeface="Arial" panose="020B0604020202020204"/>
              </a:rPr>
              <a:t> </a:t>
            </a:r>
            <a:r>
              <a:rPr sz="2650" spc="-55" dirty="0">
                <a:latin typeface="Arial" panose="020B0604020202020204"/>
                <a:cs typeface="Arial" panose="020B0604020202020204"/>
              </a:rPr>
              <a:t>is</a:t>
            </a:r>
            <a:r>
              <a:rPr sz="2650" spc="-375" dirty="0">
                <a:latin typeface="Arial" panose="020B0604020202020204"/>
                <a:cs typeface="Arial" panose="020B0604020202020204"/>
              </a:rPr>
              <a:t> </a:t>
            </a:r>
            <a:r>
              <a:rPr sz="2650" spc="-135" dirty="0">
                <a:latin typeface="Arial" panose="020B0604020202020204"/>
                <a:cs typeface="Arial" panose="020B0604020202020204"/>
              </a:rPr>
              <a:t>the</a:t>
            </a:r>
            <a:r>
              <a:rPr sz="2650" spc="-405" dirty="0">
                <a:latin typeface="Arial" panose="020B0604020202020204"/>
                <a:cs typeface="Arial" panose="020B0604020202020204"/>
              </a:rPr>
              <a:t> </a:t>
            </a:r>
            <a:r>
              <a:rPr sz="2650" spc="-190" dirty="0">
                <a:latin typeface="Arial" panose="020B0604020202020204"/>
                <a:cs typeface="Arial" panose="020B0604020202020204"/>
              </a:rPr>
              <a:t>default</a:t>
            </a:r>
            <a:r>
              <a:rPr sz="2650" spc="-285" dirty="0">
                <a:latin typeface="Arial" panose="020B0604020202020204"/>
                <a:cs typeface="Arial" panose="020B0604020202020204"/>
              </a:rPr>
              <a:t> </a:t>
            </a:r>
            <a:r>
              <a:rPr sz="2650" spc="-180" dirty="0">
                <a:latin typeface="Arial" panose="020B0604020202020204"/>
                <a:cs typeface="Arial" panose="020B0604020202020204"/>
              </a:rPr>
              <a:t>matrix</a:t>
            </a:r>
            <a:r>
              <a:rPr sz="2650" spc="-375" dirty="0">
                <a:latin typeface="Arial" panose="020B0604020202020204"/>
                <a:cs typeface="Arial" panose="020B0604020202020204"/>
              </a:rPr>
              <a:t> </a:t>
            </a:r>
            <a:r>
              <a:rPr sz="2650" spc="-55" dirty="0">
                <a:latin typeface="Arial" panose="020B0604020202020204"/>
                <a:cs typeface="Arial" panose="020B0604020202020204"/>
              </a:rPr>
              <a:t>in</a:t>
            </a:r>
            <a:r>
              <a:rPr sz="2650" spc="-405" dirty="0">
                <a:latin typeface="Arial" panose="020B0604020202020204"/>
                <a:cs typeface="Arial" panose="020B0604020202020204"/>
              </a:rPr>
              <a:t> </a:t>
            </a:r>
            <a:r>
              <a:rPr sz="2650" spc="-285" dirty="0">
                <a:latin typeface="Arial" panose="020B0604020202020204"/>
                <a:cs typeface="Arial" panose="020B0604020202020204"/>
              </a:rPr>
              <a:t>BLAST.</a:t>
            </a:r>
            <a:r>
              <a:rPr sz="2650" spc="-275" dirty="0">
                <a:latin typeface="Arial" panose="020B0604020202020204"/>
                <a:cs typeface="Arial" panose="020B0604020202020204"/>
              </a:rPr>
              <a:t> </a:t>
            </a:r>
            <a:r>
              <a:rPr sz="2650" spc="-225" dirty="0">
                <a:latin typeface="Arial" panose="020B0604020202020204"/>
                <a:cs typeface="Arial" panose="020B0604020202020204"/>
              </a:rPr>
              <a:t>Though</a:t>
            </a:r>
            <a:r>
              <a:rPr sz="2650" spc="-390" dirty="0">
                <a:latin typeface="Arial" panose="020B0604020202020204"/>
                <a:cs typeface="Arial" panose="020B0604020202020204"/>
              </a:rPr>
              <a:t> </a:t>
            </a:r>
            <a:r>
              <a:rPr sz="2650" spc="-60" dirty="0">
                <a:latin typeface="Arial" panose="020B0604020202020204"/>
                <a:cs typeface="Arial" panose="020B0604020202020204"/>
              </a:rPr>
              <a:t>it</a:t>
            </a:r>
            <a:r>
              <a:rPr sz="2650" spc="-275" dirty="0">
                <a:latin typeface="Arial" panose="020B0604020202020204"/>
                <a:cs typeface="Arial" panose="020B0604020202020204"/>
              </a:rPr>
              <a:t> </a:t>
            </a:r>
            <a:r>
              <a:rPr sz="2650" spc="-50" dirty="0">
                <a:latin typeface="Arial" panose="020B0604020202020204"/>
                <a:cs typeface="Arial" panose="020B0604020202020204"/>
              </a:rPr>
              <a:t>is</a:t>
            </a:r>
            <a:r>
              <a:rPr sz="2650" spc="-375" dirty="0">
                <a:latin typeface="Arial" panose="020B0604020202020204"/>
                <a:cs typeface="Arial" panose="020B0604020202020204"/>
              </a:rPr>
              <a:t> </a:t>
            </a:r>
            <a:r>
              <a:rPr sz="2650" spc="-170" dirty="0">
                <a:latin typeface="Arial" panose="020B0604020202020204"/>
                <a:cs typeface="Arial" panose="020B0604020202020204"/>
              </a:rPr>
              <a:t>tailored </a:t>
            </a:r>
            <a:r>
              <a:rPr sz="2650" spc="-165" dirty="0">
                <a:latin typeface="Arial" panose="020B0604020202020204"/>
                <a:cs typeface="Arial" panose="020B0604020202020204"/>
              </a:rPr>
              <a:t> </a:t>
            </a:r>
            <a:r>
              <a:rPr sz="2650" spc="-145" dirty="0">
                <a:latin typeface="Arial" panose="020B0604020202020204"/>
                <a:cs typeface="Arial" panose="020B0604020202020204"/>
              </a:rPr>
              <a:t>for</a:t>
            </a:r>
            <a:r>
              <a:rPr sz="2650" spc="-310" dirty="0">
                <a:latin typeface="Arial" panose="020B0604020202020204"/>
                <a:cs typeface="Arial" panose="020B0604020202020204"/>
              </a:rPr>
              <a:t> </a:t>
            </a:r>
            <a:r>
              <a:rPr sz="2650" spc="-225" dirty="0">
                <a:latin typeface="Arial" panose="020B0604020202020204"/>
                <a:cs typeface="Arial" panose="020B0604020202020204"/>
              </a:rPr>
              <a:t>comparisons</a:t>
            </a:r>
            <a:r>
              <a:rPr sz="2650" spc="-375" dirty="0">
                <a:latin typeface="Arial" panose="020B0604020202020204"/>
                <a:cs typeface="Arial" panose="020B0604020202020204"/>
              </a:rPr>
              <a:t> </a:t>
            </a:r>
            <a:r>
              <a:rPr sz="2650" spc="-130" dirty="0">
                <a:latin typeface="Arial" panose="020B0604020202020204"/>
                <a:cs typeface="Arial" panose="020B0604020202020204"/>
              </a:rPr>
              <a:t>of</a:t>
            </a:r>
            <a:r>
              <a:rPr sz="2650" spc="-280" dirty="0">
                <a:latin typeface="Arial" panose="020B0604020202020204"/>
                <a:cs typeface="Arial" panose="020B0604020202020204"/>
              </a:rPr>
              <a:t> </a:t>
            </a:r>
            <a:r>
              <a:rPr sz="2650" spc="-215" dirty="0">
                <a:latin typeface="Arial" panose="020B0604020202020204"/>
                <a:cs typeface="Arial" panose="020B0604020202020204"/>
              </a:rPr>
              <a:t>moderately</a:t>
            </a:r>
            <a:r>
              <a:rPr sz="2650" spc="-375" dirty="0">
                <a:latin typeface="Arial" panose="020B0604020202020204"/>
                <a:cs typeface="Arial" panose="020B0604020202020204"/>
              </a:rPr>
              <a:t> </a:t>
            </a:r>
            <a:r>
              <a:rPr sz="2650" spc="-185" dirty="0">
                <a:latin typeface="Arial" panose="020B0604020202020204"/>
                <a:cs typeface="Arial" panose="020B0604020202020204"/>
              </a:rPr>
              <a:t>distant</a:t>
            </a:r>
            <a:r>
              <a:rPr sz="2650" spc="-280" dirty="0">
                <a:latin typeface="Arial" panose="020B0604020202020204"/>
                <a:cs typeface="Arial" panose="020B0604020202020204"/>
              </a:rPr>
              <a:t> </a:t>
            </a:r>
            <a:r>
              <a:rPr sz="2650" spc="-195" dirty="0">
                <a:latin typeface="Arial" panose="020B0604020202020204"/>
                <a:cs typeface="Arial" panose="020B0604020202020204"/>
              </a:rPr>
              <a:t>proteins,</a:t>
            </a:r>
            <a:r>
              <a:rPr sz="2650" spc="-280" dirty="0">
                <a:latin typeface="Arial" panose="020B0604020202020204"/>
                <a:cs typeface="Arial" panose="020B0604020202020204"/>
              </a:rPr>
              <a:t> </a:t>
            </a:r>
            <a:r>
              <a:rPr sz="2650" spc="-55" dirty="0">
                <a:latin typeface="Arial" panose="020B0604020202020204"/>
                <a:cs typeface="Arial" panose="020B0604020202020204"/>
              </a:rPr>
              <a:t>it</a:t>
            </a:r>
            <a:r>
              <a:rPr sz="2650" spc="-280" dirty="0">
                <a:latin typeface="Arial" panose="020B0604020202020204"/>
                <a:cs typeface="Arial" panose="020B0604020202020204"/>
              </a:rPr>
              <a:t> </a:t>
            </a:r>
            <a:r>
              <a:rPr sz="2650" spc="-204" dirty="0">
                <a:latin typeface="Arial" panose="020B0604020202020204"/>
                <a:cs typeface="Arial" panose="020B0604020202020204"/>
              </a:rPr>
              <a:t>performs</a:t>
            </a:r>
            <a:r>
              <a:rPr sz="2650" spc="-365" dirty="0">
                <a:latin typeface="Arial" panose="020B0604020202020204"/>
                <a:cs typeface="Arial" panose="020B0604020202020204"/>
              </a:rPr>
              <a:t> </a:t>
            </a:r>
            <a:r>
              <a:rPr sz="2650" spc="-185" dirty="0">
                <a:latin typeface="Arial" panose="020B0604020202020204"/>
                <a:cs typeface="Arial" panose="020B0604020202020204"/>
              </a:rPr>
              <a:t>well</a:t>
            </a:r>
            <a:r>
              <a:rPr sz="2650" spc="-250" dirty="0">
                <a:latin typeface="Arial" panose="020B0604020202020204"/>
                <a:cs typeface="Arial" panose="020B0604020202020204"/>
              </a:rPr>
              <a:t> </a:t>
            </a:r>
            <a:r>
              <a:rPr sz="2650" spc="-55" dirty="0">
                <a:latin typeface="Arial" panose="020B0604020202020204"/>
                <a:cs typeface="Arial" panose="020B0604020202020204"/>
              </a:rPr>
              <a:t>in </a:t>
            </a:r>
            <a:r>
              <a:rPr sz="2650" spc="-720" dirty="0">
                <a:latin typeface="Arial" panose="020B0604020202020204"/>
                <a:cs typeface="Arial" panose="020B0604020202020204"/>
              </a:rPr>
              <a:t> </a:t>
            </a:r>
            <a:r>
              <a:rPr sz="2650" spc="-190" dirty="0">
                <a:latin typeface="Arial" panose="020B0604020202020204"/>
                <a:cs typeface="Arial" panose="020B0604020202020204"/>
              </a:rPr>
              <a:t>detecting closer </a:t>
            </a:r>
            <a:r>
              <a:rPr sz="2650" spc="-195" dirty="0">
                <a:latin typeface="Arial" panose="020B0604020202020204"/>
                <a:cs typeface="Arial" panose="020B0604020202020204"/>
              </a:rPr>
              <a:t>relationships. </a:t>
            </a:r>
            <a:r>
              <a:rPr sz="2650" dirty="0">
                <a:latin typeface="Arial" panose="020B0604020202020204"/>
                <a:cs typeface="Arial" panose="020B0604020202020204"/>
              </a:rPr>
              <a:t>A </a:t>
            </a:r>
            <a:r>
              <a:rPr sz="2650" spc="-195" dirty="0">
                <a:latin typeface="Arial" panose="020B0604020202020204"/>
                <a:cs typeface="Arial" panose="020B0604020202020204"/>
              </a:rPr>
              <a:t>search </a:t>
            </a:r>
            <a:r>
              <a:rPr sz="2650" spc="-145" dirty="0">
                <a:latin typeface="Arial" panose="020B0604020202020204"/>
                <a:cs typeface="Arial" panose="020B0604020202020204"/>
              </a:rPr>
              <a:t>for </a:t>
            </a:r>
            <a:r>
              <a:rPr sz="2650" spc="-185" dirty="0">
                <a:latin typeface="Arial" panose="020B0604020202020204"/>
                <a:cs typeface="Arial" panose="020B0604020202020204"/>
              </a:rPr>
              <a:t>distant </a:t>
            </a:r>
            <a:r>
              <a:rPr sz="2650" spc="-180" dirty="0">
                <a:latin typeface="Arial" panose="020B0604020202020204"/>
                <a:cs typeface="Arial" panose="020B0604020202020204"/>
              </a:rPr>
              <a:t>relatives </a:t>
            </a:r>
            <a:r>
              <a:rPr sz="2650" spc="-235" dirty="0">
                <a:latin typeface="Arial" panose="020B0604020202020204"/>
                <a:cs typeface="Arial" panose="020B0604020202020204"/>
              </a:rPr>
              <a:t>may </a:t>
            </a:r>
            <a:r>
              <a:rPr sz="2650" spc="-725" dirty="0">
                <a:latin typeface="Arial" panose="020B0604020202020204"/>
                <a:cs typeface="Arial" panose="020B0604020202020204"/>
              </a:rPr>
              <a:t> </a:t>
            </a:r>
            <a:r>
              <a:rPr sz="2650" spc="-265" dirty="0">
                <a:latin typeface="Arial" panose="020B0604020202020204"/>
                <a:cs typeface="Arial" panose="020B0604020202020204"/>
              </a:rPr>
              <a:t>b</a:t>
            </a:r>
            <a:r>
              <a:rPr sz="2650" dirty="0">
                <a:latin typeface="Arial" panose="020B0604020202020204"/>
                <a:cs typeface="Arial" panose="020B0604020202020204"/>
              </a:rPr>
              <a:t>e</a:t>
            </a:r>
            <a:r>
              <a:rPr sz="2650" spc="-405" dirty="0">
                <a:latin typeface="Arial" panose="020B0604020202020204"/>
                <a:cs typeface="Arial" panose="020B0604020202020204"/>
              </a:rPr>
              <a:t> </a:t>
            </a:r>
            <a:r>
              <a:rPr sz="2650" spc="-400" dirty="0">
                <a:latin typeface="Arial" panose="020B0604020202020204"/>
                <a:cs typeface="Arial" panose="020B0604020202020204"/>
              </a:rPr>
              <a:t>m</a:t>
            </a:r>
            <a:r>
              <a:rPr sz="2650" spc="-254" dirty="0">
                <a:latin typeface="Arial" panose="020B0604020202020204"/>
                <a:cs typeface="Arial" panose="020B0604020202020204"/>
              </a:rPr>
              <a:t>o</a:t>
            </a:r>
            <a:r>
              <a:rPr sz="2650" spc="-185" dirty="0">
                <a:latin typeface="Arial" panose="020B0604020202020204"/>
                <a:cs typeface="Arial" panose="020B0604020202020204"/>
              </a:rPr>
              <a:t>r</a:t>
            </a:r>
            <a:r>
              <a:rPr sz="2650" dirty="0">
                <a:latin typeface="Arial" panose="020B0604020202020204"/>
                <a:cs typeface="Arial" panose="020B0604020202020204"/>
              </a:rPr>
              <a:t>e</a:t>
            </a:r>
            <a:r>
              <a:rPr sz="2650" spc="-395" dirty="0">
                <a:latin typeface="Arial" panose="020B0604020202020204"/>
                <a:cs typeface="Arial" panose="020B0604020202020204"/>
              </a:rPr>
              <a:t> </a:t>
            </a:r>
            <a:r>
              <a:rPr sz="2650" spc="-240" dirty="0">
                <a:latin typeface="Arial" panose="020B0604020202020204"/>
                <a:cs typeface="Arial" panose="020B0604020202020204"/>
              </a:rPr>
              <a:t>s</a:t>
            </a:r>
            <a:r>
              <a:rPr sz="2650" spc="-265" dirty="0">
                <a:latin typeface="Arial" panose="020B0604020202020204"/>
                <a:cs typeface="Arial" panose="020B0604020202020204"/>
              </a:rPr>
              <a:t>en</a:t>
            </a:r>
            <a:r>
              <a:rPr sz="2650" spc="-240" dirty="0">
                <a:latin typeface="Arial" panose="020B0604020202020204"/>
                <a:cs typeface="Arial" panose="020B0604020202020204"/>
              </a:rPr>
              <a:t>s</a:t>
            </a:r>
            <a:r>
              <a:rPr sz="2650" spc="-110" dirty="0">
                <a:latin typeface="Arial" panose="020B0604020202020204"/>
                <a:cs typeface="Arial" panose="020B0604020202020204"/>
              </a:rPr>
              <a:t>i</a:t>
            </a:r>
            <a:r>
              <a:rPr sz="2650" spc="-140" dirty="0">
                <a:latin typeface="Arial" panose="020B0604020202020204"/>
                <a:cs typeface="Arial" panose="020B0604020202020204"/>
              </a:rPr>
              <a:t>t</a:t>
            </a:r>
            <a:r>
              <a:rPr sz="2650" spc="-110" dirty="0">
                <a:latin typeface="Arial" panose="020B0604020202020204"/>
                <a:cs typeface="Arial" panose="020B0604020202020204"/>
              </a:rPr>
              <a:t>i</a:t>
            </a:r>
            <a:r>
              <a:rPr sz="2650" spc="-265" dirty="0">
                <a:latin typeface="Arial" panose="020B0604020202020204"/>
                <a:cs typeface="Arial" panose="020B0604020202020204"/>
              </a:rPr>
              <a:t>v</a:t>
            </a:r>
            <a:r>
              <a:rPr sz="2650" dirty="0">
                <a:latin typeface="Arial" panose="020B0604020202020204"/>
                <a:cs typeface="Arial" panose="020B0604020202020204"/>
              </a:rPr>
              <a:t>e</a:t>
            </a:r>
            <a:r>
              <a:rPr sz="2650" spc="-405" dirty="0">
                <a:latin typeface="Arial" panose="020B0604020202020204"/>
                <a:cs typeface="Arial" panose="020B0604020202020204"/>
              </a:rPr>
              <a:t> </a:t>
            </a:r>
            <a:r>
              <a:rPr sz="2650" spc="-345" dirty="0">
                <a:latin typeface="Arial" panose="020B0604020202020204"/>
                <a:cs typeface="Arial" panose="020B0604020202020204"/>
              </a:rPr>
              <a:t>w</a:t>
            </a:r>
            <a:r>
              <a:rPr sz="2650" spc="-110" dirty="0">
                <a:latin typeface="Arial" panose="020B0604020202020204"/>
                <a:cs typeface="Arial" panose="020B0604020202020204"/>
              </a:rPr>
              <a:t>i</a:t>
            </a:r>
            <a:r>
              <a:rPr sz="2650" spc="-140" dirty="0">
                <a:latin typeface="Arial" panose="020B0604020202020204"/>
                <a:cs typeface="Arial" panose="020B0604020202020204"/>
              </a:rPr>
              <a:t>t</a:t>
            </a:r>
            <a:r>
              <a:rPr sz="2650" dirty="0">
                <a:latin typeface="Arial" panose="020B0604020202020204"/>
                <a:cs typeface="Arial" panose="020B0604020202020204"/>
              </a:rPr>
              <a:t>h</a:t>
            </a:r>
            <a:r>
              <a:rPr sz="2650" spc="-405" dirty="0">
                <a:latin typeface="Arial" panose="020B0604020202020204"/>
                <a:cs typeface="Arial" panose="020B0604020202020204"/>
              </a:rPr>
              <a:t> </a:t>
            </a:r>
            <a:r>
              <a:rPr sz="2650" dirty="0">
                <a:latin typeface="Arial" panose="020B0604020202020204"/>
                <a:cs typeface="Arial" panose="020B0604020202020204"/>
              </a:rPr>
              <a:t>a</a:t>
            </a:r>
            <a:r>
              <a:rPr sz="2650" spc="-395" dirty="0">
                <a:latin typeface="Arial" panose="020B0604020202020204"/>
                <a:cs typeface="Arial" panose="020B0604020202020204"/>
              </a:rPr>
              <a:t> </a:t>
            </a:r>
            <a:r>
              <a:rPr sz="2650" spc="-265" dirty="0">
                <a:latin typeface="Arial" panose="020B0604020202020204"/>
                <a:cs typeface="Arial" panose="020B0604020202020204"/>
              </a:rPr>
              <a:t>d</a:t>
            </a:r>
            <a:r>
              <a:rPr sz="2650" spc="-110" dirty="0">
                <a:latin typeface="Arial" panose="020B0604020202020204"/>
                <a:cs typeface="Arial" panose="020B0604020202020204"/>
              </a:rPr>
              <a:t>i</a:t>
            </a:r>
            <a:r>
              <a:rPr sz="2650" spc="-90" dirty="0">
                <a:latin typeface="Arial" panose="020B0604020202020204"/>
                <a:cs typeface="Arial" panose="020B0604020202020204"/>
              </a:rPr>
              <a:t>f</a:t>
            </a:r>
            <a:r>
              <a:rPr sz="2650" spc="-170" dirty="0">
                <a:latin typeface="Arial" panose="020B0604020202020204"/>
                <a:cs typeface="Arial" panose="020B0604020202020204"/>
              </a:rPr>
              <a:t>f</a:t>
            </a:r>
            <a:r>
              <a:rPr sz="2650" spc="-254" dirty="0">
                <a:latin typeface="Arial" panose="020B0604020202020204"/>
                <a:cs typeface="Arial" panose="020B0604020202020204"/>
              </a:rPr>
              <a:t>e</a:t>
            </a:r>
            <a:r>
              <a:rPr sz="2650" spc="-185" dirty="0">
                <a:latin typeface="Arial" panose="020B0604020202020204"/>
                <a:cs typeface="Arial" panose="020B0604020202020204"/>
              </a:rPr>
              <a:t>r</a:t>
            </a:r>
            <a:r>
              <a:rPr sz="2650" spc="-254" dirty="0">
                <a:latin typeface="Arial" panose="020B0604020202020204"/>
                <a:cs typeface="Arial" panose="020B0604020202020204"/>
              </a:rPr>
              <a:t>e</a:t>
            </a:r>
            <a:r>
              <a:rPr sz="2650" spc="-265" dirty="0">
                <a:latin typeface="Arial" panose="020B0604020202020204"/>
                <a:cs typeface="Arial" panose="020B0604020202020204"/>
              </a:rPr>
              <a:t>n</a:t>
            </a:r>
            <a:r>
              <a:rPr sz="2650" dirty="0">
                <a:latin typeface="Arial" panose="020B0604020202020204"/>
                <a:cs typeface="Arial" panose="020B0604020202020204"/>
              </a:rPr>
              <a:t>t</a:t>
            </a:r>
            <a:r>
              <a:rPr sz="2650" spc="-280" dirty="0">
                <a:latin typeface="Arial" panose="020B0604020202020204"/>
                <a:cs typeface="Arial" panose="020B0604020202020204"/>
              </a:rPr>
              <a:t> </a:t>
            </a:r>
            <a:r>
              <a:rPr sz="2650" spc="-400" dirty="0">
                <a:latin typeface="Arial" panose="020B0604020202020204"/>
                <a:cs typeface="Arial" panose="020B0604020202020204"/>
              </a:rPr>
              <a:t>m</a:t>
            </a:r>
            <a:r>
              <a:rPr sz="2650" spc="-265" dirty="0">
                <a:latin typeface="Arial" panose="020B0604020202020204"/>
                <a:cs typeface="Arial" panose="020B0604020202020204"/>
              </a:rPr>
              <a:t>a</a:t>
            </a:r>
            <a:r>
              <a:rPr sz="2650" spc="-140" dirty="0">
                <a:latin typeface="Arial" panose="020B0604020202020204"/>
                <a:cs typeface="Arial" panose="020B0604020202020204"/>
              </a:rPr>
              <a:t>t</a:t>
            </a:r>
            <a:r>
              <a:rPr sz="2650" spc="-165" dirty="0">
                <a:latin typeface="Arial" panose="020B0604020202020204"/>
                <a:cs typeface="Arial" panose="020B0604020202020204"/>
              </a:rPr>
              <a:t>r</a:t>
            </a:r>
            <a:r>
              <a:rPr sz="2650" spc="-110" dirty="0">
                <a:latin typeface="Arial" panose="020B0604020202020204"/>
                <a:cs typeface="Arial" panose="020B0604020202020204"/>
              </a:rPr>
              <a:t>i</a:t>
            </a:r>
            <a:r>
              <a:rPr sz="2650" spc="-240" dirty="0">
                <a:latin typeface="Arial" panose="020B0604020202020204"/>
                <a:cs typeface="Arial" panose="020B0604020202020204"/>
              </a:rPr>
              <a:t>x</a:t>
            </a:r>
            <a:r>
              <a:rPr sz="2650" dirty="0">
                <a:latin typeface="Arial" panose="020B0604020202020204"/>
                <a:cs typeface="Arial" panose="020B0604020202020204"/>
              </a:rPr>
              <a:t>.</a:t>
            </a:r>
            <a:endParaRPr sz="2650">
              <a:latin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Shape 1"/>
          <p:cNvSpPr txBox="1"/>
          <p:nvPr/>
        </p:nvSpPr>
        <p:spPr>
          <a:xfrm>
            <a:off x="1542922" y="768960"/>
            <a:ext cx="6997955" cy="554040"/>
          </a:xfrm>
          <a:prstGeom prst="rect">
            <a:avLst/>
          </a:prstGeom>
          <a:noFill/>
          <a:ln>
            <a:noFill/>
          </a:ln>
        </p:spPr>
        <p:txBody>
          <a:bodyPr lIns="0" tIns="12240" rIns="0" bIns="0"/>
          <a:lstStyle/>
          <a:p>
            <a:pPr marL="12700" algn="ctr">
              <a:lnSpc>
                <a:spcPct val="100000"/>
              </a:lnSpc>
              <a:spcBef>
                <a:spcPts val="100"/>
              </a:spcBef>
            </a:pPr>
            <a:r>
              <a:rPr lang="en-AU" sz="4000" b="1" strike="noStrike" spc="-1" dirty="0">
                <a:solidFill>
                  <a:srgbClr val="191919"/>
                </a:solidFill>
                <a:latin typeface="Calibri" panose="020F0502020204030204" pitchFamily="34" charset="0"/>
              </a:rPr>
              <a:t>Importance</a:t>
            </a:r>
            <a:r>
              <a:rPr lang="en-AU" sz="4000" b="1" strike="noStrike" spc="-43" dirty="0">
                <a:solidFill>
                  <a:srgbClr val="191919"/>
                </a:solidFill>
                <a:latin typeface="Calibri" panose="020F0502020204030204" pitchFamily="34" charset="0"/>
              </a:rPr>
              <a:t> </a:t>
            </a:r>
            <a:r>
              <a:rPr lang="en-AU" sz="4000" b="1" strike="noStrike" spc="-4" dirty="0">
                <a:solidFill>
                  <a:srgbClr val="191919"/>
                </a:solidFill>
                <a:latin typeface="Calibri" panose="020F0502020204030204" pitchFamily="34" charset="0"/>
              </a:rPr>
              <a:t>of</a:t>
            </a:r>
            <a:r>
              <a:rPr lang="en-AU" sz="4000" b="1" strike="noStrike" spc="-49" dirty="0">
                <a:solidFill>
                  <a:srgbClr val="191919"/>
                </a:solidFill>
                <a:latin typeface="Calibri" panose="020F0502020204030204" pitchFamily="34" charset="0"/>
              </a:rPr>
              <a:t> </a:t>
            </a:r>
            <a:r>
              <a:rPr lang="en-AU" sz="4000" b="1" strike="noStrike" spc="-1" dirty="0">
                <a:solidFill>
                  <a:srgbClr val="191919"/>
                </a:solidFill>
                <a:latin typeface="Calibri" panose="020F0502020204030204" pitchFamily="34" charset="0"/>
              </a:rPr>
              <a:t>Similarity</a:t>
            </a:r>
            <a:endParaRPr lang="en-AU" sz="4000" b="0" strike="noStrike" spc="-1" dirty="0">
              <a:solidFill>
                <a:srgbClr val="000000"/>
              </a:solidFill>
              <a:latin typeface="Calibri"/>
            </a:endParaRPr>
          </a:p>
        </p:txBody>
      </p:sp>
      <p:sp>
        <p:nvSpPr>
          <p:cNvPr id="166" name="CustomShape 2"/>
          <p:cNvSpPr/>
          <p:nvPr/>
        </p:nvSpPr>
        <p:spPr>
          <a:xfrm>
            <a:off x="5879880" y="2228760"/>
            <a:ext cx="1102320" cy="606600"/>
          </a:xfrm>
          <a:custGeom>
            <a:avLst/>
            <a:gdLst/>
            <a:ahLst/>
            <a:cxnLst/>
            <a:rect l="l" t="t" r="r" b="b"/>
            <a:pathLst>
              <a:path w="1134109" h="624205">
                <a:moveTo>
                  <a:pt x="0" y="31825"/>
                </a:moveTo>
                <a:lnTo>
                  <a:pt x="58614" y="10644"/>
                </a:lnTo>
                <a:lnTo>
                  <a:pt x="105441" y="678"/>
                </a:lnTo>
                <a:lnTo>
                  <a:pt x="154412" y="0"/>
                </a:lnTo>
                <a:lnTo>
                  <a:pt x="219455" y="6679"/>
                </a:lnTo>
                <a:lnTo>
                  <a:pt x="255127" y="25419"/>
                </a:lnTo>
                <a:lnTo>
                  <a:pt x="285369" y="53161"/>
                </a:lnTo>
                <a:lnTo>
                  <a:pt x="311610" y="86617"/>
                </a:lnTo>
                <a:lnTo>
                  <a:pt x="335279" y="122503"/>
                </a:lnTo>
                <a:lnTo>
                  <a:pt x="327433" y="176176"/>
                </a:lnTo>
                <a:lnTo>
                  <a:pt x="292310" y="222373"/>
                </a:lnTo>
                <a:lnTo>
                  <a:pt x="244601" y="210895"/>
                </a:lnTo>
                <a:lnTo>
                  <a:pt x="266199" y="163187"/>
                </a:lnTo>
                <a:lnTo>
                  <a:pt x="329684" y="140065"/>
                </a:lnTo>
                <a:lnTo>
                  <a:pt x="385572" y="147649"/>
                </a:lnTo>
                <a:lnTo>
                  <a:pt x="426053" y="164937"/>
                </a:lnTo>
                <a:lnTo>
                  <a:pt x="463676" y="185939"/>
                </a:lnTo>
                <a:lnTo>
                  <a:pt x="501300" y="207228"/>
                </a:lnTo>
                <a:lnTo>
                  <a:pt x="541781" y="225373"/>
                </a:lnTo>
                <a:lnTo>
                  <a:pt x="583120" y="210800"/>
                </a:lnTo>
                <a:lnTo>
                  <a:pt x="610742" y="192226"/>
                </a:lnTo>
                <a:lnTo>
                  <a:pt x="629221" y="164508"/>
                </a:lnTo>
                <a:lnTo>
                  <a:pt x="643127" y="122503"/>
                </a:lnTo>
                <a:lnTo>
                  <a:pt x="624923" y="92392"/>
                </a:lnTo>
                <a:lnTo>
                  <a:pt x="603789" y="69639"/>
                </a:lnTo>
                <a:lnTo>
                  <a:pt x="573369" y="66460"/>
                </a:lnTo>
                <a:lnTo>
                  <a:pt x="527303" y="95071"/>
                </a:lnTo>
                <a:lnTo>
                  <a:pt x="517671" y="111073"/>
                </a:lnTo>
                <a:lnTo>
                  <a:pt x="514826" y="131075"/>
                </a:lnTo>
                <a:lnTo>
                  <a:pt x="514981" y="152507"/>
                </a:lnTo>
                <a:lnTo>
                  <a:pt x="514350" y="172795"/>
                </a:lnTo>
                <a:lnTo>
                  <a:pt x="507051" y="229743"/>
                </a:lnTo>
                <a:lnTo>
                  <a:pt x="499395" y="270617"/>
                </a:lnTo>
                <a:lnTo>
                  <a:pt x="480167" y="307919"/>
                </a:lnTo>
                <a:lnTo>
                  <a:pt x="438150" y="354151"/>
                </a:lnTo>
                <a:lnTo>
                  <a:pt x="394811" y="395108"/>
                </a:lnTo>
                <a:lnTo>
                  <a:pt x="347472" y="430351"/>
                </a:lnTo>
                <a:lnTo>
                  <a:pt x="283749" y="448353"/>
                </a:lnTo>
                <a:lnTo>
                  <a:pt x="244601" y="455497"/>
                </a:lnTo>
                <a:lnTo>
                  <a:pt x="215574" y="453592"/>
                </a:lnTo>
                <a:lnTo>
                  <a:pt x="186118" y="452830"/>
                </a:lnTo>
                <a:lnTo>
                  <a:pt x="156948" y="450353"/>
                </a:lnTo>
                <a:lnTo>
                  <a:pt x="128777" y="443305"/>
                </a:lnTo>
                <a:lnTo>
                  <a:pt x="117419" y="428505"/>
                </a:lnTo>
                <a:lnTo>
                  <a:pt x="116204" y="404919"/>
                </a:lnTo>
                <a:lnTo>
                  <a:pt x="121277" y="381476"/>
                </a:lnTo>
                <a:lnTo>
                  <a:pt x="128777" y="367105"/>
                </a:lnTo>
                <a:lnTo>
                  <a:pt x="136767" y="361545"/>
                </a:lnTo>
                <a:lnTo>
                  <a:pt x="146399" y="358628"/>
                </a:lnTo>
                <a:lnTo>
                  <a:pt x="156745" y="356711"/>
                </a:lnTo>
                <a:lnTo>
                  <a:pt x="166877" y="354151"/>
                </a:lnTo>
                <a:lnTo>
                  <a:pt x="195691" y="356711"/>
                </a:lnTo>
                <a:lnTo>
                  <a:pt x="224789" y="358628"/>
                </a:lnTo>
                <a:lnTo>
                  <a:pt x="253888" y="361545"/>
                </a:lnTo>
                <a:lnTo>
                  <a:pt x="315039" y="387417"/>
                </a:lnTo>
                <a:lnTo>
                  <a:pt x="349948" y="426160"/>
                </a:lnTo>
                <a:lnTo>
                  <a:pt x="383428" y="470618"/>
                </a:lnTo>
                <a:lnTo>
                  <a:pt x="411479" y="508075"/>
                </a:lnTo>
                <a:lnTo>
                  <a:pt x="428458" y="529851"/>
                </a:lnTo>
                <a:lnTo>
                  <a:pt x="444436" y="552557"/>
                </a:lnTo>
                <a:lnTo>
                  <a:pt x="460128" y="575690"/>
                </a:lnTo>
                <a:lnTo>
                  <a:pt x="476250" y="598753"/>
                </a:lnTo>
                <a:lnTo>
                  <a:pt x="495145" y="612005"/>
                </a:lnTo>
                <a:lnTo>
                  <a:pt x="521112" y="619613"/>
                </a:lnTo>
                <a:lnTo>
                  <a:pt x="544079" y="623077"/>
                </a:lnTo>
                <a:lnTo>
                  <a:pt x="553974" y="623899"/>
                </a:lnTo>
                <a:lnTo>
                  <a:pt x="594670" y="596912"/>
                </a:lnTo>
                <a:lnTo>
                  <a:pt x="616019" y="583751"/>
                </a:lnTo>
                <a:lnTo>
                  <a:pt x="657605" y="533221"/>
                </a:lnTo>
                <a:lnTo>
                  <a:pt x="676370" y="469213"/>
                </a:lnTo>
                <a:lnTo>
                  <a:pt x="685573" y="437209"/>
                </a:lnTo>
                <a:lnTo>
                  <a:pt x="695705" y="405205"/>
                </a:lnTo>
                <a:lnTo>
                  <a:pt x="689538" y="385762"/>
                </a:lnTo>
                <a:lnTo>
                  <a:pt x="681227" y="362819"/>
                </a:lnTo>
                <a:lnTo>
                  <a:pt x="657605" y="326719"/>
                </a:lnTo>
                <a:lnTo>
                  <a:pt x="609599" y="309002"/>
                </a:lnTo>
                <a:lnTo>
                  <a:pt x="579881" y="301573"/>
                </a:lnTo>
                <a:lnTo>
                  <a:pt x="572297" y="310741"/>
                </a:lnTo>
                <a:lnTo>
                  <a:pt x="563784" y="319480"/>
                </a:lnTo>
                <a:lnTo>
                  <a:pt x="556843" y="328791"/>
                </a:lnTo>
                <a:lnTo>
                  <a:pt x="553974" y="339673"/>
                </a:lnTo>
                <a:lnTo>
                  <a:pt x="567086" y="374396"/>
                </a:lnTo>
                <a:lnTo>
                  <a:pt x="599986" y="404034"/>
                </a:lnTo>
                <a:lnTo>
                  <a:pt x="643018" y="427894"/>
                </a:lnTo>
                <a:lnTo>
                  <a:pt x="686525" y="445280"/>
                </a:lnTo>
                <a:lnTo>
                  <a:pt x="720851" y="455497"/>
                </a:lnTo>
                <a:lnTo>
                  <a:pt x="775977" y="448138"/>
                </a:lnTo>
                <a:lnTo>
                  <a:pt x="819714" y="442345"/>
                </a:lnTo>
                <a:lnTo>
                  <a:pt x="858202" y="438542"/>
                </a:lnTo>
                <a:lnTo>
                  <a:pt x="897579" y="437152"/>
                </a:lnTo>
                <a:lnTo>
                  <a:pt x="943983" y="438599"/>
                </a:lnTo>
                <a:lnTo>
                  <a:pt x="1003553" y="443305"/>
                </a:lnTo>
                <a:lnTo>
                  <a:pt x="1034414" y="450687"/>
                </a:lnTo>
                <a:lnTo>
                  <a:pt x="1068133" y="459497"/>
                </a:lnTo>
                <a:lnTo>
                  <a:pt x="1102137" y="466879"/>
                </a:lnTo>
                <a:lnTo>
                  <a:pt x="1133855" y="469975"/>
                </a:lnTo>
              </a:path>
            </a:pathLst>
          </a:custGeom>
          <a:noFill/>
          <a:ln w="38160">
            <a:solidFill>
              <a:srgbClr val="3434CC"/>
            </a:solidFill>
            <a:round/>
          </a:ln>
        </p:spPr>
        <p:style>
          <a:lnRef idx="0">
            <a:srgbClr val="FFFFFF"/>
          </a:lnRef>
          <a:fillRef idx="0">
            <a:srgbClr val="FFFFFF"/>
          </a:fillRef>
          <a:effectRef idx="0">
            <a:srgbClr val="FFFFFF"/>
          </a:effectRef>
          <a:fontRef idx="minor"/>
        </p:style>
      </p:sp>
      <p:grpSp>
        <p:nvGrpSpPr>
          <p:cNvPr id="167" name="Group 3"/>
          <p:cNvGrpSpPr/>
          <p:nvPr/>
        </p:nvGrpSpPr>
        <p:grpSpPr>
          <a:xfrm>
            <a:off x="4472280" y="3111480"/>
            <a:ext cx="2740680" cy="1407600"/>
            <a:chOff x="4472280" y="3111480"/>
            <a:chExt cx="2740680" cy="1407600"/>
          </a:xfrm>
        </p:grpSpPr>
        <p:sp>
          <p:nvSpPr>
            <p:cNvPr id="168" name="CustomShape 4"/>
            <p:cNvSpPr/>
            <p:nvPr/>
          </p:nvSpPr>
          <p:spPr>
            <a:xfrm>
              <a:off x="4472280" y="3912480"/>
              <a:ext cx="1102320" cy="606600"/>
            </a:xfrm>
            <a:custGeom>
              <a:avLst/>
              <a:gdLst/>
              <a:ahLst/>
              <a:cxnLst/>
              <a:rect l="l" t="t" r="r" b="b"/>
              <a:pathLst>
                <a:path w="1134110" h="624204">
                  <a:moveTo>
                    <a:pt x="0" y="31825"/>
                  </a:moveTo>
                  <a:lnTo>
                    <a:pt x="58614" y="10644"/>
                  </a:lnTo>
                  <a:lnTo>
                    <a:pt x="105441" y="678"/>
                  </a:lnTo>
                  <a:lnTo>
                    <a:pt x="154412" y="0"/>
                  </a:lnTo>
                  <a:lnTo>
                    <a:pt x="219455" y="6679"/>
                  </a:lnTo>
                  <a:lnTo>
                    <a:pt x="255127" y="25098"/>
                  </a:lnTo>
                  <a:lnTo>
                    <a:pt x="285369" y="52875"/>
                  </a:lnTo>
                  <a:lnTo>
                    <a:pt x="311610" y="86510"/>
                  </a:lnTo>
                  <a:lnTo>
                    <a:pt x="335279" y="122503"/>
                  </a:lnTo>
                  <a:lnTo>
                    <a:pt x="327433" y="176176"/>
                  </a:lnTo>
                  <a:lnTo>
                    <a:pt x="292310" y="222373"/>
                  </a:lnTo>
                  <a:lnTo>
                    <a:pt x="244601" y="210895"/>
                  </a:lnTo>
                  <a:lnTo>
                    <a:pt x="266199" y="163187"/>
                  </a:lnTo>
                  <a:lnTo>
                    <a:pt x="329684" y="140065"/>
                  </a:lnTo>
                  <a:lnTo>
                    <a:pt x="385572" y="147649"/>
                  </a:lnTo>
                  <a:lnTo>
                    <a:pt x="426053" y="164937"/>
                  </a:lnTo>
                  <a:lnTo>
                    <a:pt x="463676" y="185939"/>
                  </a:lnTo>
                  <a:lnTo>
                    <a:pt x="501300" y="207228"/>
                  </a:lnTo>
                  <a:lnTo>
                    <a:pt x="541781" y="225373"/>
                  </a:lnTo>
                  <a:lnTo>
                    <a:pt x="583120" y="210800"/>
                  </a:lnTo>
                  <a:lnTo>
                    <a:pt x="610742" y="192226"/>
                  </a:lnTo>
                  <a:lnTo>
                    <a:pt x="629221" y="164508"/>
                  </a:lnTo>
                  <a:lnTo>
                    <a:pt x="643127" y="122503"/>
                  </a:lnTo>
                  <a:lnTo>
                    <a:pt x="624923" y="92392"/>
                  </a:lnTo>
                  <a:lnTo>
                    <a:pt x="603789" y="69639"/>
                  </a:lnTo>
                  <a:lnTo>
                    <a:pt x="573369" y="66460"/>
                  </a:lnTo>
                  <a:lnTo>
                    <a:pt x="527303" y="95071"/>
                  </a:lnTo>
                  <a:lnTo>
                    <a:pt x="517671" y="111073"/>
                  </a:lnTo>
                  <a:lnTo>
                    <a:pt x="514826" y="131075"/>
                  </a:lnTo>
                  <a:lnTo>
                    <a:pt x="514981" y="152507"/>
                  </a:lnTo>
                  <a:lnTo>
                    <a:pt x="514350" y="172795"/>
                  </a:lnTo>
                  <a:lnTo>
                    <a:pt x="507051" y="229743"/>
                  </a:lnTo>
                  <a:lnTo>
                    <a:pt x="499395" y="270617"/>
                  </a:lnTo>
                  <a:lnTo>
                    <a:pt x="480167" y="307919"/>
                  </a:lnTo>
                  <a:lnTo>
                    <a:pt x="438150" y="354151"/>
                  </a:lnTo>
                  <a:lnTo>
                    <a:pt x="394811" y="395108"/>
                  </a:lnTo>
                  <a:lnTo>
                    <a:pt x="347472" y="430351"/>
                  </a:lnTo>
                  <a:lnTo>
                    <a:pt x="283749" y="448353"/>
                  </a:lnTo>
                  <a:lnTo>
                    <a:pt x="244601" y="455497"/>
                  </a:lnTo>
                  <a:lnTo>
                    <a:pt x="215574" y="453580"/>
                  </a:lnTo>
                  <a:lnTo>
                    <a:pt x="186118" y="452735"/>
                  </a:lnTo>
                  <a:lnTo>
                    <a:pt x="156948" y="450032"/>
                  </a:lnTo>
                  <a:lnTo>
                    <a:pt x="128777" y="442543"/>
                  </a:lnTo>
                  <a:lnTo>
                    <a:pt x="117419" y="428172"/>
                  </a:lnTo>
                  <a:lnTo>
                    <a:pt x="116204" y="404729"/>
                  </a:lnTo>
                  <a:lnTo>
                    <a:pt x="121277" y="381142"/>
                  </a:lnTo>
                  <a:lnTo>
                    <a:pt x="128777" y="366343"/>
                  </a:lnTo>
                  <a:lnTo>
                    <a:pt x="136767" y="361223"/>
                  </a:lnTo>
                  <a:lnTo>
                    <a:pt x="146399" y="358532"/>
                  </a:lnTo>
                  <a:lnTo>
                    <a:pt x="156745" y="356699"/>
                  </a:lnTo>
                  <a:lnTo>
                    <a:pt x="166877" y="354151"/>
                  </a:lnTo>
                  <a:lnTo>
                    <a:pt x="195691" y="356699"/>
                  </a:lnTo>
                  <a:lnTo>
                    <a:pt x="224789" y="358532"/>
                  </a:lnTo>
                  <a:lnTo>
                    <a:pt x="253888" y="361223"/>
                  </a:lnTo>
                  <a:lnTo>
                    <a:pt x="315039" y="387096"/>
                  </a:lnTo>
                  <a:lnTo>
                    <a:pt x="349948" y="426065"/>
                  </a:lnTo>
                  <a:lnTo>
                    <a:pt x="383428" y="470606"/>
                  </a:lnTo>
                  <a:lnTo>
                    <a:pt x="411479" y="508075"/>
                  </a:lnTo>
                  <a:lnTo>
                    <a:pt x="428458" y="529851"/>
                  </a:lnTo>
                  <a:lnTo>
                    <a:pt x="444436" y="552557"/>
                  </a:lnTo>
                  <a:lnTo>
                    <a:pt x="460128" y="575691"/>
                  </a:lnTo>
                  <a:lnTo>
                    <a:pt x="476250" y="598753"/>
                  </a:lnTo>
                  <a:lnTo>
                    <a:pt x="495145" y="612005"/>
                  </a:lnTo>
                  <a:lnTo>
                    <a:pt x="521112" y="619613"/>
                  </a:lnTo>
                  <a:lnTo>
                    <a:pt x="544079" y="623077"/>
                  </a:lnTo>
                  <a:lnTo>
                    <a:pt x="553974" y="623899"/>
                  </a:lnTo>
                  <a:lnTo>
                    <a:pt x="594670" y="596912"/>
                  </a:lnTo>
                  <a:lnTo>
                    <a:pt x="616019" y="583751"/>
                  </a:lnTo>
                  <a:lnTo>
                    <a:pt x="657605" y="533221"/>
                  </a:lnTo>
                  <a:lnTo>
                    <a:pt x="676370" y="469118"/>
                  </a:lnTo>
                  <a:lnTo>
                    <a:pt x="685573" y="436887"/>
                  </a:lnTo>
                  <a:lnTo>
                    <a:pt x="695705" y="404443"/>
                  </a:lnTo>
                  <a:lnTo>
                    <a:pt x="689538" y="385441"/>
                  </a:lnTo>
                  <a:lnTo>
                    <a:pt x="681227" y="362723"/>
                  </a:lnTo>
                  <a:lnTo>
                    <a:pt x="657605" y="326719"/>
                  </a:lnTo>
                  <a:lnTo>
                    <a:pt x="609600" y="309002"/>
                  </a:lnTo>
                  <a:lnTo>
                    <a:pt x="579881" y="301573"/>
                  </a:lnTo>
                  <a:lnTo>
                    <a:pt x="572297" y="310741"/>
                  </a:lnTo>
                  <a:lnTo>
                    <a:pt x="563784" y="319480"/>
                  </a:lnTo>
                  <a:lnTo>
                    <a:pt x="556843" y="328791"/>
                  </a:lnTo>
                  <a:lnTo>
                    <a:pt x="553974" y="339673"/>
                  </a:lnTo>
                  <a:lnTo>
                    <a:pt x="567086" y="374396"/>
                  </a:lnTo>
                  <a:lnTo>
                    <a:pt x="599986" y="404034"/>
                  </a:lnTo>
                  <a:lnTo>
                    <a:pt x="643018" y="427894"/>
                  </a:lnTo>
                  <a:lnTo>
                    <a:pt x="686525" y="445280"/>
                  </a:lnTo>
                  <a:lnTo>
                    <a:pt x="720851" y="455497"/>
                  </a:lnTo>
                  <a:lnTo>
                    <a:pt x="775977" y="448134"/>
                  </a:lnTo>
                  <a:lnTo>
                    <a:pt x="819714" y="442317"/>
                  </a:lnTo>
                  <a:lnTo>
                    <a:pt x="858202" y="438447"/>
                  </a:lnTo>
                  <a:lnTo>
                    <a:pt x="897579" y="436927"/>
                  </a:lnTo>
                  <a:lnTo>
                    <a:pt x="943983" y="438158"/>
                  </a:lnTo>
                  <a:lnTo>
                    <a:pt x="1003553" y="442543"/>
                  </a:lnTo>
                  <a:lnTo>
                    <a:pt x="1034414" y="450365"/>
                  </a:lnTo>
                  <a:lnTo>
                    <a:pt x="1068133" y="459402"/>
                  </a:lnTo>
                  <a:lnTo>
                    <a:pt x="1102137" y="466867"/>
                  </a:lnTo>
                  <a:lnTo>
                    <a:pt x="1133855" y="469975"/>
                  </a:lnTo>
                </a:path>
              </a:pathLst>
            </a:custGeom>
            <a:noFill/>
            <a:ln w="38160">
              <a:solidFill>
                <a:srgbClr val="34CCCC"/>
              </a:solidFill>
              <a:round/>
            </a:ln>
          </p:spPr>
          <p:style>
            <a:lnRef idx="0">
              <a:srgbClr val="FFFFFF"/>
            </a:lnRef>
            <a:fillRef idx="0">
              <a:srgbClr val="FFFFFF"/>
            </a:fillRef>
            <a:effectRef idx="0">
              <a:srgbClr val="FFFFFF"/>
            </a:effectRef>
            <a:fontRef idx="minor"/>
          </p:style>
        </p:sp>
        <p:sp>
          <p:nvSpPr>
            <p:cNvPr id="169" name="CustomShape 5"/>
            <p:cNvSpPr/>
            <p:nvPr/>
          </p:nvSpPr>
          <p:spPr>
            <a:xfrm>
              <a:off x="6398280" y="3111480"/>
              <a:ext cx="360" cy="518400"/>
            </a:xfrm>
            <a:custGeom>
              <a:avLst/>
              <a:gdLst/>
              <a:ahLst/>
              <a:cxnLst/>
              <a:rect l="l" t="t" r="r" b="b"/>
              <a:pathLst>
                <a:path h="533400">
                  <a:moveTo>
                    <a:pt x="0" y="0"/>
                  </a:moveTo>
                  <a:lnTo>
                    <a:pt x="0" y="533399"/>
                  </a:lnTo>
                </a:path>
              </a:pathLst>
            </a:custGeom>
            <a:noFill/>
            <a:ln w="25560">
              <a:solidFill>
                <a:srgbClr val="010101"/>
              </a:solidFill>
              <a:round/>
            </a:ln>
          </p:spPr>
          <p:style>
            <a:lnRef idx="0">
              <a:srgbClr val="FFFFFF"/>
            </a:lnRef>
            <a:fillRef idx="0">
              <a:srgbClr val="FFFFFF"/>
            </a:fillRef>
            <a:effectRef idx="0">
              <a:srgbClr val="FFFFFF"/>
            </a:effectRef>
            <a:fontRef idx="minor"/>
          </p:style>
        </p:sp>
        <p:sp>
          <p:nvSpPr>
            <p:cNvPr id="170" name="CustomShape 6"/>
            <p:cNvSpPr/>
            <p:nvPr/>
          </p:nvSpPr>
          <p:spPr>
            <a:xfrm>
              <a:off x="5509440" y="3619080"/>
              <a:ext cx="1703520" cy="387360"/>
            </a:xfrm>
            <a:custGeom>
              <a:avLst/>
              <a:gdLst/>
              <a:ahLst/>
              <a:cxnLst/>
              <a:rect l="l" t="t" r="r" b="b"/>
              <a:pathLst>
                <a:path w="1752600" h="398779">
                  <a:moveTo>
                    <a:pt x="1752600" y="392430"/>
                  </a:moveTo>
                  <a:lnTo>
                    <a:pt x="1699260" y="326136"/>
                  </a:lnTo>
                  <a:lnTo>
                    <a:pt x="1688630" y="349161"/>
                  </a:lnTo>
                  <a:lnTo>
                    <a:pt x="919734" y="0"/>
                  </a:lnTo>
                  <a:lnTo>
                    <a:pt x="914590" y="11010"/>
                  </a:lnTo>
                  <a:lnTo>
                    <a:pt x="909828" y="0"/>
                  </a:lnTo>
                  <a:lnTo>
                    <a:pt x="65735" y="351777"/>
                  </a:lnTo>
                  <a:lnTo>
                    <a:pt x="55626" y="327660"/>
                  </a:lnTo>
                  <a:lnTo>
                    <a:pt x="0" y="392430"/>
                  </a:lnTo>
                  <a:lnTo>
                    <a:pt x="54102" y="396303"/>
                  </a:lnTo>
                  <a:lnTo>
                    <a:pt x="85344" y="398526"/>
                  </a:lnTo>
                  <a:lnTo>
                    <a:pt x="75361" y="374751"/>
                  </a:lnTo>
                  <a:lnTo>
                    <a:pt x="914158" y="25184"/>
                  </a:lnTo>
                  <a:lnTo>
                    <a:pt x="1677771" y="372694"/>
                  </a:lnTo>
                  <a:lnTo>
                    <a:pt x="1667256" y="395478"/>
                  </a:lnTo>
                  <a:lnTo>
                    <a:pt x="1700022" y="394309"/>
                  </a:lnTo>
                  <a:lnTo>
                    <a:pt x="1752600" y="392430"/>
                  </a:lnTo>
                  <a:close/>
                </a:path>
              </a:pathLst>
            </a:custGeom>
            <a:solidFill>
              <a:srgbClr val="010101"/>
            </a:solidFill>
            <a:ln>
              <a:noFill/>
            </a:ln>
          </p:spPr>
          <p:style>
            <a:lnRef idx="0">
              <a:srgbClr val="FFFFFF"/>
            </a:lnRef>
            <a:fillRef idx="0">
              <a:srgbClr val="FFFFFF"/>
            </a:fillRef>
            <a:effectRef idx="0">
              <a:srgbClr val="FFFFFF"/>
            </a:effectRef>
            <a:fontRef idx="minor"/>
          </p:style>
        </p:sp>
      </p:grpSp>
      <p:sp>
        <p:nvSpPr>
          <p:cNvPr id="171" name="CustomShape 7"/>
          <p:cNvSpPr/>
          <p:nvPr/>
        </p:nvSpPr>
        <p:spPr>
          <a:xfrm>
            <a:off x="7371000" y="3858480"/>
            <a:ext cx="1101600" cy="606600"/>
          </a:xfrm>
          <a:custGeom>
            <a:avLst/>
            <a:gdLst/>
            <a:ahLst/>
            <a:cxnLst/>
            <a:rect l="l" t="t" r="r" b="b"/>
            <a:pathLst>
              <a:path w="1133475" h="624204">
                <a:moveTo>
                  <a:pt x="0" y="31825"/>
                </a:moveTo>
                <a:lnTo>
                  <a:pt x="58602" y="10644"/>
                </a:lnTo>
                <a:lnTo>
                  <a:pt x="105346" y="678"/>
                </a:lnTo>
                <a:lnTo>
                  <a:pt x="154090" y="0"/>
                </a:lnTo>
                <a:lnTo>
                  <a:pt x="218694" y="6679"/>
                </a:lnTo>
                <a:lnTo>
                  <a:pt x="254793" y="25419"/>
                </a:lnTo>
                <a:lnTo>
                  <a:pt x="285178" y="53161"/>
                </a:lnTo>
                <a:lnTo>
                  <a:pt x="311276" y="86617"/>
                </a:lnTo>
                <a:lnTo>
                  <a:pt x="334518" y="122503"/>
                </a:lnTo>
                <a:lnTo>
                  <a:pt x="327112" y="176176"/>
                </a:lnTo>
                <a:lnTo>
                  <a:pt x="292298" y="222373"/>
                </a:lnTo>
                <a:lnTo>
                  <a:pt x="244601" y="210895"/>
                </a:lnTo>
                <a:lnTo>
                  <a:pt x="265771" y="163187"/>
                </a:lnTo>
                <a:lnTo>
                  <a:pt x="329255" y="140065"/>
                </a:lnTo>
                <a:lnTo>
                  <a:pt x="385572" y="147649"/>
                </a:lnTo>
                <a:lnTo>
                  <a:pt x="425934" y="164937"/>
                </a:lnTo>
                <a:lnTo>
                  <a:pt x="463296" y="185939"/>
                </a:lnTo>
                <a:lnTo>
                  <a:pt x="500657" y="207228"/>
                </a:lnTo>
                <a:lnTo>
                  <a:pt x="541020" y="225373"/>
                </a:lnTo>
                <a:lnTo>
                  <a:pt x="582787" y="210800"/>
                </a:lnTo>
                <a:lnTo>
                  <a:pt x="610552" y="192226"/>
                </a:lnTo>
                <a:lnTo>
                  <a:pt x="628888" y="164508"/>
                </a:lnTo>
                <a:lnTo>
                  <a:pt x="642366" y="122503"/>
                </a:lnTo>
                <a:lnTo>
                  <a:pt x="624161" y="92392"/>
                </a:lnTo>
                <a:lnTo>
                  <a:pt x="603027" y="69639"/>
                </a:lnTo>
                <a:lnTo>
                  <a:pt x="572607" y="66460"/>
                </a:lnTo>
                <a:lnTo>
                  <a:pt x="526542" y="95071"/>
                </a:lnTo>
                <a:lnTo>
                  <a:pt x="517028" y="111073"/>
                </a:lnTo>
                <a:lnTo>
                  <a:pt x="514445" y="131075"/>
                </a:lnTo>
                <a:lnTo>
                  <a:pt x="514861" y="152507"/>
                </a:lnTo>
                <a:lnTo>
                  <a:pt x="514350" y="172795"/>
                </a:lnTo>
                <a:lnTo>
                  <a:pt x="507051" y="229743"/>
                </a:lnTo>
                <a:lnTo>
                  <a:pt x="499395" y="270617"/>
                </a:lnTo>
                <a:lnTo>
                  <a:pt x="480167" y="307919"/>
                </a:lnTo>
                <a:lnTo>
                  <a:pt x="438150" y="354151"/>
                </a:lnTo>
                <a:lnTo>
                  <a:pt x="394525" y="395108"/>
                </a:lnTo>
                <a:lnTo>
                  <a:pt x="347472" y="430351"/>
                </a:lnTo>
                <a:lnTo>
                  <a:pt x="283464" y="448353"/>
                </a:lnTo>
                <a:lnTo>
                  <a:pt x="244601" y="455497"/>
                </a:lnTo>
                <a:lnTo>
                  <a:pt x="215455" y="453592"/>
                </a:lnTo>
                <a:lnTo>
                  <a:pt x="185737" y="452830"/>
                </a:lnTo>
                <a:lnTo>
                  <a:pt x="156305" y="450353"/>
                </a:lnTo>
                <a:lnTo>
                  <a:pt x="128016" y="443305"/>
                </a:lnTo>
                <a:lnTo>
                  <a:pt x="116764" y="428505"/>
                </a:lnTo>
                <a:lnTo>
                  <a:pt x="115728" y="404919"/>
                </a:lnTo>
                <a:lnTo>
                  <a:pt x="120836" y="381476"/>
                </a:lnTo>
                <a:lnTo>
                  <a:pt x="128016" y="367105"/>
                </a:lnTo>
                <a:lnTo>
                  <a:pt x="136433" y="361545"/>
                </a:lnTo>
                <a:lnTo>
                  <a:pt x="146208" y="358628"/>
                </a:lnTo>
                <a:lnTo>
                  <a:pt x="156412" y="356711"/>
                </a:lnTo>
                <a:lnTo>
                  <a:pt x="166116" y="354151"/>
                </a:lnTo>
                <a:lnTo>
                  <a:pt x="195048" y="356711"/>
                </a:lnTo>
                <a:lnTo>
                  <a:pt x="224409" y="358628"/>
                </a:lnTo>
                <a:lnTo>
                  <a:pt x="253769" y="361545"/>
                </a:lnTo>
                <a:lnTo>
                  <a:pt x="315027" y="387417"/>
                </a:lnTo>
                <a:lnTo>
                  <a:pt x="349853" y="426160"/>
                </a:lnTo>
                <a:lnTo>
                  <a:pt x="383107" y="470618"/>
                </a:lnTo>
                <a:lnTo>
                  <a:pt x="410718" y="508075"/>
                </a:lnTo>
                <a:lnTo>
                  <a:pt x="428136" y="529851"/>
                </a:lnTo>
                <a:lnTo>
                  <a:pt x="444341" y="552557"/>
                </a:lnTo>
                <a:lnTo>
                  <a:pt x="460117" y="575691"/>
                </a:lnTo>
                <a:lnTo>
                  <a:pt x="476250" y="598753"/>
                </a:lnTo>
                <a:lnTo>
                  <a:pt x="495145" y="612005"/>
                </a:lnTo>
                <a:lnTo>
                  <a:pt x="521112" y="619613"/>
                </a:lnTo>
                <a:lnTo>
                  <a:pt x="544079" y="623077"/>
                </a:lnTo>
                <a:lnTo>
                  <a:pt x="553974" y="623899"/>
                </a:lnTo>
                <a:lnTo>
                  <a:pt x="594372" y="596912"/>
                </a:lnTo>
                <a:lnTo>
                  <a:pt x="615641" y="583751"/>
                </a:lnTo>
                <a:lnTo>
                  <a:pt x="656844" y="533221"/>
                </a:lnTo>
                <a:lnTo>
                  <a:pt x="675894" y="469213"/>
                </a:lnTo>
                <a:lnTo>
                  <a:pt x="684918" y="437209"/>
                </a:lnTo>
                <a:lnTo>
                  <a:pt x="694944" y="405205"/>
                </a:lnTo>
                <a:lnTo>
                  <a:pt x="689098" y="385762"/>
                </a:lnTo>
                <a:lnTo>
                  <a:pt x="680751" y="362819"/>
                </a:lnTo>
                <a:lnTo>
                  <a:pt x="656844" y="326719"/>
                </a:lnTo>
                <a:lnTo>
                  <a:pt x="609123" y="309002"/>
                </a:lnTo>
                <a:lnTo>
                  <a:pt x="579120" y="301573"/>
                </a:lnTo>
                <a:lnTo>
                  <a:pt x="571976" y="310741"/>
                </a:lnTo>
                <a:lnTo>
                  <a:pt x="563689" y="319480"/>
                </a:lnTo>
                <a:lnTo>
                  <a:pt x="556831" y="328791"/>
                </a:lnTo>
                <a:lnTo>
                  <a:pt x="553974" y="339673"/>
                </a:lnTo>
                <a:lnTo>
                  <a:pt x="567013" y="374396"/>
                </a:lnTo>
                <a:lnTo>
                  <a:pt x="599767" y="404034"/>
                </a:lnTo>
                <a:lnTo>
                  <a:pt x="642689" y="427894"/>
                </a:lnTo>
                <a:lnTo>
                  <a:pt x="686232" y="445280"/>
                </a:lnTo>
                <a:lnTo>
                  <a:pt x="720851" y="455497"/>
                </a:lnTo>
                <a:lnTo>
                  <a:pt x="775656" y="448138"/>
                </a:lnTo>
                <a:lnTo>
                  <a:pt x="819178" y="442345"/>
                </a:lnTo>
                <a:lnTo>
                  <a:pt x="857535" y="438542"/>
                </a:lnTo>
                <a:lnTo>
                  <a:pt x="896845" y="437152"/>
                </a:lnTo>
                <a:lnTo>
                  <a:pt x="943225" y="438599"/>
                </a:lnTo>
                <a:lnTo>
                  <a:pt x="1002792" y="443305"/>
                </a:lnTo>
                <a:lnTo>
                  <a:pt x="1033652" y="450687"/>
                </a:lnTo>
                <a:lnTo>
                  <a:pt x="1067371" y="459497"/>
                </a:lnTo>
                <a:lnTo>
                  <a:pt x="1101375" y="466879"/>
                </a:lnTo>
                <a:lnTo>
                  <a:pt x="1133094" y="469975"/>
                </a:lnTo>
              </a:path>
            </a:pathLst>
          </a:custGeom>
          <a:noFill/>
          <a:ln w="38160">
            <a:solidFill>
              <a:srgbClr val="018080"/>
            </a:solidFill>
            <a:round/>
          </a:ln>
        </p:spPr>
        <p:style>
          <a:lnRef idx="0">
            <a:srgbClr val="FFFFFF"/>
          </a:lnRef>
          <a:fillRef idx="0">
            <a:srgbClr val="FFFFFF"/>
          </a:fillRef>
          <a:effectRef idx="0">
            <a:srgbClr val="FFFFFF"/>
          </a:effectRef>
          <a:fontRef idx="minor"/>
        </p:style>
      </p:sp>
      <p:sp>
        <p:nvSpPr>
          <p:cNvPr id="172" name="CustomShape 8"/>
          <p:cNvSpPr/>
          <p:nvPr/>
        </p:nvSpPr>
        <p:spPr>
          <a:xfrm>
            <a:off x="612742" y="3902075"/>
            <a:ext cx="3414428" cy="823595"/>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indent="105410">
              <a:lnSpc>
                <a:spcPct val="100000"/>
              </a:lnSpc>
              <a:spcBef>
                <a:spcPts val="100"/>
              </a:spcBef>
            </a:pPr>
            <a:r>
              <a:rPr lang="en-AU" sz="1750" b="0" strike="noStrike" spc="-29" dirty="0">
                <a:solidFill>
                  <a:srgbClr val="000000"/>
                </a:solidFill>
                <a:latin typeface="Calibri" panose="020F0502020204030204" pitchFamily="34" charset="0"/>
              </a:rPr>
              <a:t>Similar </a:t>
            </a:r>
            <a:r>
              <a:rPr lang="en-AU" sz="1750" b="0" strike="noStrike" spc="-63" dirty="0">
                <a:solidFill>
                  <a:srgbClr val="000000"/>
                </a:solidFill>
                <a:latin typeface="Calibri" panose="020F0502020204030204" pitchFamily="34" charset="0"/>
              </a:rPr>
              <a:t>(homologous) </a:t>
            </a:r>
            <a:r>
              <a:rPr lang="en-AU" sz="1750" b="0" strike="noStrike" spc="-58" dirty="0">
                <a:solidFill>
                  <a:srgbClr val="000000"/>
                </a:solidFill>
                <a:latin typeface="Calibri" panose="020F0502020204030204" pitchFamily="34" charset="0"/>
              </a:rPr>
              <a:t> </a:t>
            </a:r>
            <a:r>
              <a:rPr lang="en-AU" sz="1750" b="0" strike="noStrike" spc="-32" dirty="0">
                <a:solidFill>
                  <a:srgbClr val="000000"/>
                </a:solidFill>
                <a:latin typeface="Calibri" panose="020F0502020204030204" pitchFamily="34" charset="0"/>
              </a:rPr>
              <a:t>protein/gene</a:t>
            </a:r>
            <a:r>
              <a:rPr lang="en-AU" sz="1750" b="0" strike="noStrike" spc="-69" dirty="0">
                <a:solidFill>
                  <a:srgbClr val="000000"/>
                </a:solidFill>
                <a:latin typeface="Calibri" panose="020F0502020204030204" pitchFamily="34" charset="0"/>
              </a:rPr>
              <a:t> </a:t>
            </a:r>
            <a:endParaRPr lang="en-AU" sz="1750" b="0" strike="noStrike" spc="-1" dirty="0">
              <a:latin typeface="Calibri" panose="020F0502020204030204" pitchFamily="34" charset="0"/>
            </a:endParaRPr>
          </a:p>
          <a:p>
            <a:pPr marL="12700" indent="105410">
              <a:lnSpc>
                <a:spcPct val="100000"/>
              </a:lnSpc>
              <a:spcBef>
                <a:spcPts val="100"/>
              </a:spcBef>
            </a:pPr>
            <a:r>
              <a:rPr lang="en-AU" sz="1750" b="0" strike="noStrike" spc="4" dirty="0">
                <a:solidFill>
                  <a:srgbClr val="000000"/>
                </a:solidFill>
                <a:latin typeface="Calibri" panose="020F0502020204030204" pitchFamily="34" charset="0"/>
              </a:rPr>
              <a:t>sequences</a:t>
            </a:r>
            <a:endParaRPr lang="en-AU" sz="1750" b="0" strike="noStrike" spc="-1" dirty="0">
              <a:latin typeface="Calibri" panose="020F0502020204030204" pitchFamily="34" charset="0"/>
            </a:endParaRPr>
          </a:p>
        </p:txBody>
      </p:sp>
      <p:sp>
        <p:nvSpPr>
          <p:cNvPr id="173" name="CustomShape 9"/>
          <p:cNvSpPr/>
          <p:nvPr/>
        </p:nvSpPr>
        <p:spPr>
          <a:xfrm>
            <a:off x="1616040" y="2170440"/>
            <a:ext cx="5168520" cy="27900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indent="635635">
              <a:lnSpc>
                <a:spcPct val="100000"/>
              </a:lnSpc>
              <a:spcBef>
                <a:spcPts val="100"/>
              </a:spcBef>
            </a:pPr>
            <a:r>
              <a:rPr lang="en-AU" sz="1750" b="0" strike="noStrike" spc="-9" dirty="0">
                <a:solidFill>
                  <a:srgbClr val="000000"/>
                </a:solidFill>
                <a:latin typeface="Calibri" panose="020F0502020204030204" pitchFamily="34" charset="0"/>
              </a:rPr>
              <a:t>Ancestral </a:t>
            </a:r>
            <a:r>
              <a:rPr lang="en-AU" sz="1750" b="0" strike="noStrike" spc="-32" dirty="0">
                <a:solidFill>
                  <a:srgbClr val="000000"/>
                </a:solidFill>
                <a:latin typeface="Calibri" panose="020F0502020204030204" pitchFamily="34" charset="0"/>
              </a:rPr>
              <a:t>protein/gene</a:t>
            </a:r>
            <a:r>
              <a:rPr lang="en-AU" sz="1750" b="0" strike="noStrike" spc="-89" dirty="0">
                <a:solidFill>
                  <a:srgbClr val="000000"/>
                </a:solidFill>
                <a:latin typeface="Calibri" panose="020F0502020204030204" pitchFamily="34" charset="0"/>
              </a:rPr>
              <a:t> </a:t>
            </a:r>
            <a:r>
              <a:rPr lang="en-AU" sz="1750" b="0" strike="noStrike" spc="-1" dirty="0">
                <a:solidFill>
                  <a:srgbClr val="000000"/>
                </a:solidFill>
                <a:latin typeface="Calibri" panose="020F0502020204030204" pitchFamily="34" charset="0"/>
              </a:rPr>
              <a:t>sequence</a:t>
            </a:r>
            <a:endParaRPr lang="en-AU" sz="1750" b="0" strike="noStrike" spc="-1" dirty="0">
              <a:latin typeface="Calibri" panose="020F0502020204030204" pitchFamily="34" charset="0"/>
            </a:endParaRPr>
          </a:p>
        </p:txBody>
      </p:sp>
      <p:sp>
        <p:nvSpPr>
          <p:cNvPr id="174" name="CustomShape 10"/>
          <p:cNvSpPr/>
          <p:nvPr/>
        </p:nvSpPr>
        <p:spPr>
          <a:xfrm>
            <a:off x="1486080" y="5407920"/>
            <a:ext cx="7481880" cy="641160"/>
          </a:xfrm>
          <a:prstGeom prst="rect">
            <a:avLst/>
          </a:prstGeom>
          <a:noFill/>
          <a:ln w="9360">
            <a:solidFill>
              <a:srgbClr val="010101"/>
            </a:solidFill>
            <a:round/>
          </a:ln>
        </p:spPr>
        <p:style>
          <a:lnRef idx="0">
            <a:srgbClr val="FFFFFF"/>
          </a:lnRef>
          <a:fillRef idx="0">
            <a:srgbClr val="FFFFFF"/>
          </a:fillRef>
          <a:effectRef idx="0">
            <a:srgbClr val="FFFFFF"/>
          </a:effectRef>
          <a:fontRef idx="minor"/>
        </p:style>
        <p:txBody>
          <a:bodyPr lIns="0" tIns="108000" rIns="0" bIns="0"/>
          <a:lstStyle/>
          <a:p>
            <a:pPr marL="149225">
              <a:lnSpc>
                <a:spcPct val="100000"/>
              </a:lnSpc>
              <a:spcBef>
                <a:spcPts val="875"/>
              </a:spcBef>
            </a:pPr>
            <a:r>
              <a:rPr lang="en-AU" sz="1750" spc="-29" dirty="0">
                <a:solidFill>
                  <a:srgbClr val="000000"/>
                </a:solidFill>
                <a:latin typeface="Calibri" panose="020F0502020204030204" pitchFamily="34" charset="0"/>
              </a:rPr>
              <a:t>S</a:t>
            </a:r>
            <a:r>
              <a:rPr lang="en-AU" sz="1750" b="0" strike="noStrike" spc="-29" dirty="0">
                <a:solidFill>
                  <a:srgbClr val="000000"/>
                </a:solidFill>
                <a:latin typeface="Calibri" panose="020F0502020204030204" pitchFamily="34" charset="0"/>
              </a:rPr>
              <a:t>imilar</a:t>
            </a:r>
            <a:r>
              <a:rPr lang="en-AU" sz="1750" b="0" strike="noStrike" spc="-9"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sequences:</a:t>
            </a:r>
            <a:r>
              <a:rPr lang="en-AU" sz="1750" b="0" strike="noStrike" spc="-4" dirty="0">
                <a:solidFill>
                  <a:srgbClr val="000000"/>
                </a:solidFill>
                <a:latin typeface="Calibri" panose="020F0502020204030204" pitchFamily="34" charset="0"/>
              </a:rPr>
              <a:t> </a:t>
            </a:r>
            <a:r>
              <a:rPr lang="en-AU" sz="1750" b="0" strike="noStrike" spc="-63" dirty="0">
                <a:solidFill>
                  <a:srgbClr val="000000"/>
                </a:solidFill>
                <a:latin typeface="Calibri" panose="020F0502020204030204" pitchFamily="34" charset="0"/>
              </a:rPr>
              <a:t>probably</a:t>
            </a:r>
            <a:r>
              <a:rPr lang="en-AU" sz="1750" b="0" strike="noStrike" spc="-4" dirty="0">
                <a:solidFill>
                  <a:srgbClr val="000000"/>
                </a:solidFill>
                <a:latin typeface="Calibri" panose="020F0502020204030204" pitchFamily="34" charset="0"/>
              </a:rPr>
              <a:t> </a:t>
            </a:r>
            <a:r>
              <a:rPr lang="en-AU" sz="1750" b="0" strike="noStrike" spc="-43" dirty="0">
                <a:solidFill>
                  <a:srgbClr val="000000"/>
                </a:solidFill>
                <a:latin typeface="Calibri" panose="020F0502020204030204" pitchFamily="34" charset="0"/>
              </a:rPr>
              <a:t>have</a:t>
            </a:r>
            <a:r>
              <a:rPr lang="en-AU" sz="1750" b="0" strike="noStrike" spc="-4" dirty="0">
                <a:solidFill>
                  <a:srgbClr val="000000"/>
                </a:solidFill>
                <a:latin typeface="Calibri" panose="020F0502020204030204" pitchFamily="34" charset="0"/>
              </a:rPr>
              <a:t> </a:t>
            </a:r>
            <a:r>
              <a:rPr lang="en-AU" sz="1750" b="0" strike="noStrike" spc="-63" dirty="0">
                <a:solidFill>
                  <a:srgbClr val="000000"/>
                </a:solidFill>
                <a:latin typeface="Calibri" panose="020F0502020204030204" pitchFamily="34" charset="0"/>
              </a:rPr>
              <a:t>the</a:t>
            </a:r>
            <a:r>
              <a:rPr lang="en-AU" sz="1750" b="0" strike="noStrike" spc="-4" dirty="0">
                <a:solidFill>
                  <a:srgbClr val="000000"/>
                </a:solidFill>
                <a:latin typeface="Calibri" panose="020F0502020204030204" pitchFamily="34" charset="0"/>
              </a:rPr>
              <a:t> </a:t>
            </a:r>
            <a:r>
              <a:rPr lang="en-AU" sz="1750" b="0" strike="noStrike" spc="9" dirty="0">
                <a:solidFill>
                  <a:srgbClr val="000000"/>
                </a:solidFill>
                <a:latin typeface="Calibri" panose="020F0502020204030204" pitchFamily="34" charset="0"/>
              </a:rPr>
              <a:t>same</a:t>
            </a:r>
            <a:r>
              <a:rPr lang="en-AU" sz="1750" b="0" strike="noStrike" spc="-4" dirty="0">
                <a:solidFill>
                  <a:srgbClr val="000000"/>
                </a:solidFill>
                <a:latin typeface="Calibri" panose="020F0502020204030204" pitchFamily="34" charset="0"/>
              </a:rPr>
              <a:t> </a:t>
            </a:r>
            <a:r>
              <a:rPr lang="en-AU" sz="1750" b="0" strike="noStrike" spc="-24" dirty="0">
                <a:solidFill>
                  <a:srgbClr val="000000"/>
                </a:solidFill>
                <a:latin typeface="Calibri" panose="020F0502020204030204" pitchFamily="34" charset="0"/>
              </a:rPr>
              <a:t>ancestor,</a:t>
            </a:r>
            <a:r>
              <a:rPr lang="en-AU" sz="1750" b="0" strike="noStrike" spc="-4" dirty="0">
                <a:solidFill>
                  <a:srgbClr val="000000"/>
                </a:solidFill>
                <a:latin typeface="Calibri" panose="020F0502020204030204" pitchFamily="34" charset="0"/>
              </a:rPr>
              <a:t> </a:t>
            </a:r>
            <a:r>
              <a:rPr lang="en-AU" sz="1750" b="0" strike="noStrike" spc="-1" dirty="0">
                <a:solidFill>
                  <a:srgbClr val="000000"/>
                </a:solidFill>
                <a:latin typeface="Calibri" panose="020F0502020204030204" pitchFamily="34" charset="0"/>
              </a:rPr>
              <a:t>share</a:t>
            </a:r>
            <a:r>
              <a:rPr lang="en-AU" sz="1750" b="0" strike="noStrike" spc="-4" dirty="0">
                <a:solidFill>
                  <a:srgbClr val="000000"/>
                </a:solidFill>
                <a:latin typeface="Calibri" panose="020F0502020204030204" pitchFamily="34" charset="0"/>
              </a:rPr>
              <a:t> </a:t>
            </a:r>
            <a:r>
              <a:rPr lang="en-AU" sz="1750" b="0" strike="noStrike" spc="-69" dirty="0">
                <a:solidFill>
                  <a:srgbClr val="000000"/>
                </a:solidFill>
                <a:latin typeface="Calibri" panose="020F0502020204030204" pitchFamily="34" charset="0"/>
              </a:rPr>
              <a:t>the</a:t>
            </a:r>
            <a:r>
              <a:rPr lang="en-AU" sz="1750" b="0" strike="noStrike" spc="-4" dirty="0">
                <a:solidFill>
                  <a:srgbClr val="000000"/>
                </a:solidFill>
                <a:latin typeface="Calibri" panose="020F0502020204030204" pitchFamily="34" charset="0"/>
              </a:rPr>
              <a:t> </a:t>
            </a:r>
            <a:r>
              <a:rPr lang="en-AU" sz="1750" b="0" strike="noStrike" spc="9" dirty="0">
                <a:solidFill>
                  <a:srgbClr val="000000"/>
                </a:solidFill>
                <a:latin typeface="Calibri" panose="020F0502020204030204" pitchFamily="34" charset="0"/>
              </a:rPr>
              <a:t>same</a:t>
            </a:r>
            <a:r>
              <a:rPr lang="en-AU" sz="1750" b="0" strike="noStrike" spc="-4" dirty="0">
                <a:solidFill>
                  <a:srgbClr val="000000"/>
                </a:solidFill>
                <a:latin typeface="Calibri" panose="020F0502020204030204" pitchFamily="34" charset="0"/>
              </a:rPr>
              <a:t> </a:t>
            </a:r>
            <a:r>
              <a:rPr lang="en-AU" sz="1750" b="0" strike="noStrike" spc="-43" dirty="0">
                <a:solidFill>
                  <a:srgbClr val="000000"/>
                </a:solidFill>
                <a:latin typeface="Calibri" panose="020F0502020204030204" pitchFamily="34" charset="0"/>
              </a:rPr>
              <a:t>structure, </a:t>
            </a:r>
            <a:r>
              <a:rPr lang="en-AU" sz="1750" b="0" strike="noStrike" spc="-514" dirty="0">
                <a:solidFill>
                  <a:srgbClr val="000000"/>
                </a:solidFill>
                <a:latin typeface="Calibri" panose="020F0502020204030204" pitchFamily="34" charset="0"/>
              </a:rPr>
              <a:t> </a:t>
            </a:r>
            <a:r>
              <a:rPr lang="en-AU" sz="1750" b="0" strike="noStrike" spc="-24" dirty="0">
                <a:solidFill>
                  <a:srgbClr val="000000"/>
                </a:solidFill>
                <a:latin typeface="Calibri" panose="020F0502020204030204" pitchFamily="34" charset="0"/>
              </a:rPr>
              <a:t>and</a:t>
            </a:r>
            <a:r>
              <a:rPr lang="en-AU" sz="1750" b="0" strike="noStrike" spc="-12" dirty="0">
                <a:solidFill>
                  <a:srgbClr val="000000"/>
                </a:solidFill>
                <a:latin typeface="Calibri" panose="020F0502020204030204" pitchFamily="34" charset="0"/>
              </a:rPr>
              <a:t> </a:t>
            </a:r>
            <a:r>
              <a:rPr lang="en-AU" sz="1750" b="0" strike="noStrike" spc="-49" dirty="0">
                <a:solidFill>
                  <a:srgbClr val="000000"/>
                </a:solidFill>
                <a:latin typeface="Calibri" panose="020F0502020204030204" pitchFamily="34" charset="0"/>
              </a:rPr>
              <a:t>have</a:t>
            </a:r>
            <a:r>
              <a:rPr lang="en-AU" sz="1750" b="0" strike="noStrike" spc="-12" dirty="0">
                <a:solidFill>
                  <a:srgbClr val="000000"/>
                </a:solidFill>
                <a:latin typeface="Calibri" panose="020F0502020204030204" pitchFamily="34" charset="0"/>
              </a:rPr>
              <a:t> </a:t>
            </a:r>
            <a:r>
              <a:rPr lang="en-AU" sz="1750" b="0" strike="noStrike" spc="72" dirty="0">
                <a:solidFill>
                  <a:srgbClr val="000000"/>
                </a:solidFill>
                <a:latin typeface="Calibri" panose="020F0502020204030204" pitchFamily="34" charset="0"/>
              </a:rPr>
              <a:t>a</a:t>
            </a:r>
            <a:r>
              <a:rPr lang="en-AU" sz="1750" b="0" strike="noStrike" spc="-12" dirty="0">
                <a:solidFill>
                  <a:srgbClr val="000000"/>
                </a:solidFill>
                <a:latin typeface="Calibri" panose="020F0502020204030204" pitchFamily="34" charset="0"/>
              </a:rPr>
              <a:t> </a:t>
            </a:r>
            <a:r>
              <a:rPr lang="en-AU" sz="1750" b="0" strike="noStrike" spc="-29" dirty="0">
                <a:solidFill>
                  <a:srgbClr val="000000"/>
                </a:solidFill>
                <a:latin typeface="Calibri" panose="020F0502020204030204" pitchFamily="34" charset="0"/>
              </a:rPr>
              <a:t>similar</a:t>
            </a:r>
            <a:r>
              <a:rPr lang="en-AU" sz="1750" b="0" strike="noStrike" spc="-12" dirty="0">
                <a:solidFill>
                  <a:srgbClr val="000000"/>
                </a:solidFill>
                <a:latin typeface="Calibri" panose="020F0502020204030204" pitchFamily="34" charset="0"/>
              </a:rPr>
              <a:t> </a:t>
            </a:r>
            <a:r>
              <a:rPr lang="en-AU" sz="1750" b="0" strike="noStrike" spc="-24" dirty="0">
                <a:solidFill>
                  <a:srgbClr val="000000"/>
                </a:solidFill>
                <a:latin typeface="Calibri" panose="020F0502020204030204" pitchFamily="34" charset="0"/>
              </a:rPr>
              <a:t>biological</a:t>
            </a:r>
            <a:r>
              <a:rPr lang="en-AU" sz="1750" b="0" strike="noStrike" spc="-12" dirty="0">
                <a:solidFill>
                  <a:srgbClr val="000000"/>
                </a:solidFill>
                <a:latin typeface="Calibri" panose="020F0502020204030204" pitchFamily="34" charset="0"/>
              </a:rPr>
              <a:t> </a:t>
            </a:r>
            <a:r>
              <a:rPr lang="en-AU" sz="1750" b="0" strike="noStrike" spc="-69" dirty="0">
                <a:solidFill>
                  <a:srgbClr val="000000"/>
                </a:solidFill>
                <a:latin typeface="Calibri" panose="020F0502020204030204" pitchFamily="34" charset="0"/>
              </a:rPr>
              <a:t>function</a:t>
            </a:r>
            <a:endParaRPr lang="en-AU" sz="1750" b="0" strike="noStrike" spc="-1" dirty="0">
              <a:latin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Shape 1"/>
          <p:cNvSpPr txBox="1"/>
          <p:nvPr/>
        </p:nvSpPr>
        <p:spPr>
          <a:xfrm>
            <a:off x="1591541" y="854280"/>
            <a:ext cx="7375717" cy="627840"/>
          </a:xfrm>
          <a:prstGeom prst="rect">
            <a:avLst/>
          </a:prstGeom>
          <a:noFill/>
          <a:ln>
            <a:noFill/>
          </a:ln>
        </p:spPr>
        <p:txBody>
          <a:bodyPr lIns="0" tIns="12240" rIns="0" bIns="0"/>
          <a:lstStyle/>
          <a:p>
            <a:pPr marL="12700" algn="ctr">
              <a:lnSpc>
                <a:spcPct val="100000"/>
              </a:lnSpc>
              <a:spcBef>
                <a:spcPts val="100"/>
              </a:spcBef>
            </a:pPr>
            <a:r>
              <a:rPr lang="en-AU" sz="3600" b="1" strike="noStrike" spc="-1" dirty="0">
                <a:solidFill>
                  <a:srgbClr val="191919"/>
                </a:solidFill>
                <a:latin typeface="Calibri" panose="020F0502020204030204" pitchFamily="34" charset="0"/>
              </a:rPr>
              <a:t>Importance</a:t>
            </a:r>
            <a:r>
              <a:rPr lang="en-AU" sz="3600" b="1" strike="noStrike" spc="-43" dirty="0">
                <a:solidFill>
                  <a:srgbClr val="191919"/>
                </a:solidFill>
                <a:latin typeface="Calibri" panose="020F0502020204030204" pitchFamily="34" charset="0"/>
              </a:rPr>
              <a:t> </a:t>
            </a:r>
            <a:r>
              <a:rPr lang="en-AU" sz="3600" b="1" strike="noStrike" spc="-4" dirty="0">
                <a:solidFill>
                  <a:srgbClr val="191919"/>
                </a:solidFill>
                <a:latin typeface="Calibri" panose="020F0502020204030204" pitchFamily="34" charset="0"/>
              </a:rPr>
              <a:t>of</a:t>
            </a:r>
            <a:r>
              <a:rPr lang="en-AU" sz="3600" b="1" strike="noStrike" spc="-49" dirty="0">
                <a:solidFill>
                  <a:srgbClr val="191919"/>
                </a:solidFill>
                <a:latin typeface="Calibri" panose="020F0502020204030204" pitchFamily="34" charset="0"/>
              </a:rPr>
              <a:t> </a:t>
            </a:r>
            <a:r>
              <a:rPr lang="en-AU" sz="3600" b="1" strike="noStrike" spc="-1" dirty="0">
                <a:solidFill>
                  <a:srgbClr val="191919"/>
                </a:solidFill>
                <a:latin typeface="Calibri" panose="020F0502020204030204" pitchFamily="34" charset="0"/>
              </a:rPr>
              <a:t>Similarity</a:t>
            </a:r>
            <a:endParaRPr lang="en-AU" sz="3600" b="0" strike="noStrike" spc="-1" dirty="0">
              <a:solidFill>
                <a:srgbClr val="000000"/>
              </a:solidFill>
              <a:latin typeface="Calibri"/>
            </a:endParaRPr>
          </a:p>
        </p:txBody>
      </p:sp>
      <p:sp>
        <p:nvSpPr>
          <p:cNvPr id="176" name="CustomShape 2"/>
          <p:cNvSpPr/>
          <p:nvPr/>
        </p:nvSpPr>
        <p:spPr>
          <a:xfrm>
            <a:off x="1837800" y="2969280"/>
            <a:ext cx="1101600" cy="606600"/>
          </a:xfrm>
          <a:custGeom>
            <a:avLst/>
            <a:gdLst/>
            <a:ahLst/>
            <a:cxnLst/>
            <a:rect l="l" t="t" r="r" b="b"/>
            <a:pathLst>
              <a:path w="1133475" h="624204">
                <a:moveTo>
                  <a:pt x="0" y="31825"/>
                </a:moveTo>
                <a:lnTo>
                  <a:pt x="58602" y="10644"/>
                </a:lnTo>
                <a:lnTo>
                  <a:pt x="105346" y="678"/>
                </a:lnTo>
                <a:lnTo>
                  <a:pt x="154090" y="0"/>
                </a:lnTo>
                <a:lnTo>
                  <a:pt x="218694" y="6679"/>
                </a:lnTo>
                <a:lnTo>
                  <a:pt x="254805" y="25419"/>
                </a:lnTo>
                <a:lnTo>
                  <a:pt x="285273" y="53161"/>
                </a:lnTo>
                <a:lnTo>
                  <a:pt x="311598" y="86617"/>
                </a:lnTo>
                <a:lnTo>
                  <a:pt x="335280" y="122503"/>
                </a:lnTo>
                <a:lnTo>
                  <a:pt x="327433" y="176176"/>
                </a:lnTo>
                <a:lnTo>
                  <a:pt x="292310" y="222373"/>
                </a:lnTo>
                <a:lnTo>
                  <a:pt x="244601" y="210895"/>
                </a:lnTo>
                <a:lnTo>
                  <a:pt x="265771" y="163187"/>
                </a:lnTo>
                <a:lnTo>
                  <a:pt x="329255" y="140065"/>
                </a:lnTo>
                <a:lnTo>
                  <a:pt x="385572" y="147649"/>
                </a:lnTo>
                <a:lnTo>
                  <a:pt x="425934" y="164937"/>
                </a:lnTo>
                <a:lnTo>
                  <a:pt x="463295" y="185939"/>
                </a:lnTo>
                <a:lnTo>
                  <a:pt x="500657" y="207228"/>
                </a:lnTo>
                <a:lnTo>
                  <a:pt x="541019" y="225373"/>
                </a:lnTo>
                <a:lnTo>
                  <a:pt x="582799" y="210800"/>
                </a:lnTo>
                <a:lnTo>
                  <a:pt x="610647" y="192226"/>
                </a:lnTo>
                <a:lnTo>
                  <a:pt x="629209" y="164508"/>
                </a:lnTo>
                <a:lnTo>
                  <a:pt x="643127" y="122503"/>
                </a:lnTo>
                <a:lnTo>
                  <a:pt x="624601" y="92392"/>
                </a:lnTo>
                <a:lnTo>
                  <a:pt x="603504" y="69639"/>
                </a:lnTo>
                <a:lnTo>
                  <a:pt x="573262" y="66460"/>
                </a:lnTo>
                <a:lnTo>
                  <a:pt x="527304" y="95071"/>
                </a:lnTo>
                <a:lnTo>
                  <a:pt x="517671" y="111073"/>
                </a:lnTo>
                <a:lnTo>
                  <a:pt x="514826" y="131075"/>
                </a:lnTo>
                <a:lnTo>
                  <a:pt x="514981" y="152507"/>
                </a:lnTo>
                <a:lnTo>
                  <a:pt x="514350" y="172795"/>
                </a:lnTo>
                <a:lnTo>
                  <a:pt x="507051" y="229742"/>
                </a:lnTo>
                <a:lnTo>
                  <a:pt x="499395" y="270617"/>
                </a:lnTo>
                <a:lnTo>
                  <a:pt x="480167" y="307919"/>
                </a:lnTo>
                <a:lnTo>
                  <a:pt x="438150" y="354151"/>
                </a:lnTo>
                <a:lnTo>
                  <a:pt x="394811" y="395108"/>
                </a:lnTo>
                <a:lnTo>
                  <a:pt x="347472" y="430351"/>
                </a:lnTo>
                <a:lnTo>
                  <a:pt x="283463" y="448353"/>
                </a:lnTo>
                <a:lnTo>
                  <a:pt x="244601" y="455497"/>
                </a:lnTo>
                <a:lnTo>
                  <a:pt x="215574" y="453592"/>
                </a:lnTo>
                <a:lnTo>
                  <a:pt x="186118" y="452830"/>
                </a:lnTo>
                <a:lnTo>
                  <a:pt x="156948" y="450353"/>
                </a:lnTo>
                <a:lnTo>
                  <a:pt x="128777" y="443305"/>
                </a:lnTo>
                <a:lnTo>
                  <a:pt x="117097" y="428505"/>
                </a:lnTo>
                <a:lnTo>
                  <a:pt x="115919" y="404919"/>
                </a:lnTo>
                <a:lnTo>
                  <a:pt x="121169" y="381476"/>
                </a:lnTo>
                <a:lnTo>
                  <a:pt x="128777" y="367105"/>
                </a:lnTo>
                <a:lnTo>
                  <a:pt x="136767" y="361545"/>
                </a:lnTo>
                <a:lnTo>
                  <a:pt x="146399" y="358628"/>
                </a:lnTo>
                <a:lnTo>
                  <a:pt x="156745" y="356711"/>
                </a:lnTo>
                <a:lnTo>
                  <a:pt x="166877" y="354151"/>
                </a:lnTo>
                <a:lnTo>
                  <a:pt x="195691" y="356711"/>
                </a:lnTo>
                <a:lnTo>
                  <a:pt x="224789" y="358628"/>
                </a:lnTo>
                <a:lnTo>
                  <a:pt x="253888" y="361545"/>
                </a:lnTo>
                <a:lnTo>
                  <a:pt x="315039" y="387417"/>
                </a:lnTo>
                <a:lnTo>
                  <a:pt x="349948" y="426160"/>
                </a:lnTo>
                <a:lnTo>
                  <a:pt x="383428" y="470618"/>
                </a:lnTo>
                <a:lnTo>
                  <a:pt x="411480" y="508075"/>
                </a:lnTo>
                <a:lnTo>
                  <a:pt x="428458" y="529851"/>
                </a:lnTo>
                <a:lnTo>
                  <a:pt x="444436" y="552557"/>
                </a:lnTo>
                <a:lnTo>
                  <a:pt x="460128" y="575690"/>
                </a:lnTo>
                <a:lnTo>
                  <a:pt x="476250" y="598753"/>
                </a:lnTo>
                <a:lnTo>
                  <a:pt x="495145" y="612005"/>
                </a:lnTo>
                <a:lnTo>
                  <a:pt x="521112" y="619613"/>
                </a:lnTo>
                <a:lnTo>
                  <a:pt x="544079" y="623077"/>
                </a:lnTo>
                <a:lnTo>
                  <a:pt x="553974" y="623899"/>
                </a:lnTo>
                <a:lnTo>
                  <a:pt x="594664" y="596912"/>
                </a:lnTo>
                <a:lnTo>
                  <a:pt x="615970" y="583751"/>
                </a:lnTo>
                <a:lnTo>
                  <a:pt x="656844" y="533221"/>
                </a:lnTo>
                <a:lnTo>
                  <a:pt x="676179" y="469213"/>
                </a:lnTo>
                <a:lnTo>
                  <a:pt x="685240" y="437209"/>
                </a:lnTo>
                <a:lnTo>
                  <a:pt x="694944" y="405205"/>
                </a:lnTo>
                <a:lnTo>
                  <a:pt x="680751" y="362819"/>
                </a:lnTo>
                <a:lnTo>
                  <a:pt x="656844" y="326719"/>
                </a:lnTo>
                <a:lnTo>
                  <a:pt x="609123" y="309002"/>
                </a:lnTo>
                <a:lnTo>
                  <a:pt x="579119" y="301573"/>
                </a:lnTo>
                <a:lnTo>
                  <a:pt x="571976" y="310741"/>
                </a:lnTo>
                <a:lnTo>
                  <a:pt x="563689" y="319480"/>
                </a:lnTo>
                <a:lnTo>
                  <a:pt x="556831" y="328791"/>
                </a:lnTo>
                <a:lnTo>
                  <a:pt x="553974" y="339673"/>
                </a:lnTo>
                <a:lnTo>
                  <a:pt x="567013" y="374396"/>
                </a:lnTo>
                <a:lnTo>
                  <a:pt x="599767" y="404034"/>
                </a:lnTo>
                <a:lnTo>
                  <a:pt x="642689" y="427894"/>
                </a:lnTo>
                <a:lnTo>
                  <a:pt x="686232" y="445280"/>
                </a:lnTo>
                <a:lnTo>
                  <a:pt x="720851" y="455497"/>
                </a:lnTo>
                <a:lnTo>
                  <a:pt x="775659" y="448138"/>
                </a:lnTo>
                <a:lnTo>
                  <a:pt x="819206" y="442345"/>
                </a:lnTo>
                <a:lnTo>
                  <a:pt x="857631" y="438542"/>
                </a:lnTo>
                <a:lnTo>
                  <a:pt x="897071" y="437152"/>
                </a:lnTo>
                <a:lnTo>
                  <a:pt x="943666" y="438599"/>
                </a:lnTo>
                <a:lnTo>
                  <a:pt x="1003554" y="443305"/>
                </a:lnTo>
                <a:lnTo>
                  <a:pt x="1034295" y="450687"/>
                </a:lnTo>
                <a:lnTo>
                  <a:pt x="1067752" y="459497"/>
                </a:lnTo>
                <a:lnTo>
                  <a:pt x="1101494" y="466879"/>
                </a:lnTo>
                <a:lnTo>
                  <a:pt x="1133094" y="469975"/>
                </a:lnTo>
              </a:path>
            </a:pathLst>
          </a:custGeom>
          <a:noFill/>
          <a:ln w="38160">
            <a:solidFill>
              <a:srgbClr val="34CCCC"/>
            </a:solidFill>
            <a:round/>
          </a:ln>
        </p:spPr>
        <p:style>
          <a:lnRef idx="0">
            <a:srgbClr val="FFFFFF"/>
          </a:lnRef>
          <a:fillRef idx="0">
            <a:srgbClr val="FFFFFF"/>
          </a:fillRef>
          <a:effectRef idx="0">
            <a:srgbClr val="FFFFFF"/>
          </a:effectRef>
          <a:fontRef idx="minor"/>
        </p:style>
      </p:sp>
      <p:sp>
        <p:nvSpPr>
          <p:cNvPr id="177" name="CustomShape 3"/>
          <p:cNvSpPr/>
          <p:nvPr/>
        </p:nvSpPr>
        <p:spPr>
          <a:xfrm>
            <a:off x="6439680" y="2969280"/>
            <a:ext cx="1102320" cy="606600"/>
          </a:xfrm>
          <a:custGeom>
            <a:avLst/>
            <a:gdLst/>
            <a:ahLst/>
            <a:cxnLst/>
            <a:rect l="l" t="t" r="r" b="b"/>
            <a:pathLst>
              <a:path w="1134109" h="624204">
                <a:moveTo>
                  <a:pt x="0" y="31825"/>
                </a:moveTo>
                <a:lnTo>
                  <a:pt x="58721" y="10644"/>
                </a:lnTo>
                <a:lnTo>
                  <a:pt x="105727" y="678"/>
                </a:lnTo>
                <a:lnTo>
                  <a:pt x="154733" y="0"/>
                </a:lnTo>
                <a:lnTo>
                  <a:pt x="219455" y="6679"/>
                </a:lnTo>
                <a:lnTo>
                  <a:pt x="255448" y="25419"/>
                </a:lnTo>
                <a:lnTo>
                  <a:pt x="285654" y="53161"/>
                </a:lnTo>
                <a:lnTo>
                  <a:pt x="311717" y="86617"/>
                </a:lnTo>
                <a:lnTo>
                  <a:pt x="335279" y="122503"/>
                </a:lnTo>
                <a:lnTo>
                  <a:pt x="327540" y="176176"/>
                </a:lnTo>
                <a:lnTo>
                  <a:pt x="292631" y="222373"/>
                </a:lnTo>
                <a:lnTo>
                  <a:pt x="244601" y="210895"/>
                </a:lnTo>
                <a:lnTo>
                  <a:pt x="266211" y="163187"/>
                </a:lnTo>
                <a:lnTo>
                  <a:pt x="330005" y="140065"/>
                </a:lnTo>
                <a:lnTo>
                  <a:pt x="386333" y="147649"/>
                </a:lnTo>
                <a:lnTo>
                  <a:pt x="426696" y="164937"/>
                </a:lnTo>
                <a:lnTo>
                  <a:pt x="464057" y="185939"/>
                </a:lnTo>
                <a:lnTo>
                  <a:pt x="501419" y="207228"/>
                </a:lnTo>
                <a:lnTo>
                  <a:pt x="541781" y="225373"/>
                </a:lnTo>
                <a:lnTo>
                  <a:pt x="583120" y="210800"/>
                </a:lnTo>
                <a:lnTo>
                  <a:pt x="610742" y="192226"/>
                </a:lnTo>
                <a:lnTo>
                  <a:pt x="629221" y="164508"/>
                </a:lnTo>
                <a:lnTo>
                  <a:pt x="643127" y="122503"/>
                </a:lnTo>
                <a:lnTo>
                  <a:pt x="624923" y="92392"/>
                </a:lnTo>
                <a:lnTo>
                  <a:pt x="603789" y="69639"/>
                </a:lnTo>
                <a:lnTo>
                  <a:pt x="573369" y="66460"/>
                </a:lnTo>
                <a:lnTo>
                  <a:pt x="527303" y="95071"/>
                </a:lnTo>
                <a:lnTo>
                  <a:pt x="517778" y="111073"/>
                </a:lnTo>
                <a:lnTo>
                  <a:pt x="515111" y="131075"/>
                </a:lnTo>
                <a:lnTo>
                  <a:pt x="515302" y="152507"/>
                </a:lnTo>
                <a:lnTo>
                  <a:pt x="514350" y="172795"/>
                </a:lnTo>
                <a:lnTo>
                  <a:pt x="507372" y="229742"/>
                </a:lnTo>
                <a:lnTo>
                  <a:pt x="499681" y="270617"/>
                </a:lnTo>
                <a:lnTo>
                  <a:pt x="480274" y="307919"/>
                </a:lnTo>
                <a:lnTo>
                  <a:pt x="438150" y="354151"/>
                </a:lnTo>
                <a:lnTo>
                  <a:pt x="394906" y="395108"/>
                </a:lnTo>
                <a:lnTo>
                  <a:pt x="348233" y="430351"/>
                </a:lnTo>
                <a:lnTo>
                  <a:pt x="283845" y="448353"/>
                </a:lnTo>
                <a:lnTo>
                  <a:pt x="244601" y="455497"/>
                </a:lnTo>
                <a:lnTo>
                  <a:pt x="215574" y="453592"/>
                </a:lnTo>
                <a:lnTo>
                  <a:pt x="186118" y="452830"/>
                </a:lnTo>
                <a:lnTo>
                  <a:pt x="156948" y="450353"/>
                </a:lnTo>
                <a:lnTo>
                  <a:pt x="128777" y="443305"/>
                </a:lnTo>
                <a:lnTo>
                  <a:pt x="117526" y="428505"/>
                </a:lnTo>
                <a:lnTo>
                  <a:pt x="116490" y="404919"/>
                </a:lnTo>
                <a:lnTo>
                  <a:pt x="121598" y="381476"/>
                </a:lnTo>
                <a:lnTo>
                  <a:pt x="128777" y="367105"/>
                </a:lnTo>
                <a:lnTo>
                  <a:pt x="137195" y="361545"/>
                </a:lnTo>
                <a:lnTo>
                  <a:pt x="146970" y="358628"/>
                </a:lnTo>
                <a:lnTo>
                  <a:pt x="157174" y="356711"/>
                </a:lnTo>
                <a:lnTo>
                  <a:pt x="166877" y="354151"/>
                </a:lnTo>
                <a:lnTo>
                  <a:pt x="195691" y="356711"/>
                </a:lnTo>
                <a:lnTo>
                  <a:pt x="224789" y="358628"/>
                </a:lnTo>
                <a:lnTo>
                  <a:pt x="253888" y="361545"/>
                </a:lnTo>
                <a:lnTo>
                  <a:pt x="315039" y="387417"/>
                </a:lnTo>
                <a:lnTo>
                  <a:pt x="349948" y="426160"/>
                </a:lnTo>
                <a:lnTo>
                  <a:pt x="383428" y="470618"/>
                </a:lnTo>
                <a:lnTo>
                  <a:pt x="411479" y="508075"/>
                </a:lnTo>
                <a:lnTo>
                  <a:pt x="428458" y="529851"/>
                </a:lnTo>
                <a:lnTo>
                  <a:pt x="444436" y="552557"/>
                </a:lnTo>
                <a:lnTo>
                  <a:pt x="460128" y="575690"/>
                </a:lnTo>
                <a:lnTo>
                  <a:pt x="476250" y="598753"/>
                </a:lnTo>
                <a:lnTo>
                  <a:pt x="495264" y="612005"/>
                </a:lnTo>
                <a:lnTo>
                  <a:pt x="521493" y="619613"/>
                </a:lnTo>
                <a:lnTo>
                  <a:pt x="544722" y="623077"/>
                </a:lnTo>
                <a:lnTo>
                  <a:pt x="554735" y="623899"/>
                </a:lnTo>
                <a:lnTo>
                  <a:pt x="595134" y="596912"/>
                </a:lnTo>
                <a:lnTo>
                  <a:pt x="616403" y="583751"/>
                </a:lnTo>
                <a:lnTo>
                  <a:pt x="657605" y="533221"/>
                </a:lnTo>
                <a:lnTo>
                  <a:pt x="676655" y="469213"/>
                </a:lnTo>
                <a:lnTo>
                  <a:pt x="685680" y="437209"/>
                </a:lnTo>
                <a:lnTo>
                  <a:pt x="695705" y="405205"/>
                </a:lnTo>
                <a:lnTo>
                  <a:pt x="689860" y="385762"/>
                </a:lnTo>
                <a:lnTo>
                  <a:pt x="681513" y="362819"/>
                </a:lnTo>
                <a:lnTo>
                  <a:pt x="657605" y="326719"/>
                </a:lnTo>
                <a:lnTo>
                  <a:pt x="609885" y="309002"/>
                </a:lnTo>
                <a:lnTo>
                  <a:pt x="579881" y="301573"/>
                </a:lnTo>
                <a:lnTo>
                  <a:pt x="572416" y="310741"/>
                </a:lnTo>
                <a:lnTo>
                  <a:pt x="564165" y="319480"/>
                </a:lnTo>
                <a:lnTo>
                  <a:pt x="557486" y="328791"/>
                </a:lnTo>
                <a:lnTo>
                  <a:pt x="554735" y="339673"/>
                </a:lnTo>
                <a:lnTo>
                  <a:pt x="567769" y="374396"/>
                </a:lnTo>
                <a:lnTo>
                  <a:pt x="600480" y="404034"/>
                </a:lnTo>
                <a:lnTo>
                  <a:pt x="643286" y="427894"/>
                </a:lnTo>
                <a:lnTo>
                  <a:pt x="686604" y="445280"/>
                </a:lnTo>
                <a:lnTo>
                  <a:pt x="720851" y="455497"/>
                </a:lnTo>
                <a:lnTo>
                  <a:pt x="775977" y="448138"/>
                </a:lnTo>
                <a:lnTo>
                  <a:pt x="819714" y="442345"/>
                </a:lnTo>
                <a:lnTo>
                  <a:pt x="858202" y="438542"/>
                </a:lnTo>
                <a:lnTo>
                  <a:pt x="897579" y="437152"/>
                </a:lnTo>
                <a:lnTo>
                  <a:pt x="943983" y="438599"/>
                </a:lnTo>
                <a:lnTo>
                  <a:pt x="1003553" y="443305"/>
                </a:lnTo>
                <a:lnTo>
                  <a:pt x="1034414" y="450687"/>
                </a:lnTo>
                <a:lnTo>
                  <a:pt x="1068133" y="459497"/>
                </a:lnTo>
                <a:lnTo>
                  <a:pt x="1102137" y="466879"/>
                </a:lnTo>
                <a:lnTo>
                  <a:pt x="1133855" y="469975"/>
                </a:lnTo>
              </a:path>
            </a:pathLst>
          </a:custGeom>
          <a:noFill/>
          <a:ln w="38160">
            <a:solidFill>
              <a:srgbClr val="018080"/>
            </a:solidFill>
            <a:round/>
          </a:ln>
        </p:spPr>
        <p:style>
          <a:lnRef idx="0">
            <a:srgbClr val="FFFFFF"/>
          </a:lnRef>
          <a:fillRef idx="0">
            <a:srgbClr val="FFFFFF"/>
          </a:fillRef>
          <a:effectRef idx="0">
            <a:srgbClr val="FFFFFF"/>
          </a:effectRef>
          <a:fontRef idx="minor"/>
        </p:style>
      </p:sp>
      <p:grpSp>
        <p:nvGrpSpPr>
          <p:cNvPr id="178" name="Group 4"/>
          <p:cNvGrpSpPr/>
          <p:nvPr/>
        </p:nvGrpSpPr>
        <p:grpSpPr>
          <a:xfrm>
            <a:off x="4356720" y="2518920"/>
            <a:ext cx="946080" cy="846000"/>
            <a:chOff x="4356720" y="2518920"/>
            <a:chExt cx="946080" cy="846000"/>
          </a:xfrm>
        </p:grpSpPr>
        <p:sp>
          <p:nvSpPr>
            <p:cNvPr id="179" name="CustomShape 5"/>
            <p:cNvSpPr/>
            <p:nvPr/>
          </p:nvSpPr>
          <p:spPr>
            <a:xfrm>
              <a:off x="4356720" y="2696040"/>
              <a:ext cx="946080" cy="491040"/>
            </a:xfrm>
            <a:custGeom>
              <a:avLst/>
              <a:gdLst/>
              <a:ahLst/>
              <a:cxnLst/>
              <a:rect l="l" t="t" r="r" b="b"/>
              <a:pathLst>
                <a:path w="973454" h="505460">
                  <a:moveTo>
                    <a:pt x="973074" y="505206"/>
                  </a:moveTo>
                  <a:lnTo>
                    <a:pt x="973074" y="0"/>
                  </a:lnTo>
                  <a:lnTo>
                    <a:pt x="0" y="0"/>
                  </a:lnTo>
                  <a:lnTo>
                    <a:pt x="0" y="505206"/>
                  </a:lnTo>
                  <a:lnTo>
                    <a:pt x="973074" y="505206"/>
                  </a:lnTo>
                  <a:close/>
                </a:path>
              </a:pathLst>
            </a:custGeom>
            <a:solidFill>
              <a:srgbClr val="CC99FF"/>
            </a:solidFill>
            <a:ln>
              <a:noFill/>
            </a:ln>
          </p:spPr>
          <p:style>
            <a:lnRef idx="0">
              <a:srgbClr val="FFFFFF"/>
            </a:lnRef>
            <a:fillRef idx="0">
              <a:srgbClr val="FFFFFF"/>
            </a:fillRef>
            <a:effectRef idx="0">
              <a:srgbClr val="FFFFFF"/>
            </a:effectRef>
            <a:fontRef idx="minor"/>
          </p:style>
        </p:sp>
        <p:sp>
          <p:nvSpPr>
            <p:cNvPr id="180" name="CustomShape 6"/>
            <p:cNvSpPr/>
            <p:nvPr/>
          </p:nvSpPr>
          <p:spPr>
            <a:xfrm>
              <a:off x="4356720" y="2696760"/>
              <a:ext cx="946080" cy="490320"/>
            </a:xfrm>
            <a:custGeom>
              <a:avLst/>
              <a:gdLst/>
              <a:ahLst/>
              <a:cxnLst/>
              <a:rect l="l" t="t" r="r" b="b"/>
              <a:pathLst>
                <a:path w="973454" h="504825">
                  <a:moveTo>
                    <a:pt x="0" y="0"/>
                  </a:moveTo>
                  <a:lnTo>
                    <a:pt x="0" y="504444"/>
                  </a:lnTo>
                  <a:lnTo>
                    <a:pt x="973074" y="504444"/>
                  </a:lnTo>
                  <a:lnTo>
                    <a:pt x="973074" y="0"/>
                  </a:lnTo>
                  <a:lnTo>
                    <a:pt x="0" y="0"/>
                  </a:lnTo>
                  <a:close/>
                </a:path>
              </a:pathLst>
            </a:custGeom>
            <a:noFill/>
            <a:ln w="9360">
              <a:solidFill>
                <a:srgbClr val="010101"/>
              </a:solidFill>
              <a:round/>
            </a:ln>
          </p:spPr>
          <p:style>
            <a:lnRef idx="0">
              <a:srgbClr val="FFFFFF"/>
            </a:lnRef>
            <a:fillRef idx="0">
              <a:srgbClr val="FFFFFF"/>
            </a:fillRef>
            <a:effectRef idx="0">
              <a:srgbClr val="FFFFFF"/>
            </a:effectRef>
            <a:fontRef idx="minor"/>
          </p:style>
        </p:sp>
        <p:sp>
          <p:nvSpPr>
            <p:cNvPr id="181" name="CustomShape 7"/>
            <p:cNvSpPr/>
            <p:nvPr/>
          </p:nvSpPr>
          <p:spPr>
            <a:xfrm>
              <a:off x="4356720" y="2518920"/>
              <a:ext cx="946080" cy="356400"/>
            </a:xfrm>
            <a:custGeom>
              <a:avLst/>
              <a:gdLst/>
              <a:ahLst/>
              <a:cxnLst/>
              <a:rect l="l" t="t" r="r" b="b"/>
              <a:pathLst>
                <a:path w="973454" h="367030">
                  <a:moveTo>
                    <a:pt x="973074" y="183641"/>
                  </a:moveTo>
                  <a:lnTo>
                    <a:pt x="955689" y="134849"/>
                  </a:lnTo>
                  <a:lnTo>
                    <a:pt x="906638" y="90988"/>
                  </a:lnTo>
                  <a:lnTo>
                    <a:pt x="871694" y="71456"/>
                  </a:lnTo>
                  <a:lnTo>
                    <a:pt x="830580" y="53816"/>
                  </a:lnTo>
                  <a:lnTo>
                    <a:pt x="783877" y="38287"/>
                  </a:lnTo>
                  <a:lnTo>
                    <a:pt x="732169" y="25089"/>
                  </a:lnTo>
                  <a:lnTo>
                    <a:pt x="676036" y="14442"/>
                  </a:lnTo>
                  <a:lnTo>
                    <a:pt x="616062" y="6565"/>
                  </a:lnTo>
                  <a:lnTo>
                    <a:pt x="552829" y="1677"/>
                  </a:lnTo>
                  <a:lnTo>
                    <a:pt x="486917" y="0"/>
                  </a:lnTo>
                  <a:lnTo>
                    <a:pt x="420831" y="1677"/>
                  </a:lnTo>
                  <a:lnTo>
                    <a:pt x="357452" y="6565"/>
                  </a:lnTo>
                  <a:lnTo>
                    <a:pt x="297358" y="14442"/>
                  </a:lnTo>
                  <a:lnTo>
                    <a:pt x="241130" y="25089"/>
                  </a:lnTo>
                  <a:lnTo>
                    <a:pt x="189347" y="38287"/>
                  </a:lnTo>
                  <a:lnTo>
                    <a:pt x="142589" y="53816"/>
                  </a:lnTo>
                  <a:lnTo>
                    <a:pt x="101434" y="71456"/>
                  </a:lnTo>
                  <a:lnTo>
                    <a:pt x="66463" y="90988"/>
                  </a:lnTo>
                  <a:lnTo>
                    <a:pt x="17388" y="134849"/>
                  </a:lnTo>
                  <a:lnTo>
                    <a:pt x="0" y="183641"/>
                  </a:lnTo>
                  <a:lnTo>
                    <a:pt x="4443" y="208369"/>
                  </a:lnTo>
                  <a:lnTo>
                    <a:pt x="38254" y="254650"/>
                  </a:lnTo>
                  <a:lnTo>
                    <a:pt x="101434" y="295216"/>
                  </a:lnTo>
                  <a:lnTo>
                    <a:pt x="142589" y="312800"/>
                  </a:lnTo>
                  <a:lnTo>
                    <a:pt x="189347" y="328289"/>
                  </a:lnTo>
                  <a:lnTo>
                    <a:pt x="241130" y="341460"/>
                  </a:lnTo>
                  <a:lnTo>
                    <a:pt x="297358" y="352091"/>
                  </a:lnTo>
                  <a:lnTo>
                    <a:pt x="357452" y="359960"/>
                  </a:lnTo>
                  <a:lnTo>
                    <a:pt x="420831" y="364844"/>
                  </a:lnTo>
                  <a:lnTo>
                    <a:pt x="486917" y="366521"/>
                  </a:lnTo>
                  <a:lnTo>
                    <a:pt x="552829" y="364844"/>
                  </a:lnTo>
                  <a:lnTo>
                    <a:pt x="616062" y="359960"/>
                  </a:lnTo>
                  <a:lnTo>
                    <a:pt x="676036" y="352091"/>
                  </a:lnTo>
                  <a:lnTo>
                    <a:pt x="732169" y="341460"/>
                  </a:lnTo>
                  <a:lnTo>
                    <a:pt x="783877" y="328289"/>
                  </a:lnTo>
                  <a:lnTo>
                    <a:pt x="830579" y="312800"/>
                  </a:lnTo>
                  <a:lnTo>
                    <a:pt x="871694" y="295216"/>
                  </a:lnTo>
                  <a:lnTo>
                    <a:pt x="906638" y="275759"/>
                  </a:lnTo>
                  <a:lnTo>
                    <a:pt x="955689" y="232113"/>
                  </a:lnTo>
                  <a:lnTo>
                    <a:pt x="973074" y="183641"/>
                  </a:lnTo>
                  <a:close/>
                </a:path>
              </a:pathLst>
            </a:custGeom>
            <a:solidFill>
              <a:srgbClr val="CC99FF"/>
            </a:solidFill>
            <a:ln>
              <a:noFill/>
            </a:ln>
          </p:spPr>
          <p:style>
            <a:lnRef idx="0">
              <a:srgbClr val="FFFFFF"/>
            </a:lnRef>
            <a:fillRef idx="0">
              <a:srgbClr val="FFFFFF"/>
            </a:fillRef>
            <a:effectRef idx="0">
              <a:srgbClr val="FFFFFF"/>
            </a:effectRef>
            <a:fontRef idx="minor"/>
          </p:style>
        </p:sp>
        <p:sp>
          <p:nvSpPr>
            <p:cNvPr id="182" name="CustomShape 8"/>
            <p:cNvSpPr/>
            <p:nvPr/>
          </p:nvSpPr>
          <p:spPr>
            <a:xfrm>
              <a:off x="4356720" y="2518920"/>
              <a:ext cx="946080" cy="356400"/>
            </a:xfrm>
            <a:custGeom>
              <a:avLst/>
              <a:gdLst/>
              <a:ahLst/>
              <a:cxnLst/>
              <a:rect l="l" t="t" r="r" b="b"/>
              <a:pathLst>
                <a:path w="973454" h="367030">
                  <a:moveTo>
                    <a:pt x="486917" y="0"/>
                  </a:moveTo>
                  <a:lnTo>
                    <a:pt x="420831" y="1677"/>
                  </a:lnTo>
                  <a:lnTo>
                    <a:pt x="357452" y="6565"/>
                  </a:lnTo>
                  <a:lnTo>
                    <a:pt x="297358" y="14442"/>
                  </a:lnTo>
                  <a:lnTo>
                    <a:pt x="241130" y="25089"/>
                  </a:lnTo>
                  <a:lnTo>
                    <a:pt x="189347" y="38287"/>
                  </a:lnTo>
                  <a:lnTo>
                    <a:pt x="142589" y="53816"/>
                  </a:lnTo>
                  <a:lnTo>
                    <a:pt x="101434" y="71456"/>
                  </a:lnTo>
                  <a:lnTo>
                    <a:pt x="66463" y="90988"/>
                  </a:lnTo>
                  <a:lnTo>
                    <a:pt x="17388" y="134849"/>
                  </a:lnTo>
                  <a:lnTo>
                    <a:pt x="0" y="183641"/>
                  </a:lnTo>
                  <a:lnTo>
                    <a:pt x="4443" y="208369"/>
                  </a:lnTo>
                  <a:lnTo>
                    <a:pt x="38254" y="254650"/>
                  </a:lnTo>
                  <a:lnTo>
                    <a:pt x="101434" y="295216"/>
                  </a:lnTo>
                  <a:lnTo>
                    <a:pt x="142589" y="312800"/>
                  </a:lnTo>
                  <a:lnTo>
                    <a:pt x="189347" y="328289"/>
                  </a:lnTo>
                  <a:lnTo>
                    <a:pt x="241130" y="341460"/>
                  </a:lnTo>
                  <a:lnTo>
                    <a:pt x="297358" y="352091"/>
                  </a:lnTo>
                  <a:lnTo>
                    <a:pt x="357452" y="359960"/>
                  </a:lnTo>
                  <a:lnTo>
                    <a:pt x="420831" y="364844"/>
                  </a:lnTo>
                  <a:lnTo>
                    <a:pt x="486917" y="366521"/>
                  </a:lnTo>
                  <a:lnTo>
                    <a:pt x="552829" y="364844"/>
                  </a:lnTo>
                  <a:lnTo>
                    <a:pt x="616062" y="359960"/>
                  </a:lnTo>
                  <a:lnTo>
                    <a:pt x="676036" y="352091"/>
                  </a:lnTo>
                  <a:lnTo>
                    <a:pt x="732169" y="341460"/>
                  </a:lnTo>
                  <a:lnTo>
                    <a:pt x="783877" y="328289"/>
                  </a:lnTo>
                  <a:lnTo>
                    <a:pt x="830579" y="312800"/>
                  </a:lnTo>
                  <a:lnTo>
                    <a:pt x="871694" y="295216"/>
                  </a:lnTo>
                  <a:lnTo>
                    <a:pt x="906638" y="275759"/>
                  </a:lnTo>
                  <a:lnTo>
                    <a:pt x="955689" y="232113"/>
                  </a:lnTo>
                  <a:lnTo>
                    <a:pt x="973074" y="183641"/>
                  </a:lnTo>
                  <a:lnTo>
                    <a:pt x="968630" y="158738"/>
                  </a:lnTo>
                  <a:lnTo>
                    <a:pt x="934831" y="112192"/>
                  </a:lnTo>
                  <a:lnTo>
                    <a:pt x="871694" y="71456"/>
                  </a:lnTo>
                  <a:lnTo>
                    <a:pt x="830580" y="53816"/>
                  </a:lnTo>
                  <a:lnTo>
                    <a:pt x="783877" y="38287"/>
                  </a:lnTo>
                  <a:lnTo>
                    <a:pt x="732169" y="25089"/>
                  </a:lnTo>
                  <a:lnTo>
                    <a:pt x="676036" y="14442"/>
                  </a:lnTo>
                  <a:lnTo>
                    <a:pt x="616062" y="6565"/>
                  </a:lnTo>
                  <a:lnTo>
                    <a:pt x="552829" y="1677"/>
                  </a:lnTo>
                  <a:lnTo>
                    <a:pt x="486917" y="0"/>
                  </a:lnTo>
                  <a:close/>
                </a:path>
              </a:pathLst>
            </a:custGeom>
            <a:noFill/>
            <a:ln w="9360">
              <a:solidFill>
                <a:srgbClr val="010101"/>
              </a:solidFill>
              <a:round/>
            </a:ln>
          </p:spPr>
          <p:style>
            <a:lnRef idx="0">
              <a:srgbClr val="FFFFFF"/>
            </a:lnRef>
            <a:fillRef idx="0">
              <a:srgbClr val="FFFFFF"/>
            </a:fillRef>
            <a:effectRef idx="0">
              <a:srgbClr val="FFFFFF"/>
            </a:effectRef>
            <a:fontRef idx="minor"/>
          </p:style>
        </p:sp>
        <p:sp>
          <p:nvSpPr>
            <p:cNvPr id="183" name="CustomShape 9"/>
            <p:cNvSpPr/>
            <p:nvPr/>
          </p:nvSpPr>
          <p:spPr>
            <a:xfrm>
              <a:off x="4356720" y="3007800"/>
              <a:ext cx="946080" cy="357120"/>
            </a:xfrm>
            <a:custGeom>
              <a:avLst/>
              <a:gdLst/>
              <a:ahLst/>
              <a:cxnLst/>
              <a:rect l="l" t="t" r="r" b="b"/>
              <a:pathLst>
                <a:path w="973454" h="367664">
                  <a:moveTo>
                    <a:pt x="973074" y="183642"/>
                  </a:moveTo>
                  <a:lnTo>
                    <a:pt x="955689" y="134849"/>
                  </a:lnTo>
                  <a:lnTo>
                    <a:pt x="906638" y="90988"/>
                  </a:lnTo>
                  <a:lnTo>
                    <a:pt x="871694" y="71456"/>
                  </a:lnTo>
                  <a:lnTo>
                    <a:pt x="830580" y="53816"/>
                  </a:lnTo>
                  <a:lnTo>
                    <a:pt x="783877" y="38287"/>
                  </a:lnTo>
                  <a:lnTo>
                    <a:pt x="732169" y="25089"/>
                  </a:lnTo>
                  <a:lnTo>
                    <a:pt x="676036" y="14442"/>
                  </a:lnTo>
                  <a:lnTo>
                    <a:pt x="616062" y="6565"/>
                  </a:lnTo>
                  <a:lnTo>
                    <a:pt x="552829" y="1677"/>
                  </a:lnTo>
                  <a:lnTo>
                    <a:pt x="486917" y="0"/>
                  </a:lnTo>
                  <a:lnTo>
                    <a:pt x="420831" y="1677"/>
                  </a:lnTo>
                  <a:lnTo>
                    <a:pt x="357452" y="6565"/>
                  </a:lnTo>
                  <a:lnTo>
                    <a:pt x="297358" y="14442"/>
                  </a:lnTo>
                  <a:lnTo>
                    <a:pt x="241130" y="25089"/>
                  </a:lnTo>
                  <a:lnTo>
                    <a:pt x="189347" y="38287"/>
                  </a:lnTo>
                  <a:lnTo>
                    <a:pt x="142589" y="53816"/>
                  </a:lnTo>
                  <a:lnTo>
                    <a:pt x="101434" y="71456"/>
                  </a:lnTo>
                  <a:lnTo>
                    <a:pt x="66463" y="90988"/>
                  </a:lnTo>
                  <a:lnTo>
                    <a:pt x="17388" y="134849"/>
                  </a:lnTo>
                  <a:lnTo>
                    <a:pt x="0" y="183642"/>
                  </a:lnTo>
                  <a:lnTo>
                    <a:pt x="4443" y="208545"/>
                  </a:lnTo>
                  <a:lnTo>
                    <a:pt x="38254" y="255091"/>
                  </a:lnTo>
                  <a:lnTo>
                    <a:pt x="101434" y="295827"/>
                  </a:lnTo>
                  <a:lnTo>
                    <a:pt x="142589" y="313467"/>
                  </a:lnTo>
                  <a:lnTo>
                    <a:pt x="189347" y="328996"/>
                  </a:lnTo>
                  <a:lnTo>
                    <a:pt x="241130" y="342194"/>
                  </a:lnTo>
                  <a:lnTo>
                    <a:pt x="297358" y="352841"/>
                  </a:lnTo>
                  <a:lnTo>
                    <a:pt x="357452" y="360718"/>
                  </a:lnTo>
                  <a:lnTo>
                    <a:pt x="420831" y="365606"/>
                  </a:lnTo>
                  <a:lnTo>
                    <a:pt x="486917" y="367284"/>
                  </a:lnTo>
                  <a:lnTo>
                    <a:pt x="552829" y="365606"/>
                  </a:lnTo>
                  <a:lnTo>
                    <a:pt x="616062" y="360718"/>
                  </a:lnTo>
                  <a:lnTo>
                    <a:pt x="676036" y="352841"/>
                  </a:lnTo>
                  <a:lnTo>
                    <a:pt x="732169" y="342194"/>
                  </a:lnTo>
                  <a:lnTo>
                    <a:pt x="783877" y="328996"/>
                  </a:lnTo>
                  <a:lnTo>
                    <a:pt x="830579" y="313467"/>
                  </a:lnTo>
                  <a:lnTo>
                    <a:pt x="871694" y="295827"/>
                  </a:lnTo>
                  <a:lnTo>
                    <a:pt x="906638" y="276295"/>
                  </a:lnTo>
                  <a:lnTo>
                    <a:pt x="955689" y="232434"/>
                  </a:lnTo>
                  <a:lnTo>
                    <a:pt x="973074" y="183642"/>
                  </a:lnTo>
                  <a:close/>
                </a:path>
              </a:pathLst>
            </a:custGeom>
            <a:solidFill>
              <a:srgbClr val="CC99FF"/>
            </a:solidFill>
            <a:ln>
              <a:noFill/>
            </a:ln>
          </p:spPr>
          <p:style>
            <a:lnRef idx="0">
              <a:srgbClr val="FFFFFF"/>
            </a:lnRef>
            <a:fillRef idx="0">
              <a:srgbClr val="FFFFFF"/>
            </a:fillRef>
            <a:effectRef idx="0">
              <a:srgbClr val="FFFFFF"/>
            </a:effectRef>
            <a:fontRef idx="minor"/>
          </p:style>
        </p:sp>
        <p:sp>
          <p:nvSpPr>
            <p:cNvPr id="184" name="CustomShape 10"/>
            <p:cNvSpPr/>
            <p:nvPr/>
          </p:nvSpPr>
          <p:spPr>
            <a:xfrm>
              <a:off x="4356720" y="3007800"/>
              <a:ext cx="946080" cy="357120"/>
            </a:xfrm>
            <a:custGeom>
              <a:avLst/>
              <a:gdLst/>
              <a:ahLst/>
              <a:cxnLst/>
              <a:rect l="l" t="t" r="r" b="b"/>
              <a:pathLst>
                <a:path w="973454" h="367664">
                  <a:moveTo>
                    <a:pt x="486917" y="0"/>
                  </a:moveTo>
                  <a:lnTo>
                    <a:pt x="420831" y="1677"/>
                  </a:lnTo>
                  <a:lnTo>
                    <a:pt x="357452" y="6565"/>
                  </a:lnTo>
                  <a:lnTo>
                    <a:pt x="297358" y="14442"/>
                  </a:lnTo>
                  <a:lnTo>
                    <a:pt x="241130" y="25089"/>
                  </a:lnTo>
                  <a:lnTo>
                    <a:pt x="189347" y="38287"/>
                  </a:lnTo>
                  <a:lnTo>
                    <a:pt x="142589" y="53816"/>
                  </a:lnTo>
                  <a:lnTo>
                    <a:pt x="101434" y="71456"/>
                  </a:lnTo>
                  <a:lnTo>
                    <a:pt x="66463" y="90988"/>
                  </a:lnTo>
                  <a:lnTo>
                    <a:pt x="17388" y="134849"/>
                  </a:lnTo>
                  <a:lnTo>
                    <a:pt x="0" y="183642"/>
                  </a:lnTo>
                  <a:lnTo>
                    <a:pt x="4443" y="208545"/>
                  </a:lnTo>
                  <a:lnTo>
                    <a:pt x="38254" y="255091"/>
                  </a:lnTo>
                  <a:lnTo>
                    <a:pt x="101434" y="295827"/>
                  </a:lnTo>
                  <a:lnTo>
                    <a:pt x="142589" y="313467"/>
                  </a:lnTo>
                  <a:lnTo>
                    <a:pt x="189347" y="328996"/>
                  </a:lnTo>
                  <a:lnTo>
                    <a:pt x="241130" y="342194"/>
                  </a:lnTo>
                  <a:lnTo>
                    <a:pt x="297358" y="352841"/>
                  </a:lnTo>
                  <a:lnTo>
                    <a:pt x="357452" y="360718"/>
                  </a:lnTo>
                  <a:lnTo>
                    <a:pt x="420831" y="365606"/>
                  </a:lnTo>
                  <a:lnTo>
                    <a:pt x="486917" y="367284"/>
                  </a:lnTo>
                  <a:lnTo>
                    <a:pt x="552829" y="365606"/>
                  </a:lnTo>
                  <a:lnTo>
                    <a:pt x="616062" y="360718"/>
                  </a:lnTo>
                  <a:lnTo>
                    <a:pt x="676036" y="352841"/>
                  </a:lnTo>
                  <a:lnTo>
                    <a:pt x="732169" y="342194"/>
                  </a:lnTo>
                  <a:lnTo>
                    <a:pt x="783877" y="328996"/>
                  </a:lnTo>
                  <a:lnTo>
                    <a:pt x="830579" y="313467"/>
                  </a:lnTo>
                  <a:lnTo>
                    <a:pt x="871694" y="295827"/>
                  </a:lnTo>
                  <a:lnTo>
                    <a:pt x="906638" y="276295"/>
                  </a:lnTo>
                  <a:lnTo>
                    <a:pt x="955689" y="232434"/>
                  </a:lnTo>
                  <a:lnTo>
                    <a:pt x="973074" y="183642"/>
                  </a:lnTo>
                  <a:lnTo>
                    <a:pt x="968630" y="158738"/>
                  </a:lnTo>
                  <a:lnTo>
                    <a:pt x="934831" y="112192"/>
                  </a:lnTo>
                  <a:lnTo>
                    <a:pt x="871694" y="71456"/>
                  </a:lnTo>
                  <a:lnTo>
                    <a:pt x="830580" y="53816"/>
                  </a:lnTo>
                  <a:lnTo>
                    <a:pt x="783877" y="38287"/>
                  </a:lnTo>
                  <a:lnTo>
                    <a:pt x="732169" y="25089"/>
                  </a:lnTo>
                  <a:lnTo>
                    <a:pt x="676036" y="14442"/>
                  </a:lnTo>
                  <a:lnTo>
                    <a:pt x="616062" y="6565"/>
                  </a:lnTo>
                  <a:lnTo>
                    <a:pt x="552829" y="1677"/>
                  </a:lnTo>
                  <a:lnTo>
                    <a:pt x="486917" y="0"/>
                  </a:lnTo>
                  <a:close/>
                </a:path>
              </a:pathLst>
            </a:custGeom>
            <a:noFill/>
            <a:ln w="9360">
              <a:solidFill>
                <a:srgbClr val="349967"/>
              </a:solidFill>
              <a:round/>
            </a:ln>
          </p:spPr>
          <p:style>
            <a:lnRef idx="0">
              <a:srgbClr val="FFFFFF"/>
            </a:lnRef>
            <a:fillRef idx="0">
              <a:srgbClr val="FFFFFF"/>
            </a:fillRef>
            <a:effectRef idx="0">
              <a:srgbClr val="FFFFFF"/>
            </a:effectRef>
            <a:fontRef idx="minor"/>
          </p:style>
        </p:sp>
      </p:grpSp>
      <p:sp>
        <p:nvSpPr>
          <p:cNvPr id="185" name="CustomShape 11"/>
          <p:cNvSpPr/>
          <p:nvPr/>
        </p:nvSpPr>
        <p:spPr>
          <a:xfrm>
            <a:off x="4212000" y="2096280"/>
            <a:ext cx="1551600" cy="27900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a:lnSpc>
                <a:spcPct val="100000"/>
              </a:lnSpc>
              <a:spcBef>
                <a:spcPts val="100"/>
              </a:spcBef>
            </a:pPr>
            <a:r>
              <a:rPr lang="en-AU" sz="1750" b="0" strike="noStrike" spc="-1" dirty="0">
                <a:solidFill>
                  <a:srgbClr val="000000"/>
                </a:solidFill>
                <a:latin typeface="Calibri" panose="020F0502020204030204" pitchFamily="34" charset="0"/>
              </a:rPr>
              <a:t>Sequence</a:t>
            </a:r>
            <a:r>
              <a:rPr lang="en-AU" sz="1750" b="0" strike="noStrike" spc="-58" dirty="0">
                <a:solidFill>
                  <a:srgbClr val="000000"/>
                </a:solidFill>
                <a:latin typeface="Calibri" panose="020F0502020204030204" pitchFamily="34" charset="0"/>
              </a:rPr>
              <a:t> </a:t>
            </a:r>
            <a:r>
              <a:rPr lang="en-AU" sz="1750" b="0" strike="noStrike" spc="-63" dirty="0">
                <a:solidFill>
                  <a:srgbClr val="000000"/>
                </a:solidFill>
                <a:latin typeface="Calibri" panose="020F0502020204030204" pitchFamily="34" charset="0"/>
              </a:rPr>
              <a:t>DB</a:t>
            </a:r>
            <a:endParaRPr lang="en-AU" sz="1750" b="0" strike="noStrike" spc="-1" dirty="0">
              <a:latin typeface="Calibri" panose="020F0502020204030204" pitchFamily="34" charset="0"/>
            </a:endParaRPr>
          </a:p>
        </p:txBody>
      </p:sp>
      <p:sp>
        <p:nvSpPr>
          <p:cNvPr id="186" name="CustomShape 12"/>
          <p:cNvSpPr/>
          <p:nvPr/>
        </p:nvSpPr>
        <p:spPr>
          <a:xfrm>
            <a:off x="3467520" y="3583440"/>
            <a:ext cx="2889000" cy="92160"/>
          </a:xfrm>
          <a:custGeom>
            <a:avLst/>
            <a:gdLst/>
            <a:ahLst/>
            <a:cxnLst/>
            <a:rect l="l" t="t" r="r" b="b"/>
            <a:pathLst>
              <a:path w="2971800" h="95250">
                <a:moveTo>
                  <a:pt x="2892552" y="64007"/>
                </a:moveTo>
                <a:lnTo>
                  <a:pt x="2892552" y="32003"/>
                </a:lnTo>
                <a:lnTo>
                  <a:pt x="0" y="32004"/>
                </a:lnTo>
                <a:lnTo>
                  <a:pt x="0" y="64008"/>
                </a:lnTo>
                <a:lnTo>
                  <a:pt x="2892552" y="64007"/>
                </a:lnTo>
                <a:close/>
                <a:moveTo>
                  <a:pt x="2971800" y="48005"/>
                </a:moveTo>
                <a:lnTo>
                  <a:pt x="2876550" y="0"/>
                </a:lnTo>
                <a:lnTo>
                  <a:pt x="2876550" y="32003"/>
                </a:lnTo>
                <a:lnTo>
                  <a:pt x="2892552" y="32003"/>
                </a:lnTo>
                <a:lnTo>
                  <a:pt x="2892552" y="87313"/>
                </a:lnTo>
                <a:lnTo>
                  <a:pt x="2971800" y="48005"/>
                </a:lnTo>
                <a:close/>
                <a:moveTo>
                  <a:pt x="2892552" y="87313"/>
                </a:moveTo>
                <a:lnTo>
                  <a:pt x="2892552" y="64007"/>
                </a:lnTo>
                <a:lnTo>
                  <a:pt x="2876550" y="64007"/>
                </a:lnTo>
                <a:lnTo>
                  <a:pt x="2876550" y="95250"/>
                </a:lnTo>
                <a:lnTo>
                  <a:pt x="2892552" y="87313"/>
                </a:lnTo>
                <a:close/>
              </a:path>
            </a:pathLst>
          </a:custGeom>
          <a:solidFill>
            <a:srgbClr val="010101"/>
          </a:solidFill>
          <a:ln>
            <a:noFill/>
          </a:ln>
        </p:spPr>
        <p:style>
          <a:lnRef idx="0">
            <a:srgbClr val="FFFFFF"/>
          </a:lnRef>
          <a:fillRef idx="0">
            <a:srgbClr val="FFFFFF"/>
          </a:fillRef>
          <a:effectRef idx="0">
            <a:srgbClr val="FFFFFF"/>
          </a:effectRef>
          <a:fontRef idx="minor"/>
        </p:style>
      </p:sp>
      <p:sp>
        <p:nvSpPr>
          <p:cNvPr id="187" name="CustomShape 13"/>
          <p:cNvSpPr/>
          <p:nvPr/>
        </p:nvSpPr>
        <p:spPr>
          <a:xfrm>
            <a:off x="4138920" y="4022280"/>
            <a:ext cx="1542960" cy="54540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a:lnSpc>
                <a:spcPct val="100000"/>
              </a:lnSpc>
              <a:spcBef>
                <a:spcPts val="100"/>
              </a:spcBef>
            </a:pPr>
            <a:r>
              <a:rPr lang="en-AU" sz="1750" b="0" strike="noStrike" spc="-58" dirty="0">
                <a:solidFill>
                  <a:srgbClr val="3333CC"/>
                </a:solidFill>
                <a:latin typeface="Calibri" panose="020F0502020204030204" pitchFamily="34" charset="0"/>
              </a:rPr>
              <a:t>Similarity</a:t>
            </a:r>
            <a:r>
              <a:rPr lang="en-AU" sz="1750" b="0" strike="noStrike" spc="-52" dirty="0">
                <a:solidFill>
                  <a:srgbClr val="3333CC"/>
                </a:solidFill>
                <a:latin typeface="Calibri" panose="020F0502020204030204" pitchFamily="34" charset="0"/>
              </a:rPr>
              <a:t> </a:t>
            </a:r>
            <a:r>
              <a:rPr lang="en-AU" sz="1750" b="0" strike="noStrike" spc="12" dirty="0">
                <a:solidFill>
                  <a:srgbClr val="3333CC"/>
                </a:solidFill>
                <a:latin typeface="Calibri" panose="020F0502020204030204" pitchFamily="34" charset="0"/>
              </a:rPr>
              <a:t>Search</a:t>
            </a:r>
            <a:endParaRPr lang="en-AU" sz="1750" b="0" strike="noStrike" spc="-1" dirty="0">
              <a:latin typeface="Calibri" panose="020F0502020204030204" pitchFamily="34" charset="0"/>
            </a:endParaRPr>
          </a:p>
        </p:txBody>
      </p:sp>
      <p:sp>
        <p:nvSpPr>
          <p:cNvPr id="188" name="CustomShape 14"/>
          <p:cNvSpPr/>
          <p:nvPr/>
        </p:nvSpPr>
        <p:spPr>
          <a:xfrm>
            <a:off x="1828440" y="3990960"/>
            <a:ext cx="941040" cy="107748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indent="40640">
              <a:lnSpc>
                <a:spcPct val="100000"/>
              </a:lnSpc>
              <a:spcBef>
                <a:spcPts val="100"/>
              </a:spcBef>
            </a:pPr>
            <a:r>
              <a:rPr lang="en-AU" sz="1750" b="0" strike="noStrike" spc="-109" dirty="0">
                <a:solidFill>
                  <a:srgbClr val="FF0000"/>
                </a:solidFill>
                <a:latin typeface="Calibri" panose="020F0502020204030204" pitchFamily="34" charset="0"/>
              </a:rPr>
              <a:t>unknown </a:t>
            </a:r>
            <a:r>
              <a:rPr lang="en-AU" sz="1750" b="0" strike="noStrike" spc="-514" dirty="0">
                <a:solidFill>
                  <a:srgbClr val="FF0000"/>
                </a:solidFill>
                <a:latin typeface="Calibri" panose="020F0502020204030204" pitchFamily="34" charset="0"/>
              </a:rPr>
              <a:t> </a:t>
            </a:r>
            <a:r>
              <a:rPr lang="en-AU" sz="1750" b="0" strike="noStrike" spc="-63" dirty="0">
                <a:solidFill>
                  <a:srgbClr val="000000"/>
                </a:solidFill>
                <a:latin typeface="Calibri" panose="020F0502020204030204" pitchFamily="34" charset="0"/>
              </a:rPr>
              <a:t>function</a:t>
            </a:r>
            <a:r>
              <a:rPr lang="en-AU" sz="1750" b="0" strike="noStrike" spc="-12" dirty="0">
                <a:solidFill>
                  <a:srgbClr val="000000"/>
                </a:solidFill>
                <a:latin typeface="Calibri" panose="020F0502020204030204" pitchFamily="34" charset="0"/>
              </a:rPr>
              <a:t> </a:t>
            </a:r>
            <a:r>
              <a:rPr lang="en-AU" sz="1750" b="0" strike="noStrike" spc="208" dirty="0">
                <a:solidFill>
                  <a:srgbClr val="000000"/>
                </a:solidFill>
                <a:latin typeface="Calibri" panose="020F0502020204030204" pitchFamily="34" charset="0"/>
              </a:rPr>
              <a:t>?</a:t>
            </a:r>
            <a:endParaRPr lang="en-AU" sz="1750" b="0" strike="noStrike" spc="-1" dirty="0">
              <a:latin typeface="Calibri" panose="020F0502020204030204" pitchFamily="34" charset="0"/>
            </a:endParaRPr>
          </a:p>
        </p:txBody>
      </p:sp>
      <p:sp>
        <p:nvSpPr>
          <p:cNvPr id="189" name="CustomShape 15"/>
          <p:cNvSpPr/>
          <p:nvPr/>
        </p:nvSpPr>
        <p:spPr>
          <a:xfrm>
            <a:off x="6325920" y="3990960"/>
            <a:ext cx="1855440" cy="81108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a:lnSpc>
                <a:spcPct val="100000"/>
              </a:lnSpc>
              <a:spcBef>
                <a:spcPts val="100"/>
              </a:spcBef>
            </a:pPr>
            <a:r>
              <a:rPr lang="en-AU" sz="1750" b="0" strike="noStrike" spc="-29" dirty="0">
                <a:solidFill>
                  <a:srgbClr val="000000"/>
                </a:solidFill>
                <a:latin typeface="Calibri" panose="020F0502020204030204" pitchFamily="34" charset="0"/>
              </a:rPr>
              <a:t>similar</a:t>
            </a:r>
            <a:r>
              <a:rPr lang="en-AU" sz="1750" b="0" strike="noStrike" spc="-49" dirty="0">
                <a:solidFill>
                  <a:srgbClr val="000000"/>
                </a:solidFill>
                <a:latin typeface="Calibri" panose="020F0502020204030204" pitchFamily="34" charset="0"/>
              </a:rPr>
              <a:t> </a:t>
            </a:r>
            <a:r>
              <a:rPr lang="en-AU" sz="1750" b="0" strike="noStrike" spc="-72" dirty="0">
                <a:solidFill>
                  <a:srgbClr val="000000"/>
                </a:solidFill>
                <a:latin typeface="Calibri" panose="020F0502020204030204" pitchFamily="34" charset="0"/>
              </a:rPr>
              <a:t>protein</a:t>
            </a:r>
            <a:endParaRPr lang="en-AU" sz="1750" b="0" strike="noStrike" spc="-1" dirty="0">
              <a:latin typeface="Calibri" panose="020F0502020204030204" pitchFamily="34" charset="0"/>
            </a:endParaRPr>
          </a:p>
          <a:p>
            <a:pPr marL="12700">
              <a:lnSpc>
                <a:spcPct val="100000"/>
              </a:lnSpc>
            </a:pPr>
            <a:r>
              <a:rPr lang="en-AU" sz="1750" b="0" strike="noStrike" spc="-137" dirty="0">
                <a:solidFill>
                  <a:srgbClr val="000000"/>
                </a:solidFill>
                <a:latin typeface="Calibri" panose="020F0502020204030204" pitchFamily="34" charset="0"/>
              </a:rPr>
              <a:t>wit</a:t>
            </a:r>
            <a:r>
              <a:rPr lang="en-AU" sz="1750" b="0" strike="noStrike" spc="-157" dirty="0">
                <a:solidFill>
                  <a:srgbClr val="000000"/>
                </a:solidFill>
                <a:latin typeface="Calibri" panose="020F0502020204030204" pitchFamily="34" charset="0"/>
              </a:rPr>
              <a:t>h</a:t>
            </a:r>
            <a:r>
              <a:rPr lang="en-AU" sz="1750" b="0" strike="noStrike" spc="-18" dirty="0">
                <a:solidFill>
                  <a:srgbClr val="000000"/>
                </a:solidFill>
                <a:latin typeface="Calibri" panose="020F0502020204030204" pitchFamily="34" charset="0"/>
              </a:rPr>
              <a:t> </a:t>
            </a:r>
            <a:r>
              <a:rPr lang="en-AU" sz="1750" b="0" strike="noStrike" spc="-134" dirty="0">
                <a:solidFill>
                  <a:srgbClr val="00FF00"/>
                </a:solidFill>
                <a:latin typeface="Calibri" panose="020F0502020204030204" pitchFamily="34" charset="0"/>
              </a:rPr>
              <a:t>know</a:t>
            </a:r>
            <a:r>
              <a:rPr lang="en-AU" sz="1750" b="0" strike="noStrike" spc="-111" dirty="0">
                <a:solidFill>
                  <a:srgbClr val="00FF00"/>
                </a:solidFill>
                <a:latin typeface="Calibri" panose="020F0502020204030204" pitchFamily="34" charset="0"/>
              </a:rPr>
              <a:t>n</a:t>
            </a:r>
            <a:r>
              <a:rPr lang="en-AU" sz="1750" b="0" strike="noStrike" spc="-24" dirty="0">
                <a:solidFill>
                  <a:srgbClr val="00FF00"/>
                </a:solidFill>
                <a:latin typeface="Calibri" panose="020F0502020204030204" pitchFamily="34" charset="0"/>
              </a:rPr>
              <a:t> </a:t>
            </a:r>
            <a:r>
              <a:rPr lang="en-AU" sz="1750" b="0" strike="noStrike" spc="-43" dirty="0">
                <a:solidFill>
                  <a:srgbClr val="000000"/>
                </a:solidFill>
                <a:latin typeface="Calibri" panose="020F0502020204030204" pitchFamily="34" charset="0"/>
              </a:rPr>
              <a:t>fun</a:t>
            </a:r>
            <a:r>
              <a:rPr lang="en-AU" sz="1750" b="0" strike="noStrike" spc="-29" dirty="0">
                <a:solidFill>
                  <a:srgbClr val="000000"/>
                </a:solidFill>
                <a:latin typeface="Calibri" panose="020F0502020204030204" pitchFamily="34" charset="0"/>
              </a:rPr>
              <a:t>c</a:t>
            </a:r>
            <a:r>
              <a:rPr lang="en-AU" sz="1750" b="0" strike="noStrike" spc="-89" dirty="0">
                <a:solidFill>
                  <a:srgbClr val="000000"/>
                </a:solidFill>
                <a:latin typeface="Calibri" panose="020F0502020204030204" pitchFamily="34" charset="0"/>
              </a:rPr>
              <a:t>tion</a:t>
            </a:r>
            <a:endParaRPr lang="en-AU" sz="1750" b="0" strike="noStrike" spc="-1" dirty="0">
              <a:latin typeface="Calibri" panose="020F0502020204030204" pitchFamily="34" charset="0"/>
            </a:endParaRPr>
          </a:p>
        </p:txBody>
      </p:sp>
      <p:grpSp>
        <p:nvGrpSpPr>
          <p:cNvPr id="190" name="Group 16"/>
          <p:cNvGrpSpPr/>
          <p:nvPr/>
        </p:nvGrpSpPr>
        <p:grpSpPr>
          <a:xfrm>
            <a:off x="2235600" y="4815360"/>
            <a:ext cx="5084280" cy="1036800"/>
            <a:chOff x="2235600" y="4815360"/>
            <a:chExt cx="5084280" cy="1036800"/>
          </a:xfrm>
        </p:grpSpPr>
        <p:sp>
          <p:nvSpPr>
            <p:cNvPr id="191" name="CustomShape 17"/>
            <p:cNvSpPr/>
            <p:nvPr/>
          </p:nvSpPr>
          <p:spPr>
            <a:xfrm>
              <a:off x="2282400" y="4889520"/>
              <a:ext cx="5037480" cy="962640"/>
            </a:xfrm>
            <a:custGeom>
              <a:avLst/>
              <a:gdLst/>
              <a:ahLst/>
              <a:cxnLst/>
              <a:rect l="l" t="t" r="r" b="b"/>
              <a:pathLst>
                <a:path w="5181600" h="990600">
                  <a:moveTo>
                    <a:pt x="5181600" y="0"/>
                  </a:moveTo>
                  <a:lnTo>
                    <a:pt x="5181600" y="990600"/>
                  </a:lnTo>
                  <a:moveTo>
                    <a:pt x="5181600" y="990600"/>
                  </a:moveTo>
                  <a:lnTo>
                    <a:pt x="0" y="990600"/>
                  </a:lnTo>
                </a:path>
              </a:pathLst>
            </a:custGeom>
            <a:noFill/>
            <a:ln w="31680">
              <a:solidFill>
                <a:srgbClr val="010101"/>
              </a:solidFill>
              <a:round/>
            </a:ln>
          </p:spPr>
          <p:style>
            <a:lnRef idx="0">
              <a:srgbClr val="FFFFFF"/>
            </a:lnRef>
            <a:fillRef idx="0">
              <a:srgbClr val="FFFFFF"/>
            </a:fillRef>
            <a:effectRef idx="0">
              <a:srgbClr val="FFFFFF"/>
            </a:effectRef>
            <a:fontRef idx="minor"/>
          </p:style>
        </p:sp>
        <p:sp>
          <p:nvSpPr>
            <p:cNvPr id="192" name="CustomShape 18"/>
            <p:cNvSpPr/>
            <p:nvPr/>
          </p:nvSpPr>
          <p:spPr>
            <a:xfrm>
              <a:off x="2235600" y="4815360"/>
              <a:ext cx="92160" cy="1036800"/>
            </a:xfrm>
            <a:custGeom>
              <a:avLst/>
              <a:gdLst/>
              <a:ahLst/>
              <a:cxnLst/>
              <a:rect l="l" t="t" r="r" b="b"/>
              <a:pathLst>
                <a:path w="95250" h="1066800">
                  <a:moveTo>
                    <a:pt x="95250" y="95250"/>
                  </a:moveTo>
                  <a:lnTo>
                    <a:pt x="48006" y="0"/>
                  </a:lnTo>
                  <a:lnTo>
                    <a:pt x="0" y="95250"/>
                  </a:lnTo>
                  <a:lnTo>
                    <a:pt x="32003" y="95250"/>
                  </a:lnTo>
                  <a:lnTo>
                    <a:pt x="32003" y="79248"/>
                  </a:lnTo>
                  <a:lnTo>
                    <a:pt x="64007" y="79248"/>
                  </a:lnTo>
                  <a:lnTo>
                    <a:pt x="64007" y="95250"/>
                  </a:lnTo>
                  <a:lnTo>
                    <a:pt x="95250" y="95250"/>
                  </a:lnTo>
                  <a:close/>
                  <a:moveTo>
                    <a:pt x="64007" y="95250"/>
                  </a:moveTo>
                  <a:lnTo>
                    <a:pt x="64007" y="79248"/>
                  </a:lnTo>
                  <a:lnTo>
                    <a:pt x="32003" y="79248"/>
                  </a:lnTo>
                  <a:lnTo>
                    <a:pt x="32003" y="95250"/>
                  </a:lnTo>
                  <a:lnTo>
                    <a:pt x="64007" y="95250"/>
                  </a:lnTo>
                  <a:close/>
                  <a:moveTo>
                    <a:pt x="64007" y="1066800"/>
                  </a:moveTo>
                  <a:lnTo>
                    <a:pt x="64007" y="95250"/>
                  </a:lnTo>
                  <a:lnTo>
                    <a:pt x="32003" y="95250"/>
                  </a:lnTo>
                  <a:lnTo>
                    <a:pt x="32003" y="1066800"/>
                  </a:lnTo>
                  <a:lnTo>
                    <a:pt x="64007" y="1066800"/>
                  </a:lnTo>
                  <a:close/>
                </a:path>
              </a:pathLst>
            </a:custGeom>
            <a:solidFill>
              <a:srgbClr val="010101"/>
            </a:solidFill>
            <a:ln>
              <a:noFill/>
            </a:ln>
          </p:spPr>
          <p:style>
            <a:lnRef idx="0">
              <a:srgbClr val="FFFFFF"/>
            </a:lnRef>
            <a:fillRef idx="0">
              <a:srgbClr val="FFFFFF"/>
            </a:fillRef>
            <a:effectRef idx="0">
              <a:srgbClr val="FFFFFF"/>
            </a:effectRef>
            <a:fontRef idx="minor"/>
          </p:style>
        </p:sp>
      </p:grpSp>
      <p:sp>
        <p:nvSpPr>
          <p:cNvPr id="193" name="CustomShape 19"/>
          <p:cNvSpPr/>
          <p:nvPr/>
        </p:nvSpPr>
        <p:spPr>
          <a:xfrm>
            <a:off x="4228560" y="5428440"/>
            <a:ext cx="1050840" cy="107748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12700">
              <a:lnSpc>
                <a:spcPct val="100000"/>
              </a:lnSpc>
              <a:spcBef>
                <a:spcPts val="100"/>
              </a:spcBef>
            </a:pPr>
            <a:r>
              <a:rPr lang="en-AU" sz="1750" b="0" strike="noStrike" spc="-58" dirty="0">
                <a:solidFill>
                  <a:srgbClr val="00FF00"/>
                </a:solidFill>
                <a:latin typeface="Calibri" panose="020F0502020204030204" pitchFamily="34" charset="0"/>
              </a:rPr>
              <a:t>extrapolate</a:t>
            </a:r>
            <a:endParaRPr lang="en-AU" sz="1750" b="0" strike="noStrike" spc="-1" dirty="0">
              <a:latin typeface="Calibri" panose="020F0502020204030204" pitchFamily="34" charset="0"/>
            </a:endParaRPr>
          </a:p>
          <a:p>
            <a:pPr>
              <a:lnSpc>
                <a:spcPct val="100000"/>
              </a:lnSpc>
            </a:pPr>
            <a:endParaRPr lang="en-AU" sz="1750" b="0" strike="noStrike" spc="-1" dirty="0">
              <a:latin typeface="Calibri" panose="020F0502020204030204" pitchFamily="34" charset="0"/>
            </a:endParaRPr>
          </a:p>
          <a:p>
            <a:pPr marL="128270">
              <a:lnSpc>
                <a:spcPct val="100000"/>
              </a:lnSpc>
            </a:pPr>
            <a:r>
              <a:rPr lang="en-AU" sz="1750" b="0" strike="noStrike" spc="-63" dirty="0">
                <a:solidFill>
                  <a:srgbClr val="000000"/>
                </a:solidFill>
                <a:latin typeface="Calibri" panose="020F0502020204030204" pitchFamily="34" charset="0"/>
              </a:rPr>
              <a:t>function</a:t>
            </a:r>
            <a:endParaRPr lang="en-AU" sz="1750" b="0" strike="noStrike" spc="-1" dirty="0">
              <a:latin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609" y="923289"/>
            <a:ext cx="4860290" cy="775970"/>
          </a:xfrm>
          <a:prstGeom prst="rect">
            <a:avLst/>
          </a:prstGeom>
          <a:ln w="9344">
            <a:solidFill>
              <a:srgbClr val="000000"/>
            </a:solidFill>
          </a:ln>
        </p:spPr>
        <p:txBody>
          <a:bodyPr vert="horz" wrap="square" lIns="0" tIns="46990" rIns="0" bIns="0" rtlCol="0">
            <a:spAutoFit/>
          </a:bodyPr>
          <a:lstStyle/>
          <a:p>
            <a:pPr marL="89535">
              <a:lnSpc>
                <a:spcPct val="100000"/>
              </a:lnSpc>
              <a:spcBef>
                <a:spcPts val="370"/>
              </a:spcBef>
            </a:pPr>
            <a:r>
              <a:rPr sz="4000" spc="-10" dirty="0">
                <a:latin typeface="Times New Roman" panose="02020603050405020304"/>
                <a:cs typeface="Times New Roman" panose="02020603050405020304"/>
              </a:rPr>
              <a:t>QU</a:t>
            </a:r>
            <a:r>
              <a:rPr sz="4000" spc="-5" dirty="0">
                <a:latin typeface="Times New Roman" panose="02020603050405020304"/>
                <a:cs typeface="Times New Roman" panose="02020603050405020304"/>
              </a:rPr>
              <a:t>E</a:t>
            </a:r>
            <a:r>
              <a:rPr sz="4000" spc="-220" dirty="0">
                <a:latin typeface="Times New Roman" panose="02020603050405020304"/>
                <a:cs typeface="Times New Roman" panose="02020603050405020304"/>
              </a:rPr>
              <a:t>R</a:t>
            </a:r>
            <a:r>
              <a:rPr sz="4000" dirty="0">
                <a:latin typeface="Times New Roman" panose="02020603050405020304"/>
                <a:cs typeface="Times New Roman" panose="02020603050405020304"/>
              </a:rPr>
              <a:t>Y</a:t>
            </a:r>
            <a:r>
              <a:rPr sz="4000" spc="-165" dirty="0">
                <a:latin typeface="Times New Roman" panose="02020603050405020304"/>
                <a:cs typeface="Times New Roman" panose="02020603050405020304"/>
              </a:rPr>
              <a:t> </a:t>
            </a:r>
            <a:r>
              <a:rPr sz="4000" spc="-5" dirty="0">
                <a:latin typeface="Times New Roman" panose="02020603050405020304"/>
                <a:cs typeface="Times New Roman" panose="02020603050405020304"/>
              </a:rPr>
              <a:t>se</a:t>
            </a:r>
            <a:r>
              <a:rPr sz="4000" spc="5" dirty="0">
                <a:latin typeface="Times New Roman" panose="02020603050405020304"/>
                <a:cs typeface="Times New Roman" panose="02020603050405020304"/>
              </a:rPr>
              <a:t>q</a:t>
            </a:r>
            <a:r>
              <a:rPr sz="4000" dirty="0">
                <a:latin typeface="Times New Roman" panose="02020603050405020304"/>
                <a:cs typeface="Times New Roman" panose="02020603050405020304"/>
              </a:rPr>
              <a:t>uence</a:t>
            </a:r>
            <a:r>
              <a:rPr sz="4000" spc="-5" dirty="0">
                <a:latin typeface="Times New Roman" panose="02020603050405020304"/>
                <a:cs typeface="Times New Roman" panose="02020603050405020304"/>
              </a:rPr>
              <a:t>(s)</a:t>
            </a:r>
            <a:endParaRPr sz="4000">
              <a:latin typeface="Times New Roman" panose="02020603050405020304"/>
              <a:cs typeface="Times New Roman" panose="02020603050405020304"/>
            </a:endParaRPr>
          </a:p>
        </p:txBody>
      </p:sp>
      <p:grpSp>
        <p:nvGrpSpPr>
          <p:cNvPr id="3" name="object 3"/>
          <p:cNvGrpSpPr/>
          <p:nvPr/>
        </p:nvGrpSpPr>
        <p:grpSpPr>
          <a:xfrm>
            <a:off x="589597" y="2347595"/>
            <a:ext cx="4693285" cy="1996439"/>
            <a:chOff x="589597" y="2347595"/>
            <a:chExt cx="4693285" cy="1996439"/>
          </a:xfrm>
        </p:grpSpPr>
        <p:sp>
          <p:nvSpPr>
            <p:cNvPr id="4" name="object 4"/>
            <p:cNvSpPr/>
            <p:nvPr/>
          </p:nvSpPr>
          <p:spPr>
            <a:xfrm>
              <a:off x="2341880" y="2352040"/>
              <a:ext cx="0" cy="563880"/>
            </a:xfrm>
            <a:custGeom>
              <a:avLst/>
              <a:gdLst/>
              <a:ahLst/>
              <a:cxnLst/>
              <a:rect l="l" t="t" r="r" b="b"/>
              <a:pathLst>
                <a:path h="563880">
                  <a:moveTo>
                    <a:pt x="0" y="0"/>
                  </a:moveTo>
                  <a:lnTo>
                    <a:pt x="0" y="563880"/>
                  </a:lnTo>
                </a:path>
              </a:pathLst>
            </a:custGeom>
            <a:ln w="8890">
              <a:solidFill>
                <a:srgbClr val="000000"/>
              </a:solidFill>
            </a:ln>
          </p:spPr>
          <p:txBody>
            <a:bodyPr wrap="square" lIns="0" tIns="0" rIns="0" bIns="0" rtlCol="0"/>
            <a:lstStyle/>
            <a:p>
              <a:endParaRPr/>
            </a:p>
          </p:txBody>
        </p:sp>
        <p:sp>
          <p:nvSpPr>
            <p:cNvPr id="5" name="object 5"/>
            <p:cNvSpPr/>
            <p:nvPr/>
          </p:nvSpPr>
          <p:spPr>
            <a:xfrm>
              <a:off x="2303780" y="2910840"/>
              <a:ext cx="74930" cy="76200"/>
            </a:xfrm>
            <a:custGeom>
              <a:avLst/>
              <a:gdLst/>
              <a:ahLst/>
              <a:cxnLst/>
              <a:rect l="l" t="t" r="r" b="b"/>
              <a:pathLst>
                <a:path w="74930" h="76200">
                  <a:moveTo>
                    <a:pt x="74930" y="0"/>
                  </a:moveTo>
                  <a:lnTo>
                    <a:pt x="0" y="0"/>
                  </a:lnTo>
                  <a:lnTo>
                    <a:pt x="38100" y="76200"/>
                  </a:lnTo>
                  <a:lnTo>
                    <a:pt x="74930" y="0"/>
                  </a:lnTo>
                  <a:close/>
                </a:path>
              </a:pathLst>
            </a:custGeom>
            <a:solidFill>
              <a:srgbClr val="000000"/>
            </a:solidFill>
          </p:spPr>
          <p:txBody>
            <a:bodyPr wrap="square" lIns="0" tIns="0" rIns="0" bIns="0" rtlCol="0"/>
            <a:lstStyle/>
            <a:p>
              <a:endParaRPr/>
            </a:p>
          </p:txBody>
        </p:sp>
        <p:sp>
          <p:nvSpPr>
            <p:cNvPr id="6" name="object 6"/>
            <p:cNvSpPr/>
            <p:nvPr/>
          </p:nvSpPr>
          <p:spPr>
            <a:xfrm>
              <a:off x="594359" y="2985229"/>
              <a:ext cx="4683760" cy="1353820"/>
            </a:xfrm>
            <a:custGeom>
              <a:avLst/>
              <a:gdLst/>
              <a:ahLst/>
              <a:cxnLst/>
              <a:rect l="l" t="t" r="r" b="b"/>
              <a:pathLst>
                <a:path w="4683760" h="1353820">
                  <a:moveTo>
                    <a:pt x="1024307" y="73"/>
                  </a:moveTo>
                  <a:lnTo>
                    <a:pt x="975530" y="0"/>
                  </a:lnTo>
                  <a:lnTo>
                    <a:pt x="926752" y="279"/>
                  </a:lnTo>
                  <a:lnTo>
                    <a:pt x="877975" y="924"/>
                  </a:lnTo>
                  <a:lnTo>
                    <a:pt x="829197" y="1948"/>
                  </a:lnTo>
                  <a:lnTo>
                    <a:pt x="780420" y="3362"/>
                  </a:lnTo>
                  <a:lnTo>
                    <a:pt x="731643" y="5180"/>
                  </a:lnTo>
                  <a:lnTo>
                    <a:pt x="682867" y="7414"/>
                  </a:lnTo>
                  <a:lnTo>
                    <a:pt x="634090" y="10076"/>
                  </a:lnTo>
                  <a:lnTo>
                    <a:pt x="585313" y="13180"/>
                  </a:lnTo>
                  <a:lnTo>
                    <a:pt x="536537" y="16738"/>
                  </a:lnTo>
                  <a:lnTo>
                    <a:pt x="487760" y="20762"/>
                  </a:lnTo>
                  <a:lnTo>
                    <a:pt x="438984" y="25266"/>
                  </a:lnTo>
                  <a:lnTo>
                    <a:pt x="390208" y="30261"/>
                  </a:lnTo>
                  <a:lnTo>
                    <a:pt x="341432" y="35761"/>
                  </a:lnTo>
                  <a:lnTo>
                    <a:pt x="292655" y="41777"/>
                  </a:lnTo>
                  <a:lnTo>
                    <a:pt x="243879" y="48324"/>
                  </a:lnTo>
                  <a:lnTo>
                    <a:pt x="195103" y="55412"/>
                  </a:lnTo>
                  <a:lnTo>
                    <a:pt x="146327" y="63055"/>
                  </a:lnTo>
                  <a:lnTo>
                    <a:pt x="97551" y="71266"/>
                  </a:lnTo>
                  <a:lnTo>
                    <a:pt x="48775" y="80056"/>
                  </a:lnTo>
                  <a:lnTo>
                    <a:pt x="0" y="89440"/>
                  </a:lnTo>
                  <a:lnTo>
                    <a:pt x="0" y="1264190"/>
                  </a:lnTo>
                  <a:lnTo>
                    <a:pt x="48775" y="1254806"/>
                  </a:lnTo>
                  <a:lnTo>
                    <a:pt x="97551" y="1246016"/>
                  </a:lnTo>
                  <a:lnTo>
                    <a:pt x="146327" y="1237805"/>
                  </a:lnTo>
                  <a:lnTo>
                    <a:pt x="195103" y="1230162"/>
                  </a:lnTo>
                  <a:lnTo>
                    <a:pt x="243879" y="1223074"/>
                  </a:lnTo>
                  <a:lnTo>
                    <a:pt x="292655" y="1216527"/>
                  </a:lnTo>
                  <a:lnTo>
                    <a:pt x="341432" y="1210511"/>
                  </a:lnTo>
                  <a:lnTo>
                    <a:pt x="390208" y="1205011"/>
                  </a:lnTo>
                  <a:lnTo>
                    <a:pt x="438984" y="1200016"/>
                  </a:lnTo>
                  <a:lnTo>
                    <a:pt x="487760" y="1195512"/>
                  </a:lnTo>
                  <a:lnTo>
                    <a:pt x="536537" y="1191488"/>
                  </a:lnTo>
                  <a:lnTo>
                    <a:pt x="585313" y="1187930"/>
                  </a:lnTo>
                  <a:lnTo>
                    <a:pt x="634090" y="1184826"/>
                  </a:lnTo>
                  <a:lnTo>
                    <a:pt x="682867" y="1182164"/>
                  </a:lnTo>
                  <a:lnTo>
                    <a:pt x="731643" y="1179930"/>
                  </a:lnTo>
                  <a:lnTo>
                    <a:pt x="780420" y="1178112"/>
                  </a:lnTo>
                  <a:lnTo>
                    <a:pt x="829197" y="1176698"/>
                  </a:lnTo>
                  <a:lnTo>
                    <a:pt x="877975" y="1175674"/>
                  </a:lnTo>
                  <a:lnTo>
                    <a:pt x="926752" y="1175029"/>
                  </a:lnTo>
                  <a:lnTo>
                    <a:pt x="975530" y="1174750"/>
                  </a:lnTo>
                  <a:lnTo>
                    <a:pt x="1024307" y="1174823"/>
                  </a:lnTo>
                  <a:lnTo>
                    <a:pt x="1073085" y="1175237"/>
                  </a:lnTo>
                  <a:lnTo>
                    <a:pt x="1121864" y="1175979"/>
                  </a:lnTo>
                  <a:lnTo>
                    <a:pt x="1170642" y="1177036"/>
                  </a:lnTo>
                  <a:lnTo>
                    <a:pt x="1219420" y="1178396"/>
                  </a:lnTo>
                  <a:lnTo>
                    <a:pt x="1268199" y="1180045"/>
                  </a:lnTo>
                  <a:lnTo>
                    <a:pt x="1316978" y="1181972"/>
                  </a:lnTo>
                  <a:lnTo>
                    <a:pt x="1414537" y="1186608"/>
                  </a:lnTo>
                  <a:lnTo>
                    <a:pt x="1512096" y="1192203"/>
                  </a:lnTo>
                  <a:lnTo>
                    <a:pt x="1609657" y="1198654"/>
                  </a:lnTo>
                  <a:lnTo>
                    <a:pt x="1707219" y="1205862"/>
                  </a:lnTo>
                  <a:lnTo>
                    <a:pt x="1804782" y="1213726"/>
                  </a:lnTo>
                  <a:lnTo>
                    <a:pt x="1951129" y="1226531"/>
                  </a:lnTo>
                  <a:lnTo>
                    <a:pt x="2097479" y="1240243"/>
                  </a:lnTo>
                  <a:lnTo>
                    <a:pt x="2487763" y="1278659"/>
                  </a:lnTo>
                  <a:lnTo>
                    <a:pt x="2731704" y="1301849"/>
                  </a:lnTo>
                  <a:lnTo>
                    <a:pt x="2878075" y="1314653"/>
                  </a:lnTo>
                  <a:lnTo>
                    <a:pt x="2975658" y="1322517"/>
                  </a:lnTo>
                  <a:lnTo>
                    <a:pt x="3073242" y="1329725"/>
                  </a:lnTo>
                  <a:lnTo>
                    <a:pt x="3170830" y="1336177"/>
                  </a:lnTo>
                  <a:lnTo>
                    <a:pt x="3268419" y="1341771"/>
                  </a:lnTo>
                  <a:lnTo>
                    <a:pt x="3366011" y="1346407"/>
                  </a:lnTo>
                  <a:lnTo>
                    <a:pt x="3414807" y="1348334"/>
                  </a:lnTo>
                  <a:lnTo>
                    <a:pt x="3463605" y="1349984"/>
                  </a:lnTo>
                  <a:lnTo>
                    <a:pt x="3512403" y="1351343"/>
                  </a:lnTo>
                  <a:lnTo>
                    <a:pt x="3561201" y="1352400"/>
                  </a:lnTo>
                  <a:lnTo>
                    <a:pt x="3610001" y="1353142"/>
                  </a:lnTo>
                  <a:lnTo>
                    <a:pt x="3658800" y="1353556"/>
                  </a:lnTo>
                  <a:lnTo>
                    <a:pt x="3707601" y="1353630"/>
                  </a:lnTo>
                  <a:lnTo>
                    <a:pt x="3756402" y="1353350"/>
                  </a:lnTo>
                  <a:lnTo>
                    <a:pt x="3805204" y="1352705"/>
                  </a:lnTo>
                  <a:lnTo>
                    <a:pt x="3854006" y="1351682"/>
                  </a:lnTo>
                  <a:lnTo>
                    <a:pt x="3902809" y="1350267"/>
                  </a:lnTo>
                  <a:lnTo>
                    <a:pt x="3951613" y="1348450"/>
                  </a:lnTo>
                  <a:lnTo>
                    <a:pt x="4000418" y="1346216"/>
                  </a:lnTo>
                  <a:lnTo>
                    <a:pt x="4049223" y="1343553"/>
                  </a:lnTo>
                  <a:lnTo>
                    <a:pt x="4098029" y="1340449"/>
                  </a:lnTo>
                  <a:lnTo>
                    <a:pt x="4146836" y="1336891"/>
                  </a:lnTo>
                  <a:lnTo>
                    <a:pt x="4195643" y="1332867"/>
                  </a:lnTo>
                  <a:lnTo>
                    <a:pt x="4244451" y="1328363"/>
                  </a:lnTo>
                  <a:lnTo>
                    <a:pt x="4293260" y="1323368"/>
                  </a:lnTo>
                  <a:lnTo>
                    <a:pt x="4342070" y="1317869"/>
                  </a:lnTo>
                  <a:lnTo>
                    <a:pt x="4390880" y="1311852"/>
                  </a:lnTo>
                  <a:lnTo>
                    <a:pt x="4439692" y="1305306"/>
                  </a:lnTo>
                  <a:lnTo>
                    <a:pt x="4488504" y="1298217"/>
                  </a:lnTo>
                  <a:lnTo>
                    <a:pt x="4537316" y="1290574"/>
                  </a:lnTo>
                  <a:lnTo>
                    <a:pt x="4586130" y="1282364"/>
                  </a:lnTo>
                  <a:lnTo>
                    <a:pt x="4634944" y="1273573"/>
                  </a:lnTo>
                  <a:lnTo>
                    <a:pt x="4683760" y="1264190"/>
                  </a:lnTo>
                  <a:lnTo>
                    <a:pt x="4683760" y="89440"/>
                  </a:lnTo>
                  <a:lnTo>
                    <a:pt x="4634944" y="98823"/>
                  </a:lnTo>
                  <a:lnTo>
                    <a:pt x="4586130" y="107614"/>
                  </a:lnTo>
                  <a:lnTo>
                    <a:pt x="4537316" y="115824"/>
                  </a:lnTo>
                  <a:lnTo>
                    <a:pt x="4488504" y="123467"/>
                  </a:lnTo>
                  <a:lnTo>
                    <a:pt x="4439692" y="130556"/>
                  </a:lnTo>
                  <a:lnTo>
                    <a:pt x="4390880" y="137102"/>
                  </a:lnTo>
                  <a:lnTo>
                    <a:pt x="4342070" y="143119"/>
                  </a:lnTo>
                  <a:lnTo>
                    <a:pt x="4293260" y="148618"/>
                  </a:lnTo>
                  <a:lnTo>
                    <a:pt x="4244451" y="153613"/>
                  </a:lnTo>
                  <a:lnTo>
                    <a:pt x="4195643" y="158117"/>
                  </a:lnTo>
                  <a:lnTo>
                    <a:pt x="4146836" y="162141"/>
                  </a:lnTo>
                  <a:lnTo>
                    <a:pt x="4098029" y="165699"/>
                  </a:lnTo>
                  <a:lnTo>
                    <a:pt x="4049223" y="168803"/>
                  </a:lnTo>
                  <a:lnTo>
                    <a:pt x="4000418" y="171466"/>
                  </a:lnTo>
                  <a:lnTo>
                    <a:pt x="3951613" y="173700"/>
                  </a:lnTo>
                  <a:lnTo>
                    <a:pt x="3902809" y="175517"/>
                  </a:lnTo>
                  <a:lnTo>
                    <a:pt x="3854006" y="176932"/>
                  </a:lnTo>
                  <a:lnTo>
                    <a:pt x="3805204" y="177955"/>
                  </a:lnTo>
                  <a:lnTo>
                    <a:pt x="3756402" y="178600"/>
                  </a:lnTo>
                  <a:lnTo>
                    <a:pt x="3707601" y="178880"/>
                  </a:lnTo>
                  <a:lnTo>
                    <a:pt x="3658800" y="178806"/>
                  </a:lnTo>
                  <a:lnTo>
                    <a:pt x="3610001" y="178392"/>
                  </a:lnTo>
                  <a:lnTo>
                    <a:pt x="3561201" y="177650"/>
                  </a:lnTo>
                  <a:lnTo>
                    <a:pt x="3512403" y="176593"/>
                  </a:lnTo>
                  <a:lnTo>
                    <a:pt x="3463605" y="175234"/>
                  </a:lnTo>
                  <a:lnTo>
                    <a:pt x="3414807" y="173584"/>
                  </a:lnTo>
                  <a:lnTo>
                    <a:pt x="3366011" y="171657"/>
                  </a:lnTo>
                  <a:lnTo>
                    <a:pt x="3268419" y="167021"/>
                  </a:lnTo>
                  <a:lnTo>
                    <a:pt x="3170830" y="161427"/>
                  </a:lnTo>
                  <a:lnTo>
                    <a:pt x="3073242" y="154975"/>
                  </a:lnTo>
                  <a:lnTo>
                    <a:pt x="2975658" y="147767"/>
                  </a:lnTo>
                  <a:lnTo>
                    <a:pt x="2878075" y="139903"/>
                  </a:lnTo>
                  <a:lnTo>
                    <a:pt x="2731704" y="127099"/>
                  </a:lnTo>
                  <a:lnTo>
                    <a:pt x="2585338" y="113386"/>
                  </a:lnTo>
                  <a:lnTo>
                    <a:pt x="2195047" y="74971"/>
                  </a:lnTo>
                  <a:lnTo>
                    <a:pt x="1951129" y="51781"/>
                  </a:lnTo>
                  <a:lnTo>
                    <a:pt x="1804782" y="38976"/>
                  </a:lnTo>
                  <a:lnTo>
                    <a:pt x="1707219" y="31112"/>
                  </a:lnTo>
                  <a:lnTo>
                    <a:pt x="1609657" y="23904"/>
                  </a:lnTo>
                  <a:lnTo>
                    <a:pt x="1512096" y="17453"/>
                  </a:lnTo>
                  <a:lnTo>
                    <a:pt x="1414537" y="11858"/>
                  </a:lnTo>
                  <a:lnTo>
                    <a:pt x="1316978" y="7222"/>
                  </a:lnTo>
                  <a:lnTo>
                    <a:pt x="1268199" y="5295"/>
                  </a:lnTo>
                  <a:lnTo>
                    <a:pt x="1219420" y="3646"/>
                  </a:lnTo>
                  <a:lnTo>
                    <a:pt x="1170642" y="2286"/>
                  </a:lnTo>
                  <a:lnTo>
                    <a:pt x="1121864" y="1229"/>
                  </a:lnTo>
                  <a:lnTo>
                    <a:pt x="1073085" y="487"/>
                  </a:lnTo>
                  <a:lnTo>
                    <a:pt x="1024307" y="73"/>
                  </a:lnTo>
                  <a:close/>
                </a:path>
              </a:pathLst>
            </a:custGeom>
            <a:solidFill>
              <a:srgbClr val="99CCFF"/>
            </a:solidFill>
          </p:spPr>
          <p:txBody>
            <a:bodyPr wrap="square" lIns="0" tIns="0" rIns="0" bIns="0" rtlCol="0"/>
            <a:lstStyle/>
            <a:p>
              <a:endParaRPr/>
            </a:p>
          </p:txBody>
        </p:sp>
        <p:sp>
          <p:nvSpPr>
            <p:cNvPr id="7" name="object 7"/>
            <p:cNvSpPr/>
            <p:nvPr/>
          </p:nvSpPr>
          <p:spPr>
            <a:xfrm>
              <a:off x="594359" y="2985229"/>
              <a:ext cx="4683760" cy="1353820"/>
            </a:xfrm>
            <a:custGeom>
              <a:avLst/>
              <a:gdLst/>
              <a:ahLst/>
              <a:cxnLst/>
              <a:rect l="l" t="t" r="r" b="b"/>
              <a:pathLst>
                <a:path w="4683760" h="1353820">
                  <a:moveTo>
                    <a:pt x="0" y="89440"/>
                  </a:moveTo>
                  <a:lnTo>
                    <a:pt x="48775" y="80056"/>
                  </a:lnTo>
                  <a:lnTo>
                    <a:pt x="97551" y="71266"/>
                  </a:lnTo>
                  <a:lnTo>
                    <a:pt x="146327" y="63055"/>
                  </a:lnTo>
                  <a:lnTo>
                    <a:pt x="195103" y="55412"/>
                  </a:lnTo>
                  <a:lnTo>
                    <a:pt x="243879" y="48324"/>
                  </a:lnTo>
                  <a:lnTo>
                    <a:pt x="292655" y="41777"/>
                  </a:lnTo>
                  <a:lnTo>
                    <a:pt x="341432" y="35761"/>
                  </a:lnTo>
                  <a:lnTo>
                    <a:pt x="390208" y="30261"/>
                  </a:lnTo>
                  <a:lnTo>
                    <a:pt x="438984" y="25266"/>
                  </a:lnTo>
                  <a:lnTo>
                    <a:pt x="487760" y="20762"/>
                  </a:lnTo>
                  <a:lnTo>
                    <a:pt x="536537" y="16738"/>
                  </a:lnTo>
                  <a:lnTo>
                    <a:pt x="585313" y="13180"/>
                  </a:lnTo>
                  <a:lnTo>
                    <a:pt x="634090" y="10076"/>
                  </a:lnTo>
                  <a:lnTo>
                    <a:pt x="682867" y="7414"/>
                  </a:lnTo>
                  <a:lnTo>
                    <a:pt x="731643" y="5180"/>
                  </a:lnTo>
                  <a:lnTo>
                    <a:pt x="780420" y="3362"/>
                  </a:lnTo>
                  <a:lnTo>
                    <a:pt x="829197" y="1948"/>
                  </a:lnTo>
                  <a:lnTo>
                    <a:pt x="877975" y="924"/>
                  </a:lnTo>
                  <a:lnTo>
                    <a:pt x="926752" y="279"/>
                  </a:lnTo>
                  <a:lnTo>
                    <a:pt x="975530" y="0"/>
                  </a:lnTo>
                  <a:lnTo>
                    <a:pt x="1024307" y="73"/>
                  </a:lnTo>
                  <a:lnTo>
                    <a:pt x="1073085" y="487"/>
                  </a:lnTo>
                  <a:lnTo>
                    <a:pt x="1121864" y="1229"/>
                  </a:lnTo>
                  <a:lnTo>
                    <a:pt x="1170642" y="2286"/>
                  </a:lnTo>
                  <a:lnTo>
                    <a:pt x="1219420" y="3646"/>
                  </a:lnTo>
                  <a:lnTo>
                    <a:pt x="1268199" y="5295"/>
                  </a:lnTo>
                  <a:lnTo>
                    <a:pt x="1316978" y="7222"/>
                  </a:lnTo>
                  <a:lnTo>
                    <a:pt x="1365757" y="9414"/>
                  </a:lnTo>
                  <a:lnTo>
                    <a:pt x="1414537" y="11858"/>
                  </a:lnTo>
                  <a:lnTo>
                    <a:pt x="1463316" y="14542"/>
                  </a:lnTo>
                  <a:lnTo>
                    <a:pt x="1512096" y="17453"/>
                  </a:lnTo>
                  <a:lnTo>
                    <a:pt x="1560877" y="20577"/>
                  </a:lnTo>
                  <a:lnTo>
                    <a:pt x="1609657" y="23904"/>
                  </a:lnTo>
                  <a:lnTo>
                    <a:pt x="1658438" y="27420"/>
                  </a:lnTo>
                  <a:lnTo>
                    <a:pt x="1707219" y="31112"/>
                  </a:lnTo>
                  <a:lnTo>
                    <a:pt x="1756000" y="34969"/>
                  </a:lnTo>
                  <a:lnTo>
                    <a:pt x="1804782" y="38976"/>
                  </a:lnTo>
                  <a:lnTo>
                    <a:pt x="1853564" y="43122"/>
                  </a:lnTo>
                  <a:lnTo>
                    <a:pt x="1902346" y="47395"/>
                  </a:lnTo>
                  <a:lnTo>
                    <a:pt x="1951129" y="51781"/>
                  </a:lnTo>
                  <a:lnTo>
                    <a:pt x="1999912" y="56267"/>
                  </a:lnTo>
                  <a:lnTo>
                    <a:pt x="2048695" y="60842"/>
                  </a:lnTo>
                  <a:lnTo>
                    <a:pt x="2097479" y="65493"/>
                  </a:lnTo>
                  <a:lnTo>
                    <a:pt x="2146263" y="70207"/>
                  </a:lnTo>
                  <a:lnTo>
                    <a:pt x="2195047" y="74971"/>
                  </a:lnTo>
                  <a:lnTo>
                    <a:pt x="2243832" y="79773"/>
                  </a:lnTo>
                  <a:lnTo>
                    <a:pt x="2292618" y="84600"/>
                  </a:lnTo>
                  <a:lnTo>
                    <a:pt x="2341403" y="89440"/>
                  </a:lnTo>
                  <a:lnTo>
                    <a:pt x="2390189" y="94279"/>
                  </a:lnTo>
                  <a:lnTo>
                    <a:pt x="2438976" y="99107"/>
                  </a:lnTo>
                  <a:lnTo>
                    <a:pt x="2487763" y="103909"/>
                  </a:lnTo>
                  <a:lnTo>
                    <a:pt x="2536550" y="108673"/>
                  </a:lnTo>
                  <a:lnTo>
                    <a:pt x="2585338" y="113386"/>
                  </a:lnTo>
                  <a:lnTo>
                    <a:pt x="2634126" y="118037"/>
                  </a:lnTo>
                  <a:lnTo>
                    <a:pt x="2682915" y="122612"/>
                  </a:lnTo>
                  <a:lnTo>
                    <a:pt x="2731704" y="127099"/>
                  </a:lnTo>
                  <a:lnTo>
                    <a:pt x="2780494" y="131485"/>
                  </a:lnTo>
                  <a:lnTo>
                    <a:pt x="2829284" y="135757"/>
                  </a:lnTo>
                  <a:lnTo>
                    <a:pt x="2878075" y="139903"/>
                  </a:lnTo>
                  <a:lnTo>
                    <a:pt x="2926866" y="143911"/>
                  </a:lnTo>
                  <a:lnTo>
                    <a:pt x="2975658" y="147767"/>
                  </a:lnTo>
                  <a:lnTo>
                    <a:pt x="3024450" y="151459"/>
                  </a:lnTo>
                  <a:lnTo>
                    <a:pt x="3073242" y="154975"/>
                  </a:lnTo>
                  <a:lnTo>
                    <a:pt x="3122036" y="158302"/>
                  </a:lnTo>
                  <a:lnTo>
                    <a:pt x="3170830" y="161427"/>
                  </a:lnTo>
                  <a:lnTo>
                    <a:pt x="3219624" y="164337"/>
                  </a:lnTo>
                  <a:lnTo>
                    <a:pt x="3268419" y="167021"/>
                  </a:lnTo>
                  <a:lnTo>
                    <a:pt x="3317215" y="169465"/>
                  </a:lnTo>
                  <a:lnTo>
                    <a:pt x="3366011" y="171657"/>
                  </a:lnTo>
                  <a:lnTo>
                    <a:pt x="3414807" y="173584"/>
                  </a:lnTo>
                  <a:lnTo>
                    <a:pt x="3463605" y="175234"/>
                  </a:lnTo>
                  <a:lnTo>
                    <a:pt x="3512403" y="176593"/>
                  </a:lnTo>
                  <a:lnTo>
                    <a:pt x="3561201" y="177650"/>
                  </a:lnTo>
                  <a:lnTo>
                    <a:pt x="3610001" y="178392"/>
                  </a:lnTo>
                  <a:lnTo>
                    <a:pt x="3658800" y="178806"/>
                  </a:lnTo>
                  <a:lnTo>
                    <a:pt x="3707601" y="178880"/>
                  </a:lnTo>
                  <a:lnTo>
                    <a:pt x="3756402" y="178600"/>
                  </a:lnTo>
                  <a:lnTo>
                    <a:pt x="3805204" y="177955"/>
                  </a:lnTo>
                  <a:lnTo>
                    <a:pt x="3854006" y="176932"/>
                  </a:lnTo>
                  <a:lnTo>
                    <a:pt x="3902809" y="175517"/>
                  </a:lnTo>
                  <a:lnTo>
                    <a:pt x="3951613" y="173700"/>
                  </a:lnTo>
                  <a:lnTo>
                    <a:pt x="4000418" y="171466"/>
                  </a:lnTo>
                  <a:lnTo>
                    <a:pt x="4049223" y="168803"/>
                  </a:lnTo>
                  <a:lnTo>
                    <a:pt x="4098029" y="165699"/>
                  </a:lnTo>
                  <a:lnTo>
                    <a:pt x="4146836" y="162141"/>
                  </a:lnTo>
                  <a:lnTo>
                    <a:pt x="4195643" y="158117"/>
                  </a:lnTo>
                  <a:lnTo>
                    <a:pt x="4244451" y="153613"/>
                  </a:lnTo>
                  <a:lnTo>
                    <a:pt x="4293260" y="148618"/>
                  </a:lnTo>
                  <a:lnTo>
                    <a:pt x="4342070" y="143119"/>
                  </a:lnTo>
                  <a:lnTo>
                    <a:pt x="4390880" y="137102"/>
                  </a:lnTo>
                  <a:lnTo>
                    <a:pt x="4439692" y="130556"/>
                  </a:lnTo>
                  <a:lnTo>
                    <a:pt x="4488504" y="123467"/>
                  </a:lnTo>
                  <a:lnTo>
                    <a:pt x="4537316" y="115824"/>
                  </a:lnTo>
                  <a:lnTo>
                    <a:pt x="4586130" y="107614"/>
                  </a:lnTo>
                  <a:lnTo>
                    <a:pt x="4634944" y="98823"/>
                  </a:lnTo>
                  <a:lnTo>
                    <a:pt x="4683760" y="89440"/>
                  </a:lnTo>
                  <a:lnTo>
                    <a:pt x="4683760" y="1264190"/>
                  </a:lnTo>
                  <a:lnTo>
                    <a:pt x="4634944" y="1273573"/>
                  </a:lnTo>
                  <a:lnTo>
                    <a:pt x="4586130" y="1282364"/>
                  </a:lnTo>
                  <a:lnTo>
                    <a:pt x="4537316" y="1290574"/>
                  </a:lnTo>
                  <a:lnTo>
                    <a:pt x="4488504" y="1298217"/>
                  </a:lnTo>
                  <a:lnTo>
                    <a:pt x="4439692" y="1305306"/>
                  </a:lnTo>
                  <a:lnTo>
                    <a:pt x="4390880" y="1311852"/>
                  </a:lnTo>
                  <a:lnTo>
                    <a:pt x="4342070" y="1317869"/>
                  </a:lnTo>
                  <a:lnTo>
                    <a:pt x="4293260" y="1323368"/>
                  </a:lnTo>
                  <a:lnTo>
                    <a:pt x="4244451" y="1328363"/>
                  </a:lnTo>
                  <a:lnTo>
                    <a:pt x="4195643" y="1332867"/>
                  </a:lnTo>
                  <a:lnTo>
                    <a:pt x="4146836" y="1336891"/>
                  </a:lnTo>
                  <a:lnTo>
                    <a:pt x="4098029" y="1340449"/>
                  </a:lnTo>
                  <a:lnTo>
                    <a:pt x="4049223" y="1343553"/>
                  </a:lnTo>
                  <a:lnTo>
                    <a:pt x="4000418" y="1346216"/>
                  </a:lnTo>
                  <a:lnTo>
                    <a:pt x="3951613" y="1348450"/>
                  </a:lnTo>
                  <a:lnTo>
                    <a:pt x="3902809" y="1350267"/>
                  </a:lnTo>
                  <a:lnTo>
                    <a:pt x="3854006" y="1351682"/>
                  </a:lnTo>
                  <a:lnTo>
                    <a:pt x="3805204" y="1352705"/>
                  </a:lnTo>
                  <a:lnTo>
                    <a:pt x="3756402" y="1353350"/>
                  </a:lnTo>
                  <a:lnTo>
                    <a:pt x="3707601" y="1353630"/>
                  </a:lnTo>
                  <a:lnTo>
                    <a:pt x="3658800" y="1353556"/>
                  </a:lnTo>
                  <a:lnTo>
                    <a:pt x="3610001" y="1353142"/>
                  </a:lnTo>
                  <a:lnTo>
                    <a:pt x="3561201" y="1352400"/>
                  </a:lnTo>
                  <a:lnTo>
                    <a:pt x="3512403" y="1351343"/>
                  </a:lnTo>
                  <a:lnTo>
                    <a:pt x="3463605" y="1349984"/>
                  </a:lnTo>
                  <a:lnTo>
                    <a:pt x="3414807" y="1348334"/>
                  </a:lnTo>
                  <a:lnTo>
                    <a:pt x="3366011" y="1346407"/>
                  </a:lnTo>
                  <a:lnTo>
                    <a:pt x="3317215" y="1344215"/>
                  </a:lnTo>
                  <a:lnTo>
                    <a:pt x="3268419" y="1341771"/>
                  </a:lnTo>
                  <a:lnTo>
                    <a:pt x="3219624" y="1339087"/>
                  </a:lnTo>
                  <a:lnTo>
                    <a:pt x="3170830" y="1336177"/>
                  </a:lnTo>
                  <a:lnTo>
                    <a:pt x="3122036" y="1333052"/>
                  </a:lnTo>
                  <a:lnTo>
                    <a:pt x="3073242" y="1329725"/>
                  </a:lnTo>
                  <a:lnTo>
                    <a:pt x="3024450" y="1326209"/>
                  </a:lnTo>
                  <a:lnTo>
                    <a:pt x="2975658" y="1322517"/>
                  </a:lnTo>
                  <a:lnTo>
                    <a:pt x="2926866" y="1318661"/>
                  </a:lnTo>
                  <a:lnTo>
                    <a:pt x="2878075" y="1314653"/>
                  </a:lnTo>
                  <a:lnTo>
                    <a:pt x="2829284" y="1310507"/>
                  </a:lnTo>
                  <a:lnTo>
                    <a:pt x="2780494" y="1306235"/>
                  </a:lnTo>
                  <a:lnTo>
                    <a:pt x="2731704" y="1301849"/>
                  </a:lnTo>
                  <a:lnTo>
                    <a:pt x="2682915" y="1297362"/>
                  </a:lnTo>
                  <a:lnTo>
                    <a:pt x="2634126" y="1292787"/>
                  </a:lnTo>
                  <a:lnTo>
                    <a:pt x="2585338" y="1288136"/>
                  </a:lnTo>
                  <a:lnTo>
                    <a:pt x="2536550" y="1283423"/>
                  </a:lnTo>
                  <a:lnTo>
                    <a:pt x="2487763" y="1278659"/>
                  </a:lnTo>
                  <a:lnTo>
                    <a:pt x="2438976" y="1273857"/>
                  </a:lnTo>
                  <a:lnTo>
                    <a:pt x="2390189" y="1269029"/>
                  </a:lnTo>
                  <a:lnTo>
                    <a:pt x="2341403" y="1264190"/>
                  </a:lnTo>
                  <a:lnTo>
                    <a:pt x="2292618" y="1259350"/>
                  </a:lnTo>
                  <a:lnTo>
                    <a:pt x="2243832" y="1254523"/>
                  </a:lnTo>
                  <a:lnTo>
                    <a:pt x="2195047" y="1249721"/>
                  </a:lnTo>
                  <a:lnTo>
                    <a:pt x="2146263" y="1244957"/>
                  </a:lnTo>
                  <a:lnTo>
                    <a:pt x="2097479" y="1240243"/>
                  </a:lnTo>
                  <a:lnTo>
                    <a:pt x="2048695" y="1235592"/>
                  </a:lnTo>
                  <a:lnTo>
                    <a:pt x="1999912" y="1231017"/>
                  </a:lnTo>
                  <a:lnTo>
                    <a:pt x="1951129" y="1226531"/>
                  </a:lnTo>
                  <a:lnTo>
                    <a:pt x="1902346" y="1222145"/>
                  </a:lnTo>
                  <a:lnTo>
                    <a:pt x="1853564" y="1217872"/>
                  </a:lnTo>
                  <a:lnTo>
                    <a:pt x="1804782" y="1213726"/>
                  </a:lnTo>
                  <a:lnTo>
                    <a:pt x="1756000" y="1209719"/>
                  </a:lnTo>
                  <a:lnTo>
                    <a:pt x="1707219" y="1205862"/>
                  </a:lnTo>
                  <a:lnTo>
                    <a:pt x="1658438" y="1202170"/>
                  </a:lnTo>
                  <a:lnTo>
                    <a:pt x="1609657" y="1198654"/>
                  </a:lnTo>
                  <a:lnTo>
                    <a:pt x="1560877" y="1195327"/>
                  </a:lnTo>
                  <a:lnTo>
                    <a:pt x="1512096" y="1192203"/>
                  </a:lnTo>
                  <a:lnTo>
                    <a:pt x="1463316" y="1189292"/>
                  </a:lnTo>
                  <a:lnTo>
                    <a:pt x="1414537" y="1186608"/>
                  </a:lnTo>
                  <a:lnTo>
                    <a:pt x="1365757" y="1184164"/>
                  </a:lnTo>
                  <a:lnTo>
                    <a:pt x="1316978" y="1181972"/>
                  </a:lnTo>
                  <a:lnTo>
                    <a:pt x="1268199" y="1180045"/>
                  </a:lnTo>
                  <a:lnTo>
                    <a:pt x="1219420" y="1178396"/>
                  </a:lnTo>
                  <a:lnTo>
                    <a:pt x="1170642" y="1177036"/>
                  </a:lnTo>
                  <a:lnTo>
                    <a:pt x="1121864" y="1175979"/>
                  </a:lnTo>
                  <a:lnTo>
                    <a:pt x="1073085" y="1175237"/>
                  </a:lnTo>
                  <a:lnTo>
                    <a:pt x="1024307" y="1174823"/>
                  </a:lnTo>
                  <a:lnTo>
                    <a:pt x="975530" y="1174750"/>
                  </a:lnTo>
                  <a:lnTo>
                    <a:pt x="926752" y="1175029"/>
                  </a:lnTo>
                  <a:lnTo>
                    <a:pt x="877975" y="1175674"/>
                  </a:lnTo>
                  <a:lnTo>
                    <a:pt x="829197" y="1176698"/>
                  </a:lnTo>
                  <a:lnTo>
                    <a:pt x="780420" y="1178112"/>
                  </a:lnTo>
                  <a:lnTo>
                    <a:pt x="731643" y="1179930"/>
                  </a:lnTo>
                  <a:lnTo>
                    <a:pt x="682867" y="1182164"/>
                  </a:lnTo>
                  <a:lnTo>
                    <a:pt x="634090" y="1184826"/>
                  </a:lnTo>
                  <a:lnTo>
                    <a:pt x="585313" y="1187930"/>
                  </a:lnTo>
                  <a:lnTo>
                    <a:pt x="536537" y="1191488"/>
                  </a:lnTo>
                  <a:lnTo>
                    <a:pt x="487760" y="1195512"/>
                  </a:lnTo>
                  <a:lnTo>
                    <a:pt x="438984" y="1200016"/>
                  </a:lnTo>
                  <a:lnTo>
                    <a:pt x="390208" y="1205011"/>
                  </a:lnTo>
                  <a:lnTo>
                    <a:pt x="341432" y="1210511"/>
                  </a:lnTo>
                  <a:lnTo>
                    <a:pt x="292655" y="1216527"/>
                  </a:lnTo>
                  <a:lnTo>
                    <a:pt x="243879" y="1223074"/>
                  </a:lnTo>
                  <a:lnTo>
                    <a:pt x="195103" y="1230162"/>
                  </a:lnTo>
                  <a:lnTo>
                    <a:pt x="146327" y="1237805"/>
                  </a:lnTo>
                  <a:lnTo>
                    <a:pt x="97551" y="1246016"/>
                  </a:lnTo>
                  <a:lnTo>
                    <a:pt x="48775" y="1254806"/>
                  </a:lnTo>
                  <a:lnTo>
                    <a:pt x="0" y="1264190"/>
                  </a:lnTo>
                  <a:lnTo>
                    <a:pt x="0" y="89440"/>
                  </a:lnTo>
                  <a:close/>
                </a:path>
              </a:pathLst>
            </a:custGeom>
            <a:ln w="9344">
              <a:solidFill>
                <a:srgbClr val="000000"/>
              </a:solidFill>
            </a:ln>
          </p:spPr>
          <p:txBody>
            <a:bodyPr wrap="square" lIns="0" tIns="0" rIns="0" bIns="0" rtlCol="0"/>
            <a:lstStyle/>
            <a:p>
              <a:endParaRPr/>
            </a:p>
          </p:txBody>
        </p:sp>
        <p:sp>
          <p:nvSpPr>
            <p:cNvPr id="8" name="object 8"/>
            <p:cNvSpPr/>
            <p:nvPr/>
          </p:nvSpPr>
          <p:spPr>
            <a:xfrm>
              <a:off x="589686" y="2982378"/>
              <a:ext cx="4693285" cy="1359535"/>
            </a:xfrm>
            <a:custGeom>
              <a:avLst/>
              <a:gdLst/>
              <a:ahLst/>
              <a:cxnLst/>
              <a:rect l="l" t="t" r="r" b="b"/>
              <a:pathLst>
                <a:path w="4693285" h="1359535">
                  <a:moveTo>
                    <a:pt x="9334" y="4660"/>
                  </a:moveTo>
                  <a:lnTo>
                    <a:pt x="7975" y="1358"/>
                  </a:lnTo>
                  <a:lnTo>
                    <a:pt x="4673" y="0"/>
                  </a:lnTo>
                  <a:lnTo>
                    <a:pt x="1358" y="1358"/>
                  </a:lnTo>
                  <a:lnTo>
                    <a:pt x="0" y="4660"/>
                  </a:lnTo>
                  <a:lnTo>
                    <a:pt x="1358" y="7975"/>
                  </a:lnTo>
                  <a:lnTo>
                    <a:pt x="4673" y="9334"/>
                  </a:lnTo>
                  <a:lnTo>
                    <a:pt x="7975" y="7975"/>
                  </a:lnTo>
                  <a:lnTo>
                    <a:pt x="9334" y="4660"/>
                  </a:lnTo>
                  <a:close/>
                </a:path>
                <a:path w="4693285" h="1359535">
                  <a:moveTo>
                    <a:pt x="4693094" y="1354670"/>
                  </a:moveTo>
                  <a:lnTo>
                    <a:pt x="4691735" y="1351368"/>
                  </a:lnTo>
                  <a:lnTo>
                    <a:pt x="4688433" y="1350010"/>
                  </a:lnTo>
                  <a:lnTo>
                    <a:pt x="4685119" y="1351368"/>
                  </a:lnTo>
                  <a:lnTo>
                    <a:pt x="4683760" y="1354670"/>
                  </a:lnTo>
                  <a:lnTo>
                    <a:pt x="4685119" y="1357985"/>
                  </a:lnTo>
                  <a:lnTo>
                    <a:pt x="4688433" y="1359344"/>
                  </a:lnTo>
                  <a:lnTo>
                    <a:pt x="4691735" y="1357985"/>
                  </a:lnTo>
                  <a:lnTo>
                    <a:pt x="4693094" y="1354670"/>
                  </a:lnTo>
                  <a:close/>
                </a:path>
              </a:pathLst>
            </a:custGeom>
            <a:solidFill>
              <a:srgbClr val="000000"/>
            </a:solidFill>
          </p:spPr>
          <p:txBody>
            <a:bodyPr wrap="square" lIns="0" tIns="0" rIns="0" bIns="0" rtlCol="0"/>
            <a:lstStyle/>
            <a:p>
              <a:endParaRPr/>
            </a:p>
          </p:txBody>
        </p:sp>
      </p:grpSp>
      <p:grpSp>
        <p:nvGrpSpPr>
          <p:cNvPr id="9" name="object 9"/>
          <p:cNvGrpSpPr/>
          <p:nvPr/>
        </p:nvGrpSpPr>
        <p:grpSpPr>
          <a:xfrm>
            <a:off x="352197" y="4647337"/>
            <a:ext cx="4057015" cy="1678305"/>
            <a:chOff x="352197" y="4647337"/>
            <a:chExt cx="4057015" cy="1678305"/>
          </a:xfrm>
        </p:grpSpPr>
        <p:sp>
          <p:nvSpPr>
            <p:cNvPr id="10" name="object 10"/>
            <p:cNvSpPr/>
            <p:nvPr/>
          </p:nvSpPr>
          <p:spPr>
            <a:xfrm>
              <a:off x="356869" y="4652009"/>
              <a:ext cx="4047490" cy="1668780"/>
            </a:xfrm>
            <a:custGeom>
              <a:avLst/>
              <a:gdLst/>
              <a:ahLst/>
              <a:cxnLst/>
              <a:rect l="l" t="t" r="r" b="b"/>
              <a:pathLst>
                <a:path w="4047490" h="1668779">
                  <a:moveTo>
                    <a:pt x="2023110" y="0"/>
                  </a:moveTo>
                  <a:lnTo>
                    <a:pt x="2090254" y="415"/>
                  </a:lnTo>
                  <a:lnTo>
                    <a:pt x="2156749" y="1654"/>
                  </a:lnTo>
                  <a:lnTo>
                    <a:pt x="2222569" y="3706"/>
                  </a:lnTo>
                  <a:lnTo>
                    <a:pt x="2287685" y="6558"/>
                  </a:lnTo>
                  <a:lnTo>
                    <a:pt x="2352070" y="10199"/>
                  </a:lnTo>
                  <a:lnTo>
                    <a:pt x="2415696" y="14619"/>
                  </a:lnTo>
                  <a:lnTo>
                    <a:pt x="2478536" y="19806"/>
                  </a:lnTo>
                  <a:lnTo>
                    <a:pt x="2540562" y="25747"/>
                  </a:lnTo>
                  <a:lnTo>
                    <a:pt x="2601747" y="32433"/>
                  </a:lnTo>
                  <a:lnTo>
                    <a:pt x="2662063" y="39851"/>
                  </a:lnTo>
                  <a:lnTo>
                    <a:pt x="2721484" y="47991"/>
                  </a:lnTo>
                  <a:lnTo>
                    <a:pt x="2779980" y="56840"/>
                  </a:lnTo>
                  <a:lnTo>
                    <a:pt x="2837525" y="66388"/>
                  </a:lnTo>
                  <a:lnTo>
                    <a:pt x="2894091" y="76623"/>
                  </a:lnTo>
                  <a:lnTo>
                    <a:pt x="2949651" y="87533"/>
                  </a:lnTo>
                  <a:lnTo>
                    <a:pt x="3004177" y="99108"/>
                  </a:lnTo>
                  <a:lnTo>
                    <a:pt x="3057642" y="111336"/>
                  </a:lnTo>
                  <a:lnTo>
                    <a:pt x="3110018" y="124206"/>
                  </a:lnTo>
                  <a:lnTo>
                    <a:pt x="3161278" y="137705"/>
                  </a:lnTo>
                  <a:lnTo>
                    <a:pt x="3211393" y="151824"/>
                  </a:lnTo>
                  <a:lnTo>
                    <a:pt x="3260338" y="166550"/>
                  </a:lnTo>
                  <a:lnTo>
                    <a:pt x="3308083" y="181872"/>
                  </a:lnTo>
                  <a:lnTo>
                    <a:pt x="3354602" y="197779"/>
                  </a:lnTo>
                  <a:lnTo>
                    <a:pt x="3399867" y="214259"/>
                  </a:lnTo>
                  <a:lnTo>
                    <a:pt x="3443851" y="231301"/>
                  </a:lnTo>
                  <a:lnTo>
                    <a:pt x="3486525" y="248894"/>
                  </a:lnTo>
                  <a:lnTo>
                    <a:pt x="3527863" y="267026"/>
                  </a:lnTo>
                  <a:lnTo>
                    <a:pt x="3567837" y="285686"/>
                  </a:lnTo>
                  <a:lnTo>
                    <a:pt x="3606420" y="304862"/>
                  </a:lnTo>
                  <a:lnTo>
                    <a:pt x="3643583" y="324544"/>
                  </a:lnTo>
                  <a:lnTo>
                    <a:pt x="3679300" y="344719"/>
                  </a:lnTo>
                  <a:lnTo>
                    <a:pt x="3713543" y="365376"/>
                  </a:lnTo>
                  <a:lnTo>
                    <a:pt x="3746285" y="386505"/>
                  </a:lnTo>
                  <a:lnTo>
                    <a:pt x="3807153" y="430129"/>
                  </a:lnTo>
                  <a:lnTo>
                    <a:pt x="3861684" y="475501"/>
                  </a:lnTo>
                  <a:lnTo>
                    <a:pt x="3909658" y="522529"/>
                  </a:lnTo>
                  <a:lnTo>
                    <a:pt x="3950856" y="571123"/>
                  </a:lnTo>
                  <a:lnTo>
                    <a:pt x="3985057" y="621191"/>
                  </a:lnTo>
                  <a:lnTo>
                    <a:pt x="4012041" y="672643"/>
                  </a:lnTo>
                  <a:lnTo>
                    <a:pt x="4031588" y="725387"/>
                  </a:lnTo>
                  <a:lnTo>
                    <a:pt x="4043477" y="779333"/>
                  </a:lnTo>
                  <a:lnTo>
                    <a:pt x="4047490" y="834389"/>
                  </a:lnTo>
                  <a:lnTo>
                    <a:pt x="4046482" y="862123"/>
                  </a:lnTo>
                  <a:lnTo>
                    <a:pt x="4038504" y="916762"/>
                  </a:lnTo>
                  <a:lnTo>
                    <a:pt x="4022758" y="970223"/>
                  </a:lnTo>
                  <a:lnTo>
                    <a:pt x="3999465" y="1022418"/>
                  </a:lnTo>
                  <a:lnTo>
                    <a:pt x="3968845" y="1073256"/>
                  </a:lnTo>
                  <a:lnTo>
                    <a:pt x="3931118" y="1122648"/>
                  </a:lnTo>
                  <a:lnTo>
                    <a:pt x="3886504" y="1170504"/>
                  </a:lnTo>
                  <a:lnTo>
                    <a:pt x="3835224" y="1216735"/>
                  </a:lnTo>
                  <a:lnTo>
                    <a:pt x="3777497" y="1261251"/>
                  </a:lnTo>
                  <a:lnTo>
                    <a:pt x="3713543" y="1303962"/>
                  </a:lnTo>
                  <a:lnTo>
                    <a:pt x="3679300" y="1324612"/>
                  </a:lnTo>
                  <a:lnTo>
                    <a:pt x="3643583" y="1344778"/>
                  </a:lnTo>
                  <a:lnTo>
                    <a:pt x="3606420" y="1364448"/>
                  </a:lnTo>
                  <a:lnTo>
                    <a:pt x="3567837" y="1383611"/>
                  </a:lnTo>
                  <a:lnTo>
                    <a:pt x="3527863" y="1402256"/>
                  </a:lnTo>
                  <a:lnTo>
                    <a:pt x="3486525" y="1420370"/>
                  </a:lnTo>
                  <a:lnTo>
                    <a:pt x="3443851" y="1437944"/>
                  </a:lnTo>
                  <a:lnTo>
                    <a:pt x="3399867" y="1454967"/>
                  </a:lnTo>
                  <a:lnTo>
                    <a:pt x="3354602" y="1471426"/>
                  </a:lnTo>
                  <a:lnTo>
                    <a:pt x="3308083" y="1487310"/>
                  </a:lnTo>
                  <a:lnTo>
                    <a:pt x="3260338" y="1502609"/>
                  </a:lnTo>
                  <a:lnTo>
                    <a:pt x="3211393" y="1517311"/>
                  </a:lnTo>
                  <a:lnTo>
                    <a:pt x="3161278" y="1531405"/>
                  </a:lnTo>
                  <a:lnTo>
                    <a:pt x="3110018" y="1544880"/>
                  </a:lnTo>
                  <a:lnTo>
                    <a:pt x="3057642" y="1557725"/>
                  </a:lnTo>
                  <a:lnTo>
                    <a:pt x="3004177" y="1569928"/>
                  </a:lnTo>
                  <a:lnTo>
                    <a:pt x="2949651" y="1581478"/>
                  </a:lnTo>
                  <a:lnTo>
                    <a:pt x="2894091" y="1592365"/>
                  </a:lnTo>
                  <a:lnTo>
                    <a:pt x="2837525" y="1602576"/>
                  </a:lnTo>
                  <a:lnTo>
                    <a:pt x="2779980" y="1612100"/>
                  </a:lnTo>
                  <a:lnTo>
                    <a:pt x="2721484" y="1620927"/>
                  </a:lnTo>
                  <a:lnTo>
                    <a:pt x="2662063" y="1629046"/>
                  </a:lnTo>
                  <a:lnTo>
                    <a:pt x="2601747" y="1636444"/>
                  </a:lnTo>
                  <a:lnTo>
                    <a:pt x="2540562" y="1643111"/>
                  </a:lnTo>
                  <a:lnTo>
                    <a:pt x="2478536" y="1649035"/>
                  </a:lnTo>
                  <a:lnTo>
                    <a:pt x="2415696" y="1654206"/>
                  </a:lnTo>
                  <a:lnTo>
                    <a:pt x="2352070" y="1658613"/>
                  </a:lnTo>
                  <a:lnTo>
                    <a:pt x="2287685" y="1662243"/>
                  </a:lnTo>
                  <a:lnTo>
                    <a:pt x="2222569" y="1665086"/>
                  </a:lnTo>
                  <a:lnTo>
                    <a:pt x="2156749" y="1667130"/>
                  </a:lnTo>
                  <a:lnTo>
                    <a:pt x="2090254" y="1668365"/>
                  </a:lnTo>
                  <a:lnTo>
                    <a:pt x="2023110" y="1668779"/>
                  </a:lnTo>
                  <a:lnTo>
                    <a:pt x="1955967" y="1668365"/>
                  </a:lnTo>
                  <a:lnTo>
                    <a:pt x="1889475" y="1667130"/>
                  </a:lnTo>
                  <a:lnTo>
                    <a:pt x="1823663" y="1665086"/>
                  </a:lnTo>
                  <a:lnTo>
                    <a:pt x="1758556" y="1662243"/>
                  </a:lnTo>
                  <a:lnTo>
                    <a:pt x="1694183" y="1658613"/>
                  </a:lnTo>
                  <a:lnTo>
                    <a:pt x="1630572" y="1654206"/>
                  </a:lnTo>
                  <a:lnTo>
                    <a:pt x="1567748" y="1649035"/>
                  </a:lnTo>
                  <a:lnTo>
                    <a:pt x="1505741" y="1643111"/>
                  </a:lnTo>
                  <a:lnTo>
                    <a:pt x="1444577" y="1636444"/>
                  </a:lnTo>
                  <a:lnTo>
                    <a:pt x="1384283" y="1629046"/>
                  </a:lnTo>
                  <a:lnTo>
                    <a:pt x="1324887" y="1620927"/>
                  </a:lnTo>
                  <a:lnTo>
                    <a:pt x="1266417" y="1612100"/>
                  </a:lnTo>
                  <a:lnTo>
                    <a:pt x="1208900" y="1602576"/>
                  </a:lnTo>
                  <a:lnTo>
                    <a:pt x="1152362" y="1592365"/>
                  </a:lnTo>
                  <a:lnTo>
                    <a:pt x="1096833" y="1581478"/>
                  </a:lnTo>
                  <a:lnTo>
                    <a:pt x="1042338" y="1569928"/>
                  </a:lnTo>
                  <a:lnTo>
                    <a:pt x="988906" y="1557725"/>
                  </a:lnTo>
                  <a:lnTo>
                    <a:pt x="936564" y="1544880"/>
                  </a:lnTo>
                  <a:lnTo>
                    <a:pt x="885339" y="1531405"/>
                  </a:lnTo>
                  <a:lnTo>
                    <a:pt x="835258" y="1517311"/>
                  </a:lnTo>
                  <a:lnTo>
                    <a:pt x="786350" y="1502609"/>
                  </a:lnTo>
                  <a:lnTo>
                    <a:pt x="738641" y="1487310"/>
                  </a:lnTo>
                  <a:lnTo>
                    <a:pt x="692159" y="1471426"/>
                  </a:lnTo>
                  <a:lnTo>
                    <a:pt x="646931" y="1454967"/>
                  </a:lnTo>
                  <a:lnTo>
                    <a:pt x="602985" y="1437944"/>
                  </a:lnTo>
                  <a:lnTo>
                    <a:pt x="560347" y="1420370"/>
                  </a:lnTo>
                  <a:lnTo>
                    <a:pt x="519047" y="1402256"/>
                  </a:lnTo>
                  <a:lnTo>
                    <a:pt x="479110" y="1383611"/>
                  </a:lnTo>
                  <a:lnTo>
                    <a:pt x="440564" y="1364448"/>
                  </a:lnTo>
                  <a:lnTo>
                    <a:pt x="403437" y="1344778"/>
                  </a:lnTo>
                  <a:lnTo>
                    <a:pt x="367756" y="1324612"/>
                  </a:lnTo>
                  <a:lnTo>
                    <a:pt x="333548" y="1303962"/>
                  </a:lnTo>
                  <a:lnTo>
                    <a:pt x="300841" y="1282837"/>
                  </a:lnTo>
                  <a:lnTo>
                    <a:pt x="240040" y="1239213"/>
                  </a:lnTo>
                  <a:lnTo>
                    <a:pt x="185571" y="1193828"/>
                  </a:lnTo>
                  <a:lnTo>
                    <a:pt x="137653" y="1146774"/>
                  </a:lnTo>
                  <a:lnTo>
                    <a:pt x="96505" y="1098139"/>
                  </a:lnTo>
                  <a:lnTo>
                    <a:pt x="62348" y="1048012"/>
                  </a:lnTo>
                  <a:lnTo>
                    <a:pt x="35399" y="996485"/>
                  </a:lnTo>
                  <a:lnTo>
                    <a:pt x="15879" y="943645"/>
                  </a:lnTo>
                  <a:lnTo>
                    <a:pt x="4006" y="889584"/>
                  </a:lnTo>
                  <a:lnTo>
                    <a:pt x="0" y="834389"/>
                  </a:lnTo>
                  <a:lnTo>
                    <a:pt x="1006" y="806728"/>
                  </a:lnTo>
                  <a:lnTo>
                    <a:pt x="8973" y="752216"/>
                  </a:lnTo>
                  <a:lnTo>
                    <a:pt x="24697" y="698860"/>
                  </a:lnTo>
                  <a:lnTo>
                    <a:pt x="47959" y="646750"/>
                  </a:lnTo>
                  <a:lnTo>
                    <a:pt x="78539" y="595979"/>
                  </a:lnTo>
                  <a:lnTo>
                    <a:pt x="116219" y="546636"/>
                  </a:lnTo>
                  <a:lnTo>
                    <a:pt x="160779" y="498814"/>
                  </a:lnTo>
                  <a:lnTo>
                    <a:pt x="212000" y="452602"/>
                  </a:lnTo>
                  <a:lnTo>
                    <a:pt x="269663" y="408093"/>
                  </a:lnTo>
                  <a:lnTo>
                    <a:pt x="333548" y="365376"/>
                  </a:lnTo>
                  <a:lnTo>
                    <a:pt x="367756" y="344719"/>
                  </a:lnTo>
                  <a:lnTo>
                    <a:pt x="403437" y="324544"/>
                  </a:lnTo>
                  <a:lnTo>
                    <a:pt x="440564" y="304862"/>
                  </a:lnTo>
                  <a:lnTo>
                    <a:pt x="479110" y="285686"/>
                  </a:lnTo>
                  <a:lnTo>
                    <a:pt x="519047" y="267026"/>
                  </a:lnTo>
                  <a:lnTo>
                    <a:pt x="560347" y="248894"/>
                  </a:lnTo>
                  <a:lnTo>
                    <a:pt x="602985" y="231301"/>
                  </a:lnTo>
                  <a:lnTo>
                    <a:pt x="646931" y="214259"/>
                  </a:lnTo>
                  <a:lnTo>
                    <a:pt x="692159" y="197779"/>
                  </a:lnTo>
                  <a:lnTo>
                    <a:pt x="738641" y="181872"/>
                  </a:lnTo>
                  <a:lnTo>
                    <a:pt x="786350" y="166550"/>
                  </a:lnTo>
                  <a:lnTo>
                    <a:pt x="835258" y="151824"/>
                  </a:lnTo>
                  <a:lnTo>
                    <a:pt x="885339" y="137705"/>
                  </a:lnTo>
                  <a:lnTo>
                    <a:pt x="936564" y="124206"/>
                  </a:lnTo>
                  <a:lnTo>
                    <a:pt x="988906" y="111336"/>
                  </a:lnTo>
                  <a:lnTo>
                    <a:pt x="1042338" y="99108"/>
                  </a:lnTo>
                  <a:lnTo>
                    <a:pt x="1096833" y="87533"/>
                  </a:lnTo>
                  <a:lnTo>
                    <a:pt x="1152362" y="76623"/>
                  </a:lnTo>
                  <a:lnTo>
                    <a:pt x="1208900" y="66388"/>
                  </a:lnTo>
                  <a:lnTo>
                    <a:pt x="1266417" y="56840"/>
                  </a:lnTo>
                  <a:lnTo>
                    <a:pt x="1324887" y="47991"/>
                  </a:lnTo>
                  <a:lnTo>
                    <a:pt x="1384283" y="39851"/>
                  </a:lnTo>
                  <a:lnTo>
                    <a:pt x="1444577" y="32433"/>
                  </a:lnTo>
                  <a:lnTo>
                    <a:pt x="1505741" y="25747"/>
                  </a:lnTo>
                  <a:lnTo>
                    <a:pt x="1567748" y="19806"/>
                  </a:lnTo>
                  <a:lnTo>
                    <a:pt x="1630572" y="14619"/>
                  </a:lnTo>
                  <a:lnTo>
                    <a:pt x="1694183" y="10199"/>
                  </a:lnTo>
                  <a:lnTo>
                    <a:pt x="1758556" y="6558"/>
                  </a:lnTo>
                  <a:lnTo>
                    <a:pt x="1823663" y="3706"/>
                  </a:lnTo>
                  <a:lnTo>
                    <a:pt x="1889475" y="1654"/>
                  </a:lnTo>
                  <a:lnTo>
                    <a:pt x="1955967" y="415"/>
                  </a:lnTo>
                  <a:lnTo>
                    <a:pt x="2023110" y="0"/>
                  </a:lnTo>
                  <a:close/>
                </a:path>
              </a:pathLst>
            </a:custGeom>
            <a:ln w="9344">
              <a:solidFill>
                <a:srgbClr val="000000"/>
              </a:solidFill>
            </a:ln>
          </p:spPr>
          <p:txBody>
            <a:bodyPr wrap="square" lIns="0" tIns="0" rIns="0" bIns="0" rtlCol="0"/>
            <a:lstStyle/>
            <a:p>
              <a:endParaRPr/>
            </a:p>
          </p:txBody>
        </p:sp>
        <p:sp>
          <p:nvSpPr>
            <p:cNvPr id="11" name="object 11"/>
            <p:cNvSpPr/>
            <p:nvPr/>
          </p:nvSpPr>
          <p:spPr>
            <a:xfrm>
              <a:off x="352196" y="4647348"/>
              <a:ext cx="4057015" cy="1678305"/>
            </a:xfrm>
            <a:custGeom>
              <a:avLst/>
              <a:gdLst/>
              <a:ahLst/>
              <a:cxnLst/>
              <a:rect l="l" t="t" r="r" b="b"/>
              <a:pathLst>
                <a:path w="4057015" h="1678304">
                  <a:moveTo>
                    <a:pt x="9334" y="4660"/>
                  </a:moveTo>
                  <a:lnTo>
                    <a:pt x="7975" y="1358"/>
                  </a:lnTo>
                  <a:lnTo>
                    <a:pt x="4673" y="0"/>
                  </a:lnTo>
                  <a:lnTo>
                    <a:pt x="1358" y="1358"/>
                  </a:lnTo>
                  <a:lnTo>
                    <a:pt x="0" y="4660"/>
                  </a:lnTo>
                  <a:lnTo>
                    <a:pt x="1358" y="7975"/>
                  </a:lnTo>
                  <a:lnTo>
                    <a:pt x="4673" y="9334"/>
                  </a:lnTo>
                  <a:lnTo>
                    <a:pt x="7975" y="7975"/>
                  </a:lnTo>
                  <a:lnTo>
                    <a:pt x="9334" y="4660"/>
                  </a:lnTo>
                  <a:close/>
                </a:path>
                <a:path w="4057015" h="1678304">
                  <a:moveTo>
                    <a:pt x="4056824" y="1673440"/>
                  </a:moveTo>
                  <a:lnTo>
                    <a:pt x="4055465" y="1670138"/>
                  </a:lnTo>
                  <a:lnTo>
                    <a:pt x="4052163" y="1668780"/>
                  </a:lnTo>
                  <a:lnTo>
                    <a:pt x="4048849" y="1670138"/>
                  </a:lnTo>
                  <a:lnTo>
                    <a:pt x="4047490" y="1673440"/>
                  </a:lnTo>
                  <a:lnTo>
                    <a:pt x="4048849" y="1676755"/>
                  </a:lnTo>
                  <a:lnTo>
                    <a:pt x="4052163" y="1678114"/>
                  </a:lnTo>
                  <a:lnTo>
                    <a:pt x="4055465" y="1676755"/>
                  </a:lnTo>
                  <a:lnTo>
                    <a:pt x="4056824" y="1673440"/>
                  </a:lnTo>
                  <a:close/>
                </a:path>
              </a:pathLst>
            </a:custGeom>
            <a:solidFill>
              <a:srgbClr val="000000"/>
            </a:solidFill>
          </p:spPr>
          <p:txBody>
            <a:bodyPr wrap="square" lIns="0" tIns="0" rIns="0" bIns="0" rtlCol="0"/>
            <a:lstStyle/>
            <a:p>
              <a:endParaRPr/>
            </a:p>
          </p:txBody>
        </p:sp>
      </p:grpSp>
      <p:sp>
        <p:nvSpPr>
          <p:cNvPr id="12" name="object 12"/>
          <p:cNvSpPr txBox="1"/>
          <p:nvPr/>
        </p:nvSpPr>
        <p:spPr>
          <a:xfrm>
            <a:off x="1201419" y="3343909"/>
            <a:ext cx="3468370" cy="2764790"/>
          </a:xfrm>
          <a:prstGeom prst="rect">
            <a:avLst/>
          </a:prstGeom>
        </p:spPr>
        <p:txBody>
          <a:bodyPr vert="horz" wrap="square" lIns="0" tIns="12700" rIns="0" bIns="0" rtlCol="0">
            <a:spAutoFit/>
          </a:bodyPr>
          <a:lstStyle/>
          <a:p>
            <a:pPr marL="12700">
              <a:lnSpc>
                <a:spcPct val="100000"/>
              </a:lnSpc>
              <a:spcBef>
                <a:spcPts val="100"/>
              </a:spcBef>
            </a:pPr>
            <a:r>
              <a:rPr sz="4000" spc="-10" dirty="0">
                <a:solidFill>
                  <a:srgbClr val="191919"/>
                </a:solidFill>
                <a:latin typeface="Times New Roman" panose="02020603050405020304"/>
                <a:cs typeface="Times New Roman" panose="02020603050405020304"/>
              </a:rPr>
              <a:t>BLAST</a:t>
            </a:r>
            <a:r>
              <a:rPr sz="4000" spc="-140" dirty="0">
                <a:solidFill>
                  <a:srgbClr val="191919"/>
                </a:solidFill>
                <a:latin typeface="Times New Roman" panose="02020603050405020304"/>
                <a:cs typeface="Times New Roman" panose="02020603050405020304"/>
              </a:rPr>
              <a:t> </a:t>
            </a:r>
            <a:r>
              <a:rPr sz="4000" spc="-5" dirty="0">
                <a:solidFill>
                  <a:srgbClr val="191919"/>
                </a:solidFill>
                <a:latin typeface="Times New Roman" panose="02020603050405020304"/>
                <a:cs typeface="Times New Roman" panose="02020603050405020304"/>
              </a:rPr>
              <a:t>program</a:t>
            </a:r>
            <a:endParaRPr sz="4000">
              <a:latin typeface="Times New Roman" panose="02020603050405020304"/>
              <a:cs typeface="Times New Roman" panose="02020603050405020304"/>
            </a:endParaRPr>
          </a:p>
          <a:p>
            <a:pPr>
              <a:lnSpc>
                <a:spcPct val="100000"/>
              </a:lnSpc>
              <a:spcBef>
                <a:spcPts val="40"/>
              </a:spcBef>
            </a:pPr>
            <a:endParaRPr sz="6200">
              <a:latin typeface="Times New Roman" panose="02020603050405020304"/>
              <a:cs typeface="Times New Roman" panose="02020603050405020304"/>
            </a:endParaRPr>
          </a:p>
          <a:p>
            <a:pPr marL="317500">
              <a:lnSpc>
                <a:spcPct val="100000"/>
              </a:lnSpc>
            </a:pPr>
            <a:r>
              <a:rPr sz="4000" spc="-10" dirty="0">
                <a:solidFill>
                  <a:srgbClr val="191919"/>
                </a:solidFill>
                <a:latin typeface="Times New Roman" panose="02020603050405020304"/>
                <a:cs typeface="Times New Roman" panose="02020603050405020304"/>
              </a:rPr>
              <a:t>BLAST</a:t>
            </a:r>
            <a:endParaRPr sz="4000">
              <a:latin typeface="Times New Roman" panose="02020603050405020304"/>
              <a:cs typeface="Times New Roman" panose="02020603050405020304"/>
            </a:endParaRPr>
          </a:p>
          <a:p>
            <a:pPr marL="303530">
              <a:lnSpc>
                <a:spcPct val="100000"/>
              </a:lnSpc>
            </a:pPr>
            <a:r>
              <a:rPr sz="4000" spc="-5" dirty="0">
                <a:solidFill>
                  <a:srgbClr val="191919"/>
                </a:solidFill>
                <a:latin typeface="Times New Roman" panose="02020603050405020304"/>
                <a:cs typeface="Times New Roman" panose="02020603050405020304"/>
              </a:rPr>
              <a:t>database</a:t>
            </a:r>
            <a:endParaRPr sz="4000">
              <a:latin typeface="Times New Roman" panose="02020603050405020304"/>
              <a:cs typeface="Times New Roman" panose="02020603050405020304"/>
            </a:endParaRPr>
          </a:p>
        </p:txBody>
      </p:sp>
      <p:grpSp>
        <p:nvGrpSpPr>
          <p:cNvPr id="13" name="object 13"/>
          <p:cNvGrpSpPr/>
          <p:nvPr/>
        </p:nvGrpSpPr>
        <p:grpSpPr>
          <a:xfrm>
            <a:off x="2303779" y="4098290"/>
            <a:ext cx="74930" cy="476250"/>
            <a:chOff x="2303779" y="4098290"/>
            <a:chExt cx="74930" cy="476250"/>
          </a:xfrm>
        </p:grpSpPr>
        <p:sp>
          <p:nvSpPr>
            <p:cNvPr id="14" name="object 14"/>
            <p:cNvSpPr/>
            <p:nvPr/>
          </p:nvSpPr>
          <p:spPr>
            <a:xfrm>
              <a:off x="2341879" y="4169410"/>
              <a:ext cx="0" cy="405130"/>
            </a:xfrm>
            <a:custGeom>
              <a:avLst/>
              <a:gdLst/>
              <a:ahLst/>
              <a:cxnLst/>
              <a:rect l="l" t="t" r="r" b="b"/>
              <a:pathLst>
                <a:path h="405129">
                  <a:moveTo>
                    <a:pt x="0" y="405129"/>
                  </a:moveTo>
                  <a:lnTo>
                    <a:pt x="0" y="0"/>
                  </a:lnTo>
                </a:path>
              </a:pathLst>
            </a:custGeom>
            <a:ln w="8890">
              <a:solidFill>
                <a:srgbClr val="000000"/>
              </a:solidFill>
            </a:ln>
          </p:spPr>
          <p:txBody>
            <a:bodyPr wrap="square" lIns="0" tIns="0" rIns="0" bIns="0" rtlCol="0"/>
            <a:lstStyle/>
            <a:p>
              <a:endParaRPr/>
            </a:p>
          </p:txBody>
        </p:sp>
        <p:sp>
          <p:nvSpPr>
            <p:cNvPr id="15" name="object 15"/>
            <p:cNvSpPr/>
            <p:nvPr/>
          </p:nvSpPr>
          <p:spPr>
            <a:xfrm>
              <a:off x="2303779" y="4098290"/>
              <a:ext cx="74930" cy="74930"/>
            </a:xfrm>
            <a:custGeom>
              <a:avLst/>
              <a:gdLst/>
              <a:ahLst/>
              <a:cxnLst/>
              <a:rect l="l" t="t" r="r" b="b"/>
              <a:pathLst>
                <a:path w="74930" h="74929">
                  <a:moveTo>
                    <a:pt x="38100" y="0"/>
                  </a:moveTo>
                  <a:lnTo>
                    <a:pt x="0" y="74930"/>
                  </a:lnTo>
                  <a:lnTo>
                    <a:pt x="74930" y="74930"/>
                  </a:lnTo>
                  <a:lnTo>
                    <a:pt x="38100" y="0"/>
                  </a:lnTo>
                  <a:close/>
                </a:path>
              </a:pathLst>
            </a:custGeom>
            <a:solidFill>
              <a:srgbClr val="000000"/>
            </a:solidFill>
          </p:spPr>
          <p:txBody>
            <a:bodyPr wrap="square" lIns="0" tIns="0" rIns="0" bIns="0" rtlCol="0"/>
            <a:lstStyle/>
            <a:p>
              <a:endParaRPr/>
            </a:p>
          </p:txBody>
        </p:sp>
      </p:grpSp>
      <p:grpSp>
        <p:nvGrpSpPr>
          <p:cNvPr id="16" name="object 16"/>
          <p:cNvGrpSpPr/>
          <p:nvPr/>
        </p:nvGrpSpPr>
        <p:grpSpPr>
          <a:xfrm>
            <a:off x="5356859" y="3583940"/>
            <a:ext cx="793750" cy="76200"/>
            <a:chOff x="5356859" y="3583940"/>
            <a:chExt cx="793750" cy="76200"/>
          </a:xfrm>
        </p:grpSpPr>
        <p:sp>
          <p:nvSpPr>
            <p:cNvPr id="17" name="object 17"/>
            <p:cNvSpPr/>
            <p:nvPr/>
          </p:nvSpPr>
          <p:spPr>
            <a:xfrm>
              <a:off x="5356859" y="3622040"/>
              <a:ext cx="723900" cy="0"/>
            </a:xfrm>
            <a:custGeom>
              <a:avLst/>
              <a:gdLst/>
              <a:ahLst/>
              <a:cxnLst/>
              <a:rect l="l" t="t" r="r" b="b"/>
              <a:pathLst>
                <a:path w="723900">
                  <a:moveTo>
                    <a:pt x="0" y="0"/>
                  </a:moveTo>
                  <a:lnTo>
                    <a:pt x="723900" y="0"/>
                  </a:lnTo>
                </a:path>
              </a:pathLst>
            </a:custGeom>
            <a:ln w="8890">
              <a:solidFill>
                <a:srgbClr val="000000"/>
              </a:solidFill>
            </a:ln>
          </p:spPr>
          <p:txBody>
            <a:bodyPr wrap="square" lIns="0" tIns="0" rIns="0" bIns="0" rtlCol="0"/>
            <a:lstStyle/>
            <a:p>
              <a:endParaRPr/>
            </a:p>
          </p:txBody>
        </p:sp>
        <p:sp>
          <p:nvSpPr>
            <p:cNvPr id="18" name="object 18"/>
            <p:cNvSpPr/>
            <p:nvPr/>
          </p:nvSpPr>
          <p:spPr>
            <a:xfrm>
              <a:off x="6075679" y="3583940"/>
              <a:ext cx="74930" cy="76200"/>
            </a:xfrm>
            <a:custGeom>
              <a:avLst/>
              <a:gdLst/>
              <a:ahLst/>
              <a:cxnLst/>
              <a:rect l="l" t="t" r="r" b="b"/>
              <a:pathLst>
                <a:path w="74929" h="76200">
                  <a:moveTo>
                    <a:pt x="0" y="0"/>
                  </a:moveTo>
                  <a:lnTo>
                    <a:pt x="0" y="76200"/>
                  </a:lnTo>
                  <a:lnTo>
                    <a:pt x="74930" y="38100"/>
                  </a:lnTo>
                  <a:lnTo>
                    <a:pt x="0" y="0"/>
                  </a:lnTo>
                  <a:close/>
                </a:path>
              </a:pathLst>
            </a:custGeom>
            <a:solidFill>
              <a:srgbClr val="000000"/>
            </a:solidFill>
          </p:spPr>
          <p:txBody>
            <a:bodyPr wrap="square" lIns="0" tIns="0" rIns="0" bIns="0" rtlCol="0"/>
            <a:lstStyle/>
            <a:p>
              <a:endParaRPr/>
            </a:p>
          </p:txBody>
        </p:sp>
      </p:grpSp>
      <p:pic>
        <p:nvPicPr>
          <p:cNvPr id="19" name="object 19"/>
          <p:cNvPicPr/>
          <p:nvPr/>
        </p:nvPicPr>
        <p:blipFill>
          <a:blip r:embed="rId2" cstate="print"/>
          <a:stretch>
            <a:fillRect/>
          </a:stretch>
        </p:blipFill>
        <p:spPr>
          <a:xfrm>
            <a:off x="6220867" y="2818537"/>
            <a:ext cx="3675834" cy="2235654"/>
          </a:xfrm>
          <a:prstGeom prst="rect">
            <a:avLst/>
          </a:prstGeom>
        </p:spPr>
      </p:pic>
      <p:sp>
        <p:nvSpPr>
          <p:cNvPr id="20" name="object 20"/>
          <p:cNvSpPr txBox="1"/>
          <p:nvPr/>
        </p:nvSpPr>
        <p:spPr>
          <a:xfrm>
            <a:off x="6229350" y="1954529"/>
            <a:ext cx="3652520" cy="775970"/>
          </a:xfrm>
          <a:prstGeom prst="rect">
            <a:avLst/>
          </a:prstGeom>
          <a:ln w="9344">
            <a:solidFill>
              <a:srgbClr val="000000"/>
            </a:solidFill>
          </a:ln>
        </p:spPr>
        <p:txBody>
          <a:bodyPr vert="horz" wrap="square" lIns="0" tIns="46990" rIns="0" bIns="0" rtlCol="0">
            <a:spAutoFit/>
          </a:bodyPr>
          <a:lstStyle/>
          <a:p>
            <a:pPr marL="90170">
              <a:lnSpc>
                <a:spcPct val="100000"/>
              </a:lnSpc>
              <a:spcBef>
                <a:spcPts val="370"/>
              </a:spcBef>
            </a:pPr>
            <a:r>
              <a:rPr sz="4000" spc="-10" dirty="0">
                <a:solidFill>
                  <a:srgbClr val="191919"/>
                </a:solidFill>
                <a:latin typeface="Times New Roman" panose="02020603050405020304"/>
                <a:cs typeface="Times New Roman" panose="02020603050405020304"/>
              </a:rPr>
              <a:t>BLAST</a:t>
            </a:r>
            <a:r>
              <a:rPr sz="4000" spc="-114" dirty="0">
                <a:solidFill>
                  <a:srgbClr val="191919"/>
                </a:solidFill>
                <a:latin typeface="Times New Roman" panose="02020603050405020304"/>
                <a:cs typeface="Times New Roman" panose="02020603050405020304"/>
              </a:rPr>
              <a:t> </a:t>
            </a:r>
            <a:r>
              <a:rPr sz="4000" spc="-5" dirty="0">
                <a:solidFill>
                  <a:srgbClr val="191919"/>
                </a:solidFill>
                <a:latin typeface="Times New Roman" panose="02020603050405020304"/>
                <a:cs typeface="Times New Roman" panose="02020603050405020304"/>
              </a:rPr>
              <a:t>results</a:t>
            </a:r>
            <a:endParaRPr sz="4000">
              <a:latin typeface="Times New Roman" panose="02020603050405020304"/>
              <a:cs typeface="Times New Roman" panose="02020603050405020304"/>
            </a:endParaRP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21</a:t>
            </a:fld>
            <a:endParaRPr dirty="0"/>
          </a:p>
        </p:txBody>
      </p:sp>
      <p:sp>
        <p:nvSpPr>
          <p:cNvPr id="2" name="object 2"/>
          <p:cNvSpPr txBox="1">
            <a:spLocks noGrp="1"/>
          </p:cNvSpPr>
          <p:nvPr>
            <p:ph type="title"/>
          </p:nvPr>
        </p:nvSpPr>
        <p:spPr>
          <a:xfrm>
            <a:off x="772160" y="618490"/>
            <a:ext cx="8467725" cy="1366520"/>
          </a:xfrm>
          <a:prstGeom prst="rect">
            <a:avLst/>
          </a:prstGeom>
        </p:spPr>
        <p:txBody>
          <a:bodyPr vert="horz" wrap="square" lIns="0" tIns="12700" rIns="0" bIns="0" rtlCol="0">
            <a:spAutoFit/>
          </a:bodyPr>
          <a:lstStyle/>
          <a:p>
            <a:pPr marL="1779270" marR="5080" indent="-1492250">
              <a:lnSpc>
                <a:spcPct val="100000"/>
              </a:lnSpc>
              <a:spcBef>
                <a:spcPts val="100"/>
              </a:spcBef>
            </a:pPr>
            <a:r>
              <a:rPr sz="4400" b="1" spc="-5" dirty="0"/>
              <a:t>Considerations </a:t>
            </a:r>
            <a:r>
              <a:rPr sz="4400" b="1" dirty="0"/>
              <a:t>for </a:t>
            </a:r>
            <a:r>
              <a:rPr sz="4400" b="1" spc="-5" dirty="0"/>
              <a:t>choosing </a:t>
            </a:r>
            <a:r>
              <a:rPr sz="4400" b="1" dirty="0"/>
              <a:t>a </a:t>
            </a:r>
            <a:r>
              <a:rPr sz="4400" b="1" spc="-1210" dirty="0"/>
              <a:t> </a:t>
            </a:r>
            <a:r>
              <a:rPr sz="4400" b="1" spc="-5" dirty="0"/>
              <a:t>BLAST</a:t>
            </a:r>
            <a:r>
              <a:rPr sz="4400" b="1" spc="-95" dirty="0"/>
              <a:t> </a:t>
            </a:r>
            <a:r>
              <a:rPr sz="4400" b="1" spc="-5" dirty="0"/>
              <a:t>database</a:t>
            </a:r>
            <a:endParaRPr sz="4400" b="1"/>
          </a:p>
        </p:txBody>
      </p:sp>
      <p:sp>
        <p:nvSpPr>
          <p:cNvPr id="3" name="object 3"/>
          <p:cNvSpPr txBox="1"/>
          <p:nvPr/>
        </p:nvSpPr>
        <p:spPr>
          <a:xfrm>
            <a:off x="941069" y="2284729"/>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1264919" y="2169159"/>
            <a:ext cx="6833870" cy="51308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191919"/>
                </a:solidFill>
                <a:latin typeface="Arial" panose="020B0604020202020204"/>
                <a:cs typeface="Arial" panose="020B0604020202020204"/>
              </a:rPr>
              <a:t>First</a:t>
            </a:r>
            <a:r>
              <a:rPr sz="3200" spc="-1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consider</a:t>
            </a:r>
            <a:r>
              <a:rPr sz="3200" spc="-1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your</a:t>
            </a:r>
            <a:r>
              <a:rPr sz="3200" spc="-1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research</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question:</a:t>
            </a:r>
            <a:endParaRPr sz="3200">
              <a:latin typeface="Arial" panose="020B0604020202020204"/>
              <a:cs typeface="Arial" panose="020B0604020202020204"/>
            </a:endParaRPr>
          </a:p>
        </p:txBody>
      </p:sp>
      <p:sp>
        <p:nvSpPr>
          <p:cNvPr id="5" name="object 5"/>
          <p:cNvSpPr txBox="1"/>
          <p:nvPr/>
        </p:nvSpPr>
        <p:spPr>
          <a:xfrm>
            <a:off x="1372869" y="279018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6" name="object 6"/>
          <p:cNvSpPr txBox="1"/>
          <p:nvPr/>
        </p:nvSpPr>
        <p:spPr>
          <a:xfrm>
            <a:off x="1658620" y="2689859"/>
            <a:ext cx="6948170" cy="1982470"/>
          </a:xfrm>
          <a:prstGeom prst="rect">
            <a:avLst/>
          </a:prstGeom>
        </p:spPr>
        <p:txBody>
          <a:bodyPr vert="horz" wrap="square" lIns="0" tIns="60960" rIns="0" bIns="0" rtlCol="0">
            <a:spAutoFit/>
          </a:bodyPr>
          <a:lstStyle/>
          <a:p>
            <a:pPr marL="50800" marR="305435">
              <a:lnSpc>
                <a:spcPts val="3020"/>
              </a:lnSpc>
              <a:spcBef>
                <a:spcPts val="480"/>
              </a:spcBef>
            </a:pPr>
            <a:r>
              <a:rPr sz="2800" spc="-5" dirty="0">
                <a:solidFill>
                  <a:srgbClr val="191919"/>
                </a:solidFill>
                <a:latin typeface="Arial" panose="020B0604020202020204"/>
                <a:cs typeface="Arial" panose="020B0604020202020204"/>
              </a:rPr>
              <a:t>Are </a:t>
            </a:r>
            <a:r>
              <a:rPr sz="2800" dirty="0">
                <a:solidFill>
                  <a:srgbClr val="191919"/>
                </a:solidFill>
                <a:latin typeface="Arial" panose="020B0604020202020204"/>
                <a:cs typeface="Arial" panose="020B0604020202020204"/>
              </a:rPr>
              <a:t>you </a:t>
            </a:r>
            <a:r>
              <a:rPr sz="2800" spc="-5" dirty="0">
                <a:solidFill>
                  <a:srgbClr val="191919"/>
                </a:solidFill>
                <a:latin typeface="Arial" panose="020B0604020202020204"/>
                <a:cs typeface="Arial" panose="020B0604020202020204"/>
              </a:rPr>
              <a:t>looking for an particular gene in </a:t>
            </a:r>
            <a:r>
              <a:rPr sz="2800" dirty="0">
                <a:solidFill>
                  <a:srgbClr val="191919"/>
                </a:solidFill>
                <a:latin typeface="Arial" panose="020B0604020202020204"/>
                <a:cs typeface="Arial" panose="020B0604020202020204"/>
              </a:rPr>
              <a:t>a </a:t>
            </a:r>
            <a:r>
              <a:rPr sz="2800" spc="-76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particular</a:t>
            </a:r>
            <a:r>
              <a:rPr sz="2800" dirty="0">
                <a:solidFill>
                  <a:srgbClr val="191919"/>
                </a:solidFill>
                <a:latin typeface="Arial" panose="020B0604020202020204"/>
                <a:cs typeface="Arial" panose="020B0604020202020204"/>
              </a:rPr>
              <a:t> species?</a:t>
            </a:r>
            <a:endParaRPr sz="2800">
              <a:latin typeface="Arial" panose="020B0604020202020204"/>
              <a:cs typeface="Arial" panose="020B0604020202020204"/>
            </a:endParaRPr>
          </a:p>
          <a:p>
            <a:pPr marL="195580">
              <a:lnSpc>
                <a:spcPct val="100000"/>
              </a:lnSpc>
              <a:spcBef>
                <a:spcPts val="190"/>
              </a:spcBef>
              <a:tabLst>
                <a:tab pos="482600" algn="l"/>
              </a:tabLst>
            </a:pPr>
            <a:r>
              <a:rPr sz="2025" spc="112" baseline="12000" dirty="0">
                <a:solidFill>
                  <a:srgbClr val="191919"/>
                </a:solidFill>
                <a:latin typeface="Calibri"/>
                <a:cs typeface="Calibri"/>
              </a:rPr>
              <a:t>–	</a:t>
            </a:r>
            <a:r>
              <a:rPr sz="1800" spc="-10" dirty="0">
                <a:solidFill>
                  <a:srgbClr val="191919"/>
                </a:solidFill>
                <a:latin typeface="Arial" panose="020B0604020202020204"/>
                <a:cs typeface="Arial" panose="020B0604020202020204"/>
              </a:rPr>
              <a:t>BLAST</a:t>
            </a:r>
            <a:r>
              <a:rPr sz="1800" spc="-35"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against</a:t>
            </a:r>
            <a:r>
              <a:rPr sz="1800" spc="-5" dirty="0">
                <a:solidFill>
                  <a:srgbClr val="191919"/>
                </a:solidFill>
                <a:latin typeface="Arial" panose="020B0604020202020204"/>
                <a:cs typeface="Arial" panose="020B0604020202020204"/>
              </a:rPr>
              <a:t> the </a:t>
            </a:r>
            <a:r>
              <a:rPr sz="1800" spc="-10" dirty="0">
                <a:solidFill>
                  <a:srgbClr val="191919"/>
                </a:solidFill>
                <a:latin typeface="Arial" panose="020B0604020202020204"/>
                <a:cs typeface="Arial" panose="020B0604020202020204"/>
              </a:rPr>
              <a:t>genome</a:t>
            </a:r>
            <a:r>
              <a:rPr sz="1800" spc="-5"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of</a:t>
            </a:r>
            <a:r>
              <a:rPr sz="1800" spc="5"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that species.</a:t>
            </a:r>
            <a:endParaRPr sz="1800">
              <a:latin typeface="Arial" panose="020B0604020202020204"/>
              <a:cs typeface="Arial" panose="020B0604020202020204"/>
            </a:endParaRPr>
          </a:p>
          <a:p>
            <a:pPr marL="50800" marR="30480">
              <a:lnSpc>
                <a:spcPts val="3020"/>
              </a:lnSpc>
              <a:spcBef>
                <a:spcPts val="645"/>
              </a:spcBef>
            </a:pPr>
            <a:r>
              <a:rPr sz="2800" spc="-5" dirty="0">
                <a:solidFill>
                  <a:srgbClr val="191919"/>
                </a:solidFill>
                <a:latin typeface="Arial" panose="020B0604020202020204"/>
                <a:cs typeface="Arial" panose="020B0604020202020204"/>
              </a:rPr>
              <a:t>Are </a:t>
            </a:r>
            <a:r>
              <a:rPr sz="2800" dirty="0">
                <a:solidFill>
                  <a:srgbClr val="191919"/>
                </a:solidFill>
                <a:latin typeface="Arial" panose="020B0604020202020204"/>
                <a:cs typeface="Arial" panose="020B0604020202020204"/>
              </a:rPr>
              <a:t>you </a:t>
            </a:r>
            <a:r>
              <a:rPr sz="2800" spc="-5" dirty="0">
                <a:solidFill>
                  <a:srgbClr val="191919"/>
                </a:solidFill>
                <a:latin typeface="Arial" panose="020B0604020202020204"/>
                <a:cs typeface="Arial" panose="020B0604020202020204"/>
              </a:rPr>
              <a:t>looking for additional members of </a:t>
            </a:r>
            <a:r>
              <a:rPr sz="2800" dirty="0">
                <a:solidFill>
                  <a:srgbClr val="191919"/>
                </a:solidFill>
                <a:latin typeface="Arial" panose="020B0604020202020204"/>
                <a:cs typeface="Arial" panose="020B0604020202020204"/>
              </a:rPr>
              <a:t>a </a:t>
            </a:r>
            <a:r>
              <a:rPr sz="2800" spc="-76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protein</a:t>
            </a:r>
            <a:r>
              <a:rPr sz="2800" spc="-1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family</a:t>
            </a:r>
            <a:r>
              <a:rPr sz="2800" spc="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across</a:t>
            </a:r>
            <a:r>
              <a:rPr sz="2800" dirty="0">
                <a:solidFill>
                  <a:srgbClr val="191919"/>
                </a:solidFill>
                <a:latin typeface="Arial" panose="020B0604020202020204"/>
                <a:cs typeface="Arial" panose="020B0604020202020204"/>
              </a:rPr>
              <a:t> all</a:t>
            </a:r>
            <a:r>
              <a:rPr sz="2800" spc="-5" dirty="0">
                <a:solidFill>
                  <a:srgbClr val="191919"/>
                </a:solidFill>
                <a:latin typeface="Arial" panose="020B0604020202020204"/>
                <a:cs typeface="Arial" panose="020B0604020202020204"/>
              </a:rPr>
              <a:t> species?</a:t>
            </a:r>
            <a:endParaRPr sz="2800">
              <a:latin typeface="Arial" panose="020B0604020202020204"/>
              <a:cs typeface="Arial" panose="020B0604020202020204"/>
            </a:endParaRPr>
          </a:p>
        </p:txBody>
      </p:sp>
      <p:sp>
        <p:nvSpPr>
          <p:cNvPr id="7" name="object 7"/>
          <p:cNvSpPr txBox="1"/>
          <p:nvPr/>
        </p:nvSpPr>
        <p:spPr>
          <a:xfrm>
            <a:off x="1372869" y="393700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8" name="object 8"/>
          <p:cNvSpPr txBox="1"/>
          <p:nvPr/>
        </p:nvSpPr>
        <p:spPr>
          <a:xfrm>
            <a:off x="1841500" y="4692650"/>
            <a:ext cx="121285" cy="231140"/>
          </a:xfrm>
          <a:prstGeom prst="rect">
            <a:avLst/>
          </a:prstGeom>
        </p:spPr>
        <p:txBody>
          <a:bodyPr vert="horz" wrap="square" lIns="0" tIns="12700" rIns="0" bIns="0" rtlCol="0">
            <a:spAutoFit/>
          </a:bodyPr>
          <a:lstStyle/>
          <a:p>
            <a:pPr marL="12700">
              <a:lnSpc>
                <a:spcPct val="100000"/>
              </a:lnSpc>
              <a:spcBef>
                <a:spcPts val="100"/>
              </a:spcBef>
            </a:pPr>
            <a:r>
              <a:rPr sz="1350" spc="75" dirty="0">
                <a:solidFill>
                  <a:srgbClr val="191919"/>
                </a:solidFill>
                <a:latin typeface="Calibri"/>
                <a:cs typeface="Calibri"/>
              </a:rPr>
              <a:t>–</a:t>
            </a:r>
            <a:endParaRPr sz="1350">
              <a:latin typeface="Calibri"/>
              <a:cs typeface="Calibri"/>
            </a:endParaRPr>
          </a:p>
        </p:txBody>
      </p:sp>
      <p:sp>
        <p:nvSpPr>
          <p:cNvPr id="9" name="object 9"/>
          <p:cNvSpPr txBox="1"/>
          <p:nvPr/>
        </p:nvSpPr>
        <p:spPr>
          <a:xfrm>
            <a:off x="1696720" y="4676140"/>
            <a:ext cx="7261859" cy="1389380"/>
          </a:xfrm>
          <a:prstGeom prst="rect">
            <a:avLst/>
          </a:prstGeom>
        </p:spPr>
        <p:txBody>
          <a:bodyPr vert="horz" wrap="square" lIns="0" tIns="43815" rIns="0" bIns="0" rtlCol="0">
            <a:spAutoFit/>
          </a:bodyPr>
          <a:lstStyle/>
          <a:p>
            <a:pPr marL="445135" marR="5080">
              <a:lnSpc>
                <a:spcPts val="1940"/>
              </a:lnSpc>
              <a:spcBef>
                <a:spcPts val="345"/>
              </a:spcBef>
            </a:pPr>
            <a:r>
              <a:rPr sz="1800" spc="-10" dirty="0">
                <a:solidFill>
                  <a:srgbClr val="191919"/>
                </a:solidFill>
                <a:latin typeface="Arial" panose="020B0604020202020204"/>
                <a:cs typeface="Arial" panose="020B0604020202020204"/>
              </a:rPr>
              <a:t>BLAST</a:t>
            </a:r>
            <a:r>
              <a:rPr sz="1800" spc="-30"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against</a:t>
            </a:r>
            <a:r>
              <a:rPr sz="180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the</a:t>
            </a:r>
            <a:r>
              <a:rPr sz="1800"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non-redudant</a:t>
            </a:r>
            <a:r>
              <a:rPr sz="1800" spc="5"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database</a:t>
            </a:r>
            <a:r>
              <a:rPr sz="180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(nr),</a:t>
            </a:r>
            <a:r>
              <a:rPr sz="1800" spc="15"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if</a:t>
            </a:r>
            <a:r>
              <a:rPr sz="1800" spc="1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you</a:t>
            </a:r>
            <a:r>
              <a:rPr sz="180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can’t</a:t>
            </a:r>
            <a:r>
              <a:rPr sz="1800" spc="10"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find</a:t>
            </a:r>
            <a:r>
              <a:rPr sz="180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hits </a:t>
            </a:r>
            <a:r>
              <a:rPr sz="1800" spc="-484"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check</a:t>
            </a:r>
            <a:r>
              <a:rPr sz="1800" spc="-10" dirty="0">
                <a:solidFill>
                  <a:srgbClr val="191919"/>
                </a:solidFill>
                <a:latin typeface="Arial" panose="020B0604020202020204"/>
                <a:cs typeface="Arial" panose="020B0604020202020204"/>
              </a:rPr>
              <a:t> wgs,</a:t>
            </a:r>
            <a:r>
              <a:rPr sz="1800" spc="5"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htgs,</a:t>
            </a:r>
            <a:r>
              <a:rPr sz="1800" spc="5"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and</a:t>
            </a:r>
            <a:r>
              <a:rPr sz="1800" spc="-5" dirty="0">
                <a:solidFill>
                  <a:srgbClr val="191919"/>
                </a:solidFill>
                <a:latin typeface="Arial" panose="020B0604020202020204"/>
                <a:cs typeface="Arial" panose="020B0604020202020204"/>
              </a:rPr>
              <a:t> the trace </a:t>
            </a:r>
            <a:r>
              <a:rPr sz="1800" spc="-10" dirty="0">
                <a:solidFill>
                  <a:srgbClr val="191919"/>
                </a:solidFill>
                <a:latin typeface="Arial" panose="020B0604020202020204"/>
                <a:cs typeface="Arial" panose="020B0604020202020204"/>
              </a:rPr>
              <a:t>archives.</a:t>
            </a:r>
            <a:endParaRPr sz="1800">
              <a:latin typeface="Arial" panose="020B0604020202020204"/>
              <a:cs typeface="Arial" panose="020B0604020202020204"/>
            </a:endParaRPr>
          </a:p>
          <a:p>
            <a:pPr marL="12700" marR="676275">
              <a:lnSpc>
                <a:spcPts val="3020"/>
              </a:lnSpc>
              <a:spcBef>
                <a:spcPts val="620"/>
              </a:spcBef>
            </a:pPr>
            <a:r>
              <a:rPr sz="2800" spc="-5" dirty="0">
                <a:solidFill>
                  <a:srgbClr val="191919"/>
                </a:solidFill>
                <a:latin typeface="Arial" panose="020B0604020202020204"/>
                <a:cs typeface="Arial" panose="020B0604020202020204"/>
              </a:rPr>
              <a:t>Are </a:t>
            </a:r>
            <a:r>
              <a:rPr sz="2800" dirty="0">
                <a:solidFill>
                  <a:srgbClr val="191919"/>
                </a:solidFill>
                <a:latin typeface="Arial" panose="020B0604020202020204"/>
                <a:cs typeface="Arial" panose="020B0604020202020204"/>
              </a:rPr>
              <a:t>you </a:t>
            </a:r>
            <a:r>
              <a:rPr sz="2800" spc="-5" dirty="0">
                <a:solidFill>
                  <a:srgbClr val="191919"/>
                </a:solidFill>
                <a:latin typeface="Arial" panose="020B0604020202020204"/>
                <a:cs typeface="Arial" panose="020B0604020202020204"/>
              </a:rPr>
              <a:t>looking </a:t>
            </a:r>
            <a:r>
              <a:rPr sz="2800" dirty="0">
                <a:solidFill>
                  <a:srgbClr val="191919"/>
                </a:solidFill>
                <a:latin typeface="Arial" panose="020B0604020202020204"/>
                <a:cs typeface="Arial" panose="020B0604020202020204"/>
              </a:rPr>
              <a:t>to </a:t>
            </a:r>
            <a:r>
              <a:rPr sz="2800" spc="-5" dirty="0">
                <a:solidFill>
                  <a:srgbClr val="191919"/>
                </a:solidFill>
                <a:latin typeface="Arial" panose="020B0604020202020204"/>
                <a:cs typeface="Arial" panose="020B0604020202020204"/>
              </a:rPr>
              <a:t>annotate genes in </a:t>
            </a:r>
            <a:r>
              <a:rPr sz="2800" dirty="0">
                <a:solidFill>
                  <a:srgbClr val="191919"/>
                </a:solidFill>
                <a:latin typeface="Arial" panose="020B0604020202020204"/>
                <a:cs typeface="Arial" panose="020B0604020202020204"/>
              </a:rPr>
              <a:t>your </a:t>
            </a:r>
            <a:r>
              <a:rPr sz="2800" spc="-765"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species</a:t>
            </a:r>
            <a:r>
              <a:rPr sz="2800" spc="-1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of</a:t>
            </a:r>
            <a:r>
              <a:rPr sz="2800" dirty="0">
                <a:solidFill>
                  <a:srgbClr val="191919"/>
                </a:solidFill>
                <a:latin typeface="Arial" panose="020B0604020202020204"/>
                <a:cs typeface="Arial" panose="020B0604020202020204"/>
              </a:rPr>
              <a:t> </a:t>
            </a:r>
            <a:r>
              <a:rPr sz="2800" spc="-5" dirty="0">
                <a:solidFill>
                  <a:srgbClr val="191919"/>
                </a:solidFill>
                <a:latin typeface="Arial" panose="020B0604020202020204"/>
                <a:cs typeface="Arial" panose="020B0604020202020204"/>
              </a:rPr>
              <a:t>interest?</a:t>
            </a:r>
            <a:endParaRPr sz="2800">
              <a:latin typeface="Arial" panose="020B0604020202020204"/>
              <a:cs typeface="Arial" panose="020B0604020202020204"/>
            </a:endParaRPr>
          </a:p>
        </p:txBody>
      </p:sp>
      <p:sp>
        <p:nvSpPr>
          <p:cNvPr id="10" name="object 10"/>
          <p:cNvSpPr txBox="1"/>
          <p:nvPr/>
        </p:nvSpPr>
        <p:spPr>
          <a:xfrm>
            <a:off x="1372869" y="533145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solidFill>
                  <a:srgbClr val="191919"/>
                </a:solidFill>
                <a:latin typeface="Calibri"/>
                <a:cs typeface="Calibri"/>
              </a:rPr>
              <a:t>●</a:t>
            </a:r>
            <a:endParaRPr sz="1250">
              <a:latin typeface="Calibri"/>
              <a:cs typeface="Calibri"/>
            </a:endParaRPr>
          </a:p>
        </p:txBody>
      </p:sp>
      <p:sp>
        <p:nvSpPr>
          <p:cNvPr id="11" name="object 11"/>
          <p:cNvSpPr txBox="1"/>
          <p:nvPr/>
        </p:nvSpPr>
        <p:spPr>
          <a:xfrm>
            <a:off x="1841500" y="6069329"/>
            <a:ext cx="6990080" cy="546100"/>
          </a:xfrm>
          <a:prstGeom prst="rect">
            <a:avLst/>
          </a:prstGeom>
        </p:spPr>
        <p:txBody>
          <a:bodyPr vert="horz" wrap="square" lIns="0" tIns="43815" rIns="0" bIns="0" rtlCol="0">
            <a:spAutoFit/>
          </a:bodyPr>
          <a:lstStyle/>
          <a:p>
            <a:pPr marL="300355" marR="5080" indent="-288290">
              <a:lnSpc>
                <a:spcPts val="1940"/>
              </a:lnSpc>
              <a:spcBef>
                <a:spcPts val="345"/>
              </a:spcBef>
              <a:tabLst>
                <a:tab pos="300355" algn="l"/>
              </a:tabLst>
            </a:pPr>
            <a:r>
              <a:rPr sz="2025" spc="112" baseline="12000" dirty="0">
                <a:solidFill>
                  <a:srgbClr val="191919"/>
                </a:solidFill>
                <a:latin typeface="Calibri"/>
                <a:cs typeface="Calibri"/>
              </a:rPr>
              <a:t>–	</a:t>
            </a:r>
            <a:r>
              <a:rPr sz="1800" spc="-10" dirty="0">
                <a:solidFill>
                  <a:srgbClr val="191919"/>
                </a:solidFill>
                <a:latin typeface="Arial" panose="020B0604020202020204"/>
                <a:cs typeface="Arial" panose="020B0604020202020204"/>
              </a:rPr>
              <a:t>BLAST</a:t>
            </a:r>
            <a:r>
              <a:rPr sz="1800" spc="-35"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against</a:t>
            </a:r>
            <a:r>
              <a:rPr sz="1800" spc="-5" dirty="0">
                <a:solidFill>
                  <a:srgbClr val="191919"/>
                </a:solidFill>
                <a:latin typeface="Arial" panose="020B0604020202020204"/>
                <a:cs typeface="Arial" panose="020B0604020202020204"/>
              </a:rPr>
              <a:t> known</a:t>
            </a:r>
            <a:r>
              <a:rPr sz="1800"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genes</a:t>
            </a:r>
            <a:r>
              <a:rPr sz="1800" spc="5"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(RefSeq)</a:t>
            </a:r>
            <a:r>
              <a:rPr sz="1800"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and/or</a:t>
            </a:r>
            <a:r>
              <a:rPr sz="1800" spc="-5" dirty="0">
                <a:solidFill>
                  <a:srgbClr val="191919"/>
                </a:solidFill>
                <a:latin typeface="Arial" panose="020B0604020202020204"/>
                <a:cs typeface="Arial" panose="020B0604020202020204"/>
              </a:rPr>
              <a:t> </a:t>
            </a:r>
            <a:r>
              <a:rPr sz="1800" spc="-55" dirty="0">
                <a:solidFill>
                  <a:srgbClr val="191919"/>
                </a:solidFill>
                <a:latin typeface="Arial" panose="020B0604020202020204"/>
                <a:cs typeface="Arial" panose="020B0604020202020204"/>
              </a:rPr>
              <a:t>ESTs</a:t>
            </a:r>
            <a:r>
              <a:rPr sz="1800" spc="10" dirty="0">
                <a:solidFill>
                  <a:srgbClr val="191919"/>
                </a:solidFill>
                <a:latin typeface="Arial" panose="020B0604020202020204"/>
                <a:cs typeface="Arial" panose="020B0604020202020204"/>
              </a:rPr>
              <a:t> </a:t>
            </a:r>
            <a:r>
              <a:rPr sz="1800" spc="-5" dirty="0">
                <a:solidFill>
                  <a:srgbClr val="191919"/>
                </a:solidFill>
                <a:latin typeface="Arial" panose="020B0604020202020204"/>
                <a:cs typeface="Arial" panose="020B0604020202020204"/>
              </a:rPr>
              <a:t>from </a:t>
            </a:r>
            <a:r>
              <a:rPr sz="1800" dirty="0">
                <a:solidFill>
                  <a:srgbClr val="191919"/>
                </a:solidFill>
                <a:latin typeface="Arial" panose="020B0604020202020204"/>
                <a:cs typeface="Arial" panose="020B0604020202020204"/>
              </a:rPr>
              <a:t>a</a:t>
            </a:r>
            <a:r>
              <a:rPr sz="1800" spc="-5" dirty="0">
                <a:solidFill>
                  <a:srgbClr val="191919"/>
                </a:solidFill>
                <a:latin typeface="Arial" panose="020B0604020202020204"/>
                <a:cs typeface="Arial" panose="020B0604020202020204"/>
              </a:rPr>
              <a:t> closely </a:t>
            </a:r>
            <a:r>
              <a:rPr sz="1800" spc="-484" dirty="0">
                <a:solidFill>
                  <a:srgbClr val="191919"/>
                </a:solidFill>
                <a:latin typeface="Arial" panose="020B0604020202020204"/>
                <a:cs typeface="Arial" panose="020B0604020202020204"/>
              </a:rPr>
              <a:t> </a:t>
            </a:r>
            <a:r>
              <a:rPr sz="1800" spc="-10" dirty="0">
                <a:solidFill>
                  <a:srgbClr val="191919"/>
                </a:solidFill>
                <a:latin typeface="Arial" panose="020B0604020202020204"/>
                <a:cs typeface="Arial" panose="020B0604020202020204"/>
              </a:rPr>
              <a:t>related </a:t>
            </a:r>
            <a:r>
              <a:rPr sz="1800" spc="-5" dirty="0">
                <a:solidFill>
                  <a:srgbClr val="191919"/>
                </a:solidFill>
                <a:latin typeface="Arial" panose="020B0604020202020204"/>
                <a:cs typeface="Arial" panose="020B0604020202020204"/>
              </a:rPr>
              <a:t>species.</a:t>
            </a:r>
            <a:endParaRPr sz="1800">
              <a:latin typeface="Arial" panose="020B0604020202020204"/>
              <a:cs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22</a:t>
            </a:fld>
            <a:endParaRPr dirty="0"/>
          </a:p>
        </p:txBody>
      </p:sp>
      <p:sp>
        <p:nvSpPr>
          <p:cNvPr id="2" name="object 2"/>
          <p:cNvSpPr txBox="1">
            <a:spLocks noGrp="1"/>
          </p:cNvSpPr>
          <p:nvPr>
            <p:ph type="title"/>
          </p:nvPr>
        </p:nvSpPr>
        <p:spPr>
          <a:xfrm>
            <a:off x="770684" y="561099"/>
            <a:ext cx="8416411" cy="566822"/>
          </a:xfrm>
          <a:prstGeom prst="rect">
            <a:avLst/>
          </a:prstGeom>
        </p:spPr>
        <p:txBody>
          <a:bodyPr vert="horz" wrap="square" lIns="0" tIns="12700" rIns="0" bIns="0" rtlCol="0">
            <a:spAutoFit/>
          </a:bodyPr>
          <a:lstStyle/>
          <a:p>
            <a:pPr marL="193675">
              <a:lnSpc>
                <a:spcPct val="100000"/>
              </a:lnSpc>
              <a:spcBef>
                <a:spcPts val="100"/>
              </a:spcBef>
              <a:tabLst>
                <a:tab pos="4664075" algn="l"/>
              </a:tabLst>
            </a:pPr>
            <a:r>
              <a:rPr sz="3600" spc="-10" dirty="0"/>
              <a:t>When </a:t>
            </a:r>
            <a:r>
              <a:rPr sz="3600" spc="-5" dirty="0"/>
              <a:t>choosing</a:t>
            </a:r>
            <a:r>
              <a:rPr sz="3600" spc="10" dirty="0"/>
              <a:t> </a:t>
            </a:r>
            <a:r>
              <a:rPr sz="3600" dirty="0"/>
              <a:t>a</a:t>
            </a:r>
            <a:r>
              <a:rPr lang="en-GB" sz="3600" dirty="0"/>
              <a:t> </a:t>
            </a:r>
            <a:r>
              <a:rPr sz="3600" spc="-5" dirty="0"/>
              <a:t>database</a:t>
            </a:r>
            <a:r>
              <a:rPr sz="3600" spc="-95" dirty="0"/>
              <a:t> </a:t>
            </a:r>
            <a:r>
              <a:rPr sz="3600" spc="-10" dirty="0"/>
              <a:t>for</a:t>
            </a:r>
            <a:r>
              <a:rPr lang="en-GB" sz="3600" dirty="0"/>
              <a:t> </a:t>
            </a:r>
            <a:r>
              <a:rPr sz="3600" spc="-5" dirty="0"/>
              <a:t>BLAST…</a:t>
            </a:r>
            <a:endParaRPr sz="3600" dirty="0"/>
          </a:p>
        </p:txBody>
      </p:sp>
      <p:sp>
        <p:nvSpPr>
          <p:cNvPr id="3" name="object 3"/>
          <p:cNvSpPr txBox="1"/>
          <p:nvPr/>
        </p:nvSpPr>
        <p:spPr>
          <a:xfrm>
            <a:off x="941069" y="248539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p:nvPr/>
        </p:nvSpPr>
        <p:spPr>
          <a:xfrm>
            <a:off x="1264920" y="2369820"/>
            <a:ext cx="7667625" cy="997585"/>
          </a:xfrm>
          <a:prstGeom prst="rect">
            <a:avLst/>
          </a:prstGeom>
        </p:spPr>
        <p:txBody>
          <a:bodyPr vert="horz" wrap="square" lIns="0" tIns="12700" rIns="0" bIns="0" rtlCol="0">
            <a:spAutoFit/>
          </a:bodyPr>
          <a:lstStyle/>
          <a:p>
            <a:pPr marL="12700" marR="5080" algn="just">
              <a:lnSpc>
                <a:spcPct val="100000"/>
              </a:lnSpc>
              <a:spcBef>
                <a:spcPts val="100"/>
              </a:spcBef>
            </a:pPr>
            <a:r>
              <a:rPr sz="3200" dirty="0">
                <a:solidFill>
                  <a:srgbClr val="191919"/>
                </a:solidFill>
                <a:latin typeface="Arial" panose="020B0604020202020204"/>
                <a:cs typeface="Arial" panose="020B0604020202020204"/>
              </a:rPr>
              <a:t>Changing</a:t>
            </a:r>
            <a:r>
              <a:rPr sz="3200" spc="-1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your</a:t>
            </a:r>
            <a:r>
              <a:rPr sz="3200" spc="-2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choice</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of</a:t>
            </a:r>
            <a:r>
              <a:rPr sz="3200" spc="-2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database</a:t>
            </a:r>
            <a:r>
              <a:rPr sz="3200" spc="-1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is </a:t>
            </a:r>
            <a:r>
              <a:rPr sz="3200" spc="-87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changing</a:t>
            </a:r>
            <a:r>
              <a:rPr sz="3200" spc="-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your</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search</a:t>
            </a:r>
            <a:r>
              <a:rPr sz="3200" spc="-5"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space</a:t>
            </a:r>
            <a:endParaRPr sz="3200">
              <a:latin typeface="Arial" panose="020B0604020202020204"/>
              <a:cs typeface="Arial" panose="020B0604020202020204"/>
            </a:endParaRPr>
          </a:p>
        </p:txBody>
      </p:sp>
      <p:sp>
        <p:nvSpPr>
          <p:cNvPr id="5" name="object 5"/>
          <p:cNvSpPr txBox="1"/>
          <p:nvPr/>
        </p:nvSpPr>
        <p:spPr>
          <a:xfrm>
            <a:off x="941069" y="412750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6" name="object 6"/>
          <p:cNvSpPr txBox="1"/>
          <p:nvPr/>
        </p:nvSpPr>
        <p:spPr>
          <a:xfrm>
            <a:off x="1264919" y="4013200"/>
            <a:ext cx="7651115"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191919"/>
                </a:solidFill>
                <a:latin typeface="Arial" panose="020B0604020202020204"/>
                <a:cs typeface="Arial" panose="020B0604020202020204"/>
              </a:rPr>
              <a:t>Database</a:t>
            </a:r>
            <a:r>
              <a:rPr sz="3200" spc="-10" dirty="0">
                <a:solidFill>
                  <a:srgbClr val="191919"/>
                </a:solidFill>
                <a:latin typeface="Arial" panose="020B0604020202020204"/>
                <a:cs typeface="Arial" panose="020B0604020202020204"/>
              </a:rPr>
              <a:t> </a:t>
            </a:r>
            <a:r>
              <a:rPr sz="3200" dirty="0">
                <a:solidFill>
                  <a:srgbClr val="191919"/>
                </a:solidFill>
                <a:latin typeface="Arial" panose="020B0604020202020204"/>
                <a:cs typeface="Arial" panose="020B0604020202020204"/>
              </a:rPr>
              <a:t>size</a:t>
            </a:r>
            <a:r>
              <a:rPr sz="3200" spc="-5" dirty="0">
                <a:solidFill>
                  <a:srgbClr val="191919"/>
                </a:solidFill>
                <a:latin typeface="Arial" panose="020B0604020202020204"/>
                <a:cs typeface="Arial" panose="020B0604020202020204"/>
              </a:rPr>
              <a:t> </a:t>
            </a:r>
            <a:r>
              <a:rPr sz="3200" spc="-10" dirty="0">
                <a:solidFill>
                  <a:srgbClr val="191919"/>
                </a:solidFill>
                <a:latin typeface="Arial" panose="020B0604020202020204"/>
                <a:cs typeface="Arial" panose="020B0604020202020204"/>
              </a:rPr>
              <a:t>affects</a:t>
            </a:r>
            <a:r>
              <a:rPr sz="3200" spc="-5" dirty="0">
                <a:solidFill>
                  <a:srgbClr val="191919"/>
                </a:solidFill>
                <a:latin typeface="Arial" panose="020B0604020202020204"/>
                <a:cs typeface="Arial" panose="020B0604020202020204"/>
              </a:rPr>
              <a:t> the</a:t>
            </a:r>
            <a:r>
              <a:rPr sz="320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BLAST</a:t>
            </a:r>
            <a:r>
              <a:rPr sz="3200" spc="-60"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statistics</a:t>
            </a:r>
            <a:endParaRPr sz="3200">
              <a:latin typeface="Arial" panose="020B0604020202020204"/>
              <a:cs typeface="Arial" panose="020B0604020202020204"/>
            </a:endParaRPr>
          </a:p>
        </p:txBody>
      </p:sp>
      <p:sp>
        <p:nvSpPr>
          <p:cNvPr id="7" name="object 7"/>
          <p:cNvSpPr txBox="1"/>
          <p:nvPr/>
        </p:nvSpPr>
        <p:spPr>
          <a:xfrm>
            <a:off x="941069" y="506984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8" name="object 8"/>
          <p:cNvSpPr txBox="1"/>
          <p:nvPr/>
        </p:nvSpPr>
        <p:spPr>
          <a:xfrm>
            <a:off x="1264919" y="4954270"/>
            <a:ext cx="7809230" cy="1000760"/>
          </a:xfrm>
          <a:prstGeom prst="rect">
            <a:avLst/>
          </a:prstGeom>
        </p:spPr>
        <p:txBody>
          <a:bodyPr vert="horz" wrap="square" lIns="0" tIns="12700" rIns="0" bIns="0" rtlCol="0">
            <a:spAutoFit/>
          </a:bodyPr>
          <a:lstStyle/>
          <a:p>
            <a:pPr marL="12700" marR="5080">
              <a:lnSpc>
                <a:spcPct val="100000"/>
              </a:lnSpc>
              <a:spcBef>
                <a:spcPts val="100"/>
              </a:spcBef>
            </a:pPr>
            <a:r>
              <a:rPr sz="3200" dirty="0">
                <a:solidFill>
                  <a:srgbClr val="191919"/>
                </a:solidFill>
                <a:latin typeface="Arial" panose="020B0604020202020204"/>
                <a:cs typeface="Arial" panose="020B0604020202020204"/>
              </a:rPr>
              <a:t>Databases change </a:t>
            </a:r>
            <a:r>
              <a:rPr sz="3200" spc="-5" dirty="0">
                <a:solidFill>
                  <a:srgbClr val="191919"/>
                </a:solidFill>
                <a:latin typeface="Arial" panose="020B0604020202020204"/>
                <a:cs typeface="Arial" panose="020B0604020202020204"/>
              </a:rPr>
              <a:t>rapidly </a:t>
            </a:r>
            <a:r>
              <a:rPr sz="3200" dirty="0">
                <a:solidFill>
                  <a:srgbClr val="191919"/>
                </a:solidFill>
                <a:latin typeface="Arial" panose="020B0604020202020204"/>
                <a:cs typeface="Arial" panose="020B0604020202020204"/>
              </a:rPr>
              <a:t>and are </a:t>
            </a:r>
            <a:r>
              <a:rPr sz="3200" spc="-5" dirty="0">
                <a:solidFill>
                  <a:srgbClr val="191919"/>
                </a:solidFill>
                <a:latin typeface="Arial" panose="020B0604020202020204"/>
                <a:cs typeface="Arial" panose="020B0604020202020204"/>
              </a:rPr>
              <a:t>updated </a:t>
            </a:r>
            <a:r>
              <a:rPr sz="3200" spc="-875" dirty="0">
                <a:solidFill>
                  <a:srgbClr val="191919"/>
                </a:solidFill>
                <a:latin typeface="Arial" panose="020B0604020202020204"/>
                <a:cs typeface="Arial" panose="020B0604020202020204"/>
              </a:rPr>
              <a:t> </a:t>
            </a:r>
            <a:r>
              <a:rPr sz="3200" spc="-5" dirty="0">
                <a:solidFill>
                  <a:srgbClr val="191919"/>
                </a:solidFill>
                <a:latin typeface="Arial" panose="020B0604020202020204"/>
                <a:cs typeface="Arial" panose="020B0604020202020204"/>
              </a:rPr>
              <a:t>frequently</a:t>
            </a:r>
            <a:endParaRPr sz="3200">
              <a:latin typeface="Arial" panose="020B0604020202020204"/>
              <a:cs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Shape 1"/>
          <p:cNvSpPr txBox="1"/>
          <p:nvPr/>
        </p:nvSpPr>
        <p:spPr>
          <a:xfrm>
            <a:off x="1030680" y="479320"/>
            <a:ext cx="3881880" cy="1274040"/>
          </a:xfrm>
          <a:prstGeom prst="rect">
            <a:avLst/>
          </a:prstGeom>
          <a:noFill/>
          <a:ln>
            <a:noFill/>
          </a:ln>
        </p:spPr>
        <p:txBody>
          <a:bodyPr lIns="0" tIns="12240" rIns="0" bIns="0"/>
          <a:lstStyle/>
          <a:p>
            <a:pPr marL="12700">
              <a:lnSpc>
                <a:spcPct val="100000"/>
              </a:lnSpc>
              <a:spcBef>
                <a:spcPts val="100"/>
              </a:spcBef>
            </a:pPr>
            <a:r>
              <a:rPr lang="en-AU" sz="2340" b="1" strike="noStrike" spc="-1" dirty="0">
                <a:solidFill>
                  <a:srgbClr val="191919"/>
                </a:solidFill>
                <a:latin typeface="Calibri" panose="020F0502020204030204" pitchFamily="34" charset="0"/>
              </a:rPr>
              <a:t>Importance</a:t>
            </a:r>
            <a:r>
              <a:rPr lang="en-AU" sz="2340" b="1" strike="noStrike" spc="-43" dirty="0">
                <a:solidFill>
                  <a:srgbClr val="191919"/>
                </a:solidFill>
                <a:latin typeface="Calibri" panose="020F0502020204030204" pitchFamily="34" charset="0"/>
              </a:rPr>
              <a:t> </a:t>
            </a:r>
            <a:r>
              <a:rPr lang="en-AU" sz="2340" b="1" strike="noStrike" spc="-4" dirty="0">
                <a:solidFill>
                  <a:srgbClr val="191919"/>
                </a:solidFill>
                <a:latin typeface="Calibri" panose="020F0502020204030204" pitchFamily="34" charset="0"/>
              </a:rPr>
              <a:t>of</a:t>
            </a:r>
            <a:r>
              <a:rPr lang="en-AU" sz="2340" b="1" strike="noStrike" spc="-49" dirty="0">
                <a:solidFill>
                  <a:srgbClr val="191919"/>
                </a:solidFill>
                <a:latin typeface="Calibri" panose="020F0502020204030204" pitchFamily="34" charset="0"/>
              </a:rPr>
              <a:t> </a:t>
            </a:r>
            <a:r>
              <a:rPr lang="en-AU" sz="2340" b="1" strike="noStrike" spc="-1" dirty="0">
                <a:solidFill>
                  <a:srgbClr val="191919"/>
                </a:solidFill>
                <a:latin typeface="Calibri" panose="020F0502020204030204" pitchFamily="34" charset="0"/>
              </a:rPr>
              <a:t>Similarity</a:t>
            </a:r>
            <a:endParaRPr lang="en-AU" sz="2340" b="0" strike="noStrike" spc="-1" dirty="0">
              <a:solidFill>
                <a:srgbClr val="000000"/>
              </a:solidFill>
              <a:latin typeface="Calibri"/>
            </a:endParaRPr>
          </a:p>
        </p:txBody>
      </p:sp>
      <p:sp>
        <p:nvSpPr>
          <p:cNvPr id="195" name="CustomShape 2"/>
          <p:cNvSpPr/>
          <p:nvPr/>
        </p:nvSpPr>
        <p:spPr>
          <a:xfrm>
            <a:off x="981360" y="3212716"/>
            <a:ext cx="7840080" cy="2560680"/>
          </a:xfrm>
          <a:prstGeom prst="rect">
            <a:avLst/>
          </a:prstGeom>
          <a:noFill/>
          <a:ln>
            <a:noFill/>
          </a:ln>
        </p:spPr>
        <p:style>
          <a:lnRef idx="0">
            <a:srgbClr val="FFFFFF"/>
          </a:lnRef>
          <a:fillRef idx="0">
            <a:srgbClr val="FFFFFF"/>
          </a:fillRef>
          <a:effectRef idx="0">
            <a:srgbClr val="FFFFFF"/>
          </a:effectRef>
          <a:fontRef idx="minor"/>
        </p:style>
        <p:txBody>
          <a:bodyPr lIns="0" tIns="12240" rIns="0" bIns="0"/>
          <a:lstStyle/>
          <a:p>
            <a:pPr marL="78105" indent="-65405">
              <a:lnSpc>
                <a:spcPct val="100000"/>
              </a:lnSpc>
              <a:spcBef>
                <a:spcPts val="100"/>
              </a:spcBef>
            </a:pPr>
            <a:r>
              <a:rPr lang="en-AU" sz="1750" b="0" strike="noStrike" spc="-97" dirty="0">
                <a:solidFill>
                  <a:srgbClr val="3333CC"/>
                </a:solidFill>
                <a:latin typeface="Calibri" panose="020F0502020204030204" pitchFamily="34" charset="0"/>
              </a:rPr>
              <a:t>Twilight</a:t>
            </a:r>
            <a:r>
              <a:rPr lang="en-AU" sz="1750" b="0" strike="noStrike" spc="-9" dirty="0">
                <a:solidFill>
                  <a:srgbClr val="3333CC"/>
                </a:solidFill>
                <a:latin typeface="Calibri" panose="020F0502020204030204" pitchFamily="34" charset="0"/>
              </a:rPr>
              <a:t> </a:t>
            </a:r>
            <a:r>
              <a:rPr lang="en-AU" sz="1750" b="0" strike="noStrike" spc="-69" dirty="0">
                <a:solidFill>
                  <a:srgbClr val="3333CC"/>
                </a:solidFill>
                <a:latin typeface="Calibri" panose="020F0502020204030204" pitchFamily="34" charset="0"/>
              </a:rPr>
              <a:t>zone</a:t>
            </a:r>
            <a:r>
              <a:rPr lang="en-AU" sz="1750" b="0" strike="noStrike" spc="-4" dirty="0">
                <a:solidFill>
                  <a:srgbClr val="3333CC"/>
                </a:solidFill>
                <a:latin typeface="Calibri" panose="020F0502020204030204" pitchFamily="34" charset="0"/>
              </a:rPr>
              <a:t> </a:t>
            </a:r>
            <a:r>
              <a:rPr lang="en-AU" sz="1750" b="0" strike="noStrike" spc="-1" dirty="0">
                <a:solidFill>
                  <a:srgbClr val="000000"/>
                </a:solidFill>
                <a:latin typeface="Calibri" panose="020F0502020204030204" pitchFamily="34" charset="0"/>
              </a:rPr>
              <a:t>=</a:t>
            </a:r>
            <a:r>
              <a:rPr lang="en-AU" sz="1750" b="0" strike="noStrike" spc="-9" dirty="0">
                <a:solidFill>
                  <a:srgbClr val="000000"/>
                </a:solidFill>
                <a:latin typeface="Calibri" panose="020F0502020204030204" pitchFamily="34" charset="0"/>
              </a:rPr>
              <a:t> </a:t>
            </a:r>
            <a:r>
              <a:rPr lang="en-AU" sz="1750" b="0" strike="noStrike" spc="-72" dirty="0">
                <a:solidFill>
                  <a:srgbClr val="000000"/>
                </a:solidFill>
                <a:latin typeface="Calibri" panose="020F0502020204030204" pitchFamily="34" charset="0"/>
              </a:rPr>
              <a:t>protein</a:t>
            </a:r>
            <a:r>
              <a:rPr lang="en-AU" sz="1750" b="0" strike="noStrike" spc="-9" dirty="0">
                <a:solidFill>
                  <a:srgbClr val="000000"/>
                </a:solidFill>
                <a:latin typeface="Calibri" panose="020F0502020204030204" pitchFamily="34" charset="0"/>
              </a:rPr>
              <a:t> </a:t>
            </a:r>
            <a:r>
              <a:rPr lang="en-AU" sz="1750" b="0" strike="noStrike" spc="-1" dirty="0">
                <a:solidFill>
                  <a:srgbClr val="000000"/>
                </a:solidFill>
                <a:latin typeface="Calibri" panose="020F0502020204030204" pitchFamily="34" charset="0"/>
              </a:rPr>
              <a:t>sequence</a:t>
            </a:r>
            <a:r>
              <a:rPr lang="en-AU" sz="1750" b="0" strike="noStrike" spc="-9" dirty="0">
                <a:solidFill>
                  <a:srgbClr val="000000"/>
                </a:solidFill>
                <a:latin typeface="Calibri" panose="020F0502020204030204" pitchFamily="34" charset="0"/>
              </a:rPr>
              <a:t> </a:t>
            </a:r>
            <a:r>
              <a:rPr lang="en-AU" sz="1750" b="0" strike="noStrike" spc="-58" dirty="0">
                <a:solidFill>
                  <a:srgbClr val="000000"/>
                </a:solidFill>
                <a:latin typeface="Calibri" panose="020F0502020204030204" pitchFamily="34" charset="0"/>
              </a:rPr>
              <a:t>similarity</a:t>
            </a:r>
            <a:r>
              <a:rPr lang="en-AU" sz="1750" b="0" strike="noStrike" spc="-9" dirty="0">
                <a:solidFill>
                  <a:srgbClr val="000000"/>
                </a:solidFill>
                <a:latin typeface="Calibri" panose="020F0502020204030204" pitchFamily="34" charset="0"/>
              </a:rPr>
              <a:t> </a:t>
            </a:r>
            <a:r>
              <a:rPr lang="en-AU" sz="1750" b="0" strike="noStrike" spc="-83" dirty="0">
                <a:solidFill>
                  <a:srgbClr val="000000"/>
                </a:solidFill>
                <a:latin typeface="Calibri" panose="020F0502020204030204" pitchFamily="34" charset="0"/>
              </a:rPr>
              <a:t>between</a:t>
            </a:r>
            <a:r>
              <a:rPr lang="en-AU" sz="1750" b="0" strike="noStrike" spc="-9" dirty="0">
                <a:solidFill>
                  <a:srgbClr val="000000"/>
                </a:solidFill>
                <a:latin typeface="Calibri" panose="020F0502020204030204" pitchFamily="34" charset="0"/>
              </a:rPr>
              <a:t> </a:t>
            </a:r>
            <a:r>
              <a:rPr lang="en-AU" sz="1750" b="0" strike="noStrike" spc="-72" dirty="0">
                <a:solidFill>
                  <a:srgbClr val="000000"/>
                </a:solidFill>
                <a:latin typeface="Calibri" panose="020F0502020204030204" pitchFamily="34" charset="0"/>
              </a:rPr>
              <a:t>~0-20%</a:t>
            </a:r>
            <a:r>
              <a:rPr lang="en-AU" sz="1750" b="0" strike="noStrike" spc="-9" dirty="0">
                <a:solidFill>
                  <a:srgbClr val="000000"/>
                </a:solidFill>
                <a:latin typeface="Calibri" panose="020F0502020204030204" pitchFamily="34" charset="0"/>
              </a:rPr>
              <a:t> </a:t>
            </a:r>
            <a:r>
              <a:rPr lang="en-AU" sz="1750" b="0" strike="noStrike" spc="-83" dirty="0">
                <a:solidFill>
                  <a:srgbClr val="000000"/>
                </a:solidFill>
                <a:latin typeface="Calibri" panose="020F0502020204030204" pitchFamily="34" charset="0"/>
              </a:rPr>
              <a:t>identity: </a:t>
            </a:r>
            <a:r>
              <a:rPr lang="en-AU" sz="1750" b="0" strike="noStrike" spc="-508" dirty="0">
                <a:solidFill>
                  <a:srgbClr val="000000"/>
                </a:solidFill>
                <a:latin typeface="Calibri" panose="020F0502020204030204" pitchFamily="34" charset="0"/>
              </a:rPr>
              <a:t> </a:t>
            </a:r>
            <a:r>
              <a:rPr lang="en-AU" sz="1750" b="0" strike="noStrike" spc="9" dirty="0">
                <a:solidFill>
                  <a:srgbClr val="000000"/>
                </a:solidFill>
                <a:latin typeface="Calibri" panose="020F0502020204030204" pitchFamily="34" charset="0"/>
              </a:rPr>
              <a:t>is</a:t>
            </a:r>
            <a:r>
              <a:rPr lang="en-AU" sz="1750" b="0" strike="noStrike" spc="-12" dirty="0">
                <a:solidFill>
                  <a:srgbClr val="000000"/>
                </a:solidFill>
                <a:latin typeface="Calibri" panose="020F0502020204030204" pitchFamily="34" charset="0"/>
              </a:rPr>
              <a:t> </a:t>
            </a:r>
            <a:r>
              <a:rPr lang="en-AU" sz="1750" b="0" strike="noStrike" spc="-103" dirty="0">
                <a:solidFill>
                  <a:srgbClr val="3333CC"/>
                </a:solidFill>
                <a:latin typeface="Calibri" panose="020F0502020204030204" pitchFamily="34" charset="0"/>
              </a:rPr>
              <a:t>not</a:t>
            </a:r>
            <a:r>
              <a:rPr lang="en-AU" sz="1750" b="0" strike="noStrike" spc="-18" dirty="0">
                <a:solidFill>
                  <a:srgbClr val="3333CC"/>
                </a:solidFill>
                <a:latin typeface="Calibri" panose="020F0502020204030204" pitchFamily="34" charset="0"/>
              </a:rPr>
              <a:t> </a:t>
            </a:r>
            <a:r>
              <a:rPr lang="en-AU" sz="1750" b="0" strike="noStrike" spc="-38" dirty="0">
                <a:solidFill>
                  <a:srgbClr val="000000"/>
                </a:solidFill>
                <a:latin typeface="Calibri" panose="020F0502020204030204" pitchFamily="34" charset="0"/>
              </a:rPr>
              <a:t>statistically</a:t>
            </a:r>
            <a:r>
              <a:rPr lang="en-AU" sz="1750" b="0" strike="noStrike" spc="-24" dirty="0">
                <a:solidFill>
                  <a:srgbClr val="000000"/>
                </a:solidFill>
                <a:latin typeface="Calibri" panose="020F0502020204030204" pitchFamily="34" charset="0"/>
              </a:rPr>
              <a:t> </a:t>
            </a:r>
            <a:r>
              <a:rPr lang="en-AU" sz="1750" b="0" strike="noStrike" spc="-24" dirty="0">
                <a:solidFill>
                  <a:srgbClr val="3333CC"/>
                </a:solidFill>
                <a:latin typeface="Calibri" panose="020F0502020204030204" pitchFamily="34" charset="0"/>
              </a:rPr>
              <a:t>significant</a:t>
            </a:r>
            <a:r>
              <a:rPr lang="en-AU" sz="1750" b="0" strike="noStrike" spc="-24" dirty="0">
                <a:solidFill>
                  <a:srgbClr val="000000"/>
                </a:solidFill>
                <a:latin typeface="Calibri" panose="020F0502020204030204" pitchFamily="34" charset="0"/>
              </a:rPr>
              <a:t>,</a:t>
            </a:r>
            <a:r>
              <a:rPr lang="en-AU" sz="1750" b="0" strike="noStrike" spc="-9" dirty="0">
                <a:solidFill>
                  <a:srgbClr val="000000"/>
                </a:solidFill>
                <a:latin typeface="Calibri" panose="020F0502020204030204" pitchFamily="34" charset="0"/>
              </a:rPr>
              <a:t> i.e.</a:t>
            </a:r>
            <a:r>
              <a:rPr lang="en-AU" sz="1750" b="0" strike="noStrike" spc="-12" dirty="0">
                <a:solidFill>
                  <a:srgbClr val="000000"/>
                </a:solidFill>
                <a:latin typeface="Calibri" panose="020F0502020204030204" pitchFamily="34" charset="0"/>
              </a:rPr>
              <a:t> </a:t>
            </a:r>
            <a:r>
              <a:rPr lang="en-AU" sz="1750" b="0" strike="noStrike" spc="-38" dirty="0">
                <a:solidFill>
                  <a:srgbClr val="000000"/>
                </a:solidFill>
                <a:latin typeface="Calibri" panose="020F0502020204030204" pitchFamily="34" charset="0"/>
              </a:rPr>
              <a:t>could</a:t>
            </a:r>
            <a:r>
              <a:rPr lang="en-AU" sz="1750" b="0" strike="noStrike" spc="-12" dirty="0">
                <a:solidFill>
                  <a:srgbClr val="000000"/>
                </a:solidFill>
                <a:latin typeface="Calibri" panose="020F0502020204030204" pitchFamily="34" charset="0"/>
              </a:rPr>
              <a:t> </a:t>
            </a:r>
            <a:r>
              <a:rPr lang="en-AU" sz="1750" b="0" strike="noStrike" spc="-49" dirty="0">
                <a:solidFill>
                  <a:srgbClr val="000000"/>
                </a:solidFill>
                <a:latin typeface="Calibri" panose="020F0502020204030204" pitchFamily="34" charset="0"/>
              </a:rPr>
              <a:t>have</a:t>
            </a:r>
            <a:r>
              <a:rPr lang="en-AU" sz="1750" b="0" strike="noStrike" spc="-9" dirty="0">
                <a:solidFill>
                  <a:srgbClr val="000000"/>
                </a:solidFill>
                <a:latin typeface="Calibri" panose="020F0502020204030204" pitchFamily="34" charset="0"/>
              </a:rPr>
              <a:t> </a:t>
            </a:r>
            <a:r>
              <a:rPr lang="en-AU" sz="1750" b="0" strike="noStrike" spc="-12" dirty="0">
                <a:solidFill>
                  <a:srgbClr val="000000"/>
                </a:solidFill>
                <a:latin typeface="Calibri" panose="020F0502020204030204" pitchFamily="34" charset="0"/>
              </a:rPr>
              <a:t>arisen </a:t>
            </a:r>
            <a:r>
              <a:rPr lang="en-AU" sz="1750" b="0" strike="noStrike" spc="-128" dirty="0">
                <a:solidFill>
                  <a:srgbClr val="000000"/>
                </a:solidFill>
                <a:latin typeface="Calibri" panose="020F0502020204030204" pitchFamily="34" charset="0"/>
              </a:rPr>
              <a:t>by</a:t>
            </a:r>
            <a:r>
              <a:rPr lang="en-AU" sz="1750" b="0" strike="noStrike" spc="-12"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chance.</a:t>
            </a:r>
            <a:endParaRPr lang="en-AU" sz="1750" b="0" strike="noStrike" spc="-1" dirty="0">
              <a:latin typeface="Calibri" panose="020F0502020204030204" pitchFamily="34" charset="0"/>
            </a:endParaRPr>
          </a:p>
          <a:p>
            <a:pPr>
              <a:lnSpc>
                <a:spcPct val="100000"/>
              </a:lnSpc>
              <a:spcBef>
                <a:spcPts val="5"/>
              </a:spcBef>
            </a:pPr>
            <a:endParaRPr lang="en-AU" sz="1750" b="0" strike="noStrike" spc="-1" dirty="0">
              <a:latin typeface="Calibri" panose="020F0502020204030204" pitchFamily="34" charset="0"/>
            </a:endParaRPr>
          </a:p>
          <a:p>
            <a:pPr marL="86995" indent="-65405">
              <a:lnSpc>
                <a:spcPct val="100000"/>
              </a:lnSpc>
              <a:spcBef>
                <a:spcPts val="5"/>
              </a:spcBef>
            </a:pPr>
            <a:r>
              <a:rPr lang="en-AU" sz="1750" b="0" u="sng" strike="noStrike" spc="-52" dirty="0">
                <a:solidFill>
                  <a:srgbClr val="000000"/>
                </a:solidFill>
                <a:uFill>
                  <a:solidFill>
                    <a:srgbClr val="000000"/>
                  </a:solidFill>
                </a:uFill>
                <a:latin typeface="Calibri" panose="020F0502020204030204" pitchFamily="34" charset="0"/>
              </a:rPr>
              <a:t>Beware</a:t>
            </a:r>
            <a:r>
              <a:rPr lang="en-AU" sz="1750" b="0" strike="noStrike" spc="-52" dirty="0">
                <a:solidFill>
                  <a:srgbClr val="000000"/>
                </a:solidFill>
                <a:latin typeface="Calibri" panose="020F0502020204030204" pitchFamily="34" charset="0"/>
              </a:rPr>
              <a:t>:</a:t>
            </a:r>
            <a:endParaRPr lang="en-AU" sz="1750" b="0" strike="noStrike" spc="-1" dirty="0">
              <a:latin typeface="Calibri" panose="020F0502020204030204" pitchFamily="34" charset="0"/>
            </a:endParaRPr>
          </a:p>
          <a:p>
            <a:pPr marL="287655" indent="-200660">
              <a:lnSpc>
                <a:spcPct val="100000"/>
              </a:lnSpc>
              <a:spcBef>
                <a:spcPts val="5"/>
              </a:spcBef>
              <a:buClr>
                <a:srgbClr val="000000"/>
              </a:buClr>
              <a:buFont typeface="Symbol" charset="2"/>
              <a:buChar char=""/>
            </a:pPr>
            <a:r>
              <a:rPr lang="en-AU" sz="1750" b="0" strike="noStrike" spc="-1" dirty="0">
                <a:solidFill>
                  <a:srgbClr val="000000"/>
                </a:solidFill>
                <a:latin typeface="Calibri" panose="020F0502020204030204" pitchFamily="34" charset="0"/>
              </a:rPr>
              <a:t>E</a:t>
            </a:r>
            <a:r>
              <a:rPr lang="en-AU" sz="1750" b="0" strike="noStrike" spc="63" dirty="0">
                <a:solidFill>
                  <a:srgbClr val="000000"/>
                </a:solidFill>
                <a:latin typeface="Calibri" panose="020F0502020204030204" pitchFamily="34" charset="0"/>
              </a:rPr>
              <a:t>-</a:t>
            </a:r>
            <a:r>
              <a:rPr lang="en-AU" sz="1750" b="0" strike="noStrike" spc="-202" dirty="0">
                <a:solidFill>
                  <a:srgbClr val="000000"/>
                </a:solidFill>
                <a:latin typeface="Calibri" panose="020F0502020204030204" pitchFamily="34" charset="0"/>
              </a:rPr>
              <a:t>v</a:t>
            </a:r>
            <a:r>
              <a:rPr lang="en-AU" sz="1750" b="0" strike="noStrike" spc="69" dirty="0">
                <a:solidFill>
                  <a:srgbClr val="000000"/>
                </a:solidFill>
                <a:latin typeface="Calibri" panose="020F0502020204030204" pitchFamily="34" charset="0"/>
              </a:rPr>
              <a:t>a</a:t>
            </a:r>
            <a:r>
              <a:rPr lang="en-AU" sz="1750" b="0" strike="noStrike" spc="-52" dirty="0">
                <a:solidFill>
                  <a:srgbClr val="000000"/>
                </a:solidFill>
                <a:latin typeface="Calibri" panose="020F0502020204030204" pitchFamily="34" charset="0"/>
              </a:rPr>
              <a:t>l</a:t>
            </a:r>
            <a:r>
              <a:rPr lang="en-AU" sz="1750" b="0" strike="noStrike" spc="-38" dirty="0">
                <a:solidFill>
                  <a:srgbClr val="000000"/>
                </a:solidFill>
                <a:latin typeface="Calibri" panose="020F0502020204030204" pitchFamily="34" charset="0"/>
              </a:rPr>
              <a:t>u</a:t>
            </a:r>
            <a:r>
              <a:rPr lang="en-AU" sz="1750" b="0" strike="noStrike" spc="9" dirty="0">
                <a:solidFill>
                  <a:srgbClr val="000000"/>
                </a:solidFill>
                <a:latin typeface="Calibri" panose="020F0502020204030204" pitchFamily="34" charset="0"/>
              </a:rPr>
              <a:t>e</a:t>
            </a:r>
            <a:r>
              <a:rPr lang="en-AU" sz="1750" b="0" strike="noStrike" spc="-12" dirty="0">
                <a:solidFill>
                  <a:srgbClr val="000000"/>
                </a:solidFill>
                <a:latin typeface="Calibri" panose="020F0502020204030204" pitchFamily="34" charset="0"/>
              </a:rPr>
              <a:t> </a:t>
            </a:r>
            <a:r>
              <a:rPr lang="en-AU" sz="1750" b="0" strike="noStrike" spc="-154" dirty="0">
                <a:solidFill>
                  <a:srgbClr val="000000"/>
                </a:solidFill>
                <a:latin typeface="Calibri" panose="020F0502020204030204" pitchFamily="34" charset="0"/>
              </a:rPr>
              <a:t>(</a:t>
            </a:r>
            <a:r>
              <a:rPr lang="en-AU" sz="1750" b="0" i="1" strike="noStrike" spc="-103" dirty="0">
                <a:solidFill>
                  <a:srgbClr val="000000"/>
                </a:solidFill>
                <a:latin typeface="Calibri" panose="020F0502020204030204" pitchFamily="34" charset="0"/>
              </a:rPr>
              <a:t>Expectation</a:t>
            </a:r>
            <a:r>
              <a:rPr lang="en-AU" sz="1750" b="0" i="1" strike="noStrike" spc="-38" dirty="0">
                <a:solidFill>
                  <a:srgbClr val="000000"/>
                </a:solidFill>
                <a:latin typeface="Calibri" panose="020F0502020204030204" pitchFamily="34" charset="0"/>
              </a:rPr>
              <a:t> </a:t>
            </a:r>
            <a:r>
              <a:rPr lang="en-AU" sz="1750" b="0" i="1" strike="noStrike" spc="-77" dirty="0">
                <a:solidFill>
                  <a:srgbClr val="000000"/>
                </a:solidFill>
                <a:latin typeface="Calibri" panose="020F0502020204030204" pitchFamily="34" charset="0"/>
              </a:rPr>
              <a:t>valu</a:t>
            </a:r>
            <a:r>
              <a:rPr lang="en-AU" sz="1750" b="0" i="1" strike="noStrike" spc="-94" dirty="0">
                <a:solidFill>
                  <a:srgbClr val="000000"/>
                </a:solidFill>
                <a:latin typeface="Calibri" panose="020F0502020204030204" pitchFamily="34" charset="0"/>
              </a:rPr>
              <a:t>e</a:t>
            </a:r>
            <a:r>
              <a:rPr lang="en-AU" sz="1750" b="0" strike="noStrike" spc="-143" dirty="0">
                <a:solidFill>
                  <a:srgbClr val="000000"/>
                </a:solidFill>
                <a:latin typeface="Calibri" panose="020F0502020204030204" pitchFamily="34" charset="0"/>
              </a:rPr>
              <a:t>)</a:t>
            </a:r>
            <a:endParaRPr lang="en-AU" sz="1750" b="0" strike="noStrike" spc="-1" dirty="0">
              <a:latin typeface="Calibri" panose="020F0502020204030204" pitchFamily="34" charset="0"/>
            </a:endParaRPr>
          </a:p>
          <a:p>
            <a:pPr marL="287655" indent="-200660">
              <a:lnSpc>
                <a:spcPct val="100000"/>
              </a:lnSpc>
              <a:buClr>
                <a:srgbClr val="000000"/>
              </a:buClr>
              <a:buFont typeface="Symbol" charset="2"/>
              <a:buChar char=""/>
            </a:pPr>
            <a:r>
              <a:rPr lang="en-AU" sz="1750" b="0" strike="noStrike" spc="-43" dirty="0">
                <a:solidFill>
                  <a:srgbClr val="000000"/>
                </a:solidFill>
                <a:latin typeface="Calibri" panose="020F0502020204030204" pitchFamily="34" charset="0"/>
              </a:rPr>
              <a:t>length</a:t>
            </a:r>
            <a:r>
              <a:rPr lang="en-AU" sz="1750" b="0" strike="noStrike" spc="-12" dirty="0">
                <a:solidFill>
                  <a:srgbClr val="000000"/>
                </a:solidFill>
                <a:latin typeface="Calibri" panose="020F0502020204030204" pitchFamily="34" charset="0"/>
              </a:rPr>
              <a:t> </a:t>
            </a:r>
            <a:r>
              <a:rPr lang="en-AU" sz="1750" b="0" strike="noStrike" spc="-89" dirty="0">
                <a:solidFill>
                  <a:srgbClr val="000000"/>
                </a:solidFill>
                <a:latin typeface="Calibri" panose="020F0502020204030204" pitchFamily="34" charset="0"/>
              </a:rPr>
              <a:t>of</a:t>
            </a:r>
            <a:r>
              <a:rPr lang="en-AU" sz="1750" b="0" strike="noStrike" spc="-9" dirty="0">
                <a:solidFill>
                  <a:srgbClr val="000000"/>
                </a:solidFill>
                <a:latin typeface="Calibri" panose="020F0502020204030204" pitchFamily="34" charset="0"/>
              </a:rPr>
              <a:t> </a:t>
            </a:r>
            <a:r>
              <a:rPr lang="en-AU" sz="1750" b="0" strike="noStrike" spc="-69" dirty="0">
                <a:solidFill>
                  <a:srgbClr val="000000"/>
                </a:solidFill>
                <a:latin typeface="Calibri" panose="020F0502020204030204" pitchFamily="34" charset="0"/>
              </a:rPr>
              <a:t>the</a:t>
            </a:r>
            <a:r>
              <a:rPr lang="en-AU" sz="1750" b="0" strike="noStrike" spc="-12" dirty="0">
                <a:solidFill>
                  <a:srgbClr val="000000"/>
                </a:solidFill>
                <a:latin typeface="Calibri" panose="020F0502020204030204" pitchFamily="34" charset="0"/>
              </a:rPr>
              <a:t> segments</a:t>
            </a:r>
            <a:r>
              <a:rPr lang="en-AU" sz="1750" b="0" strike="noStrike" spc="-9" dirty="0">
                <a:solidFill>
                  <a:srgbClr val="000000"/>
                </a:solidFill>
                <a:latin typeface="Calibri" panose="020F0502020204030204" pitchFamily="34" charset="0"/>
              </a:rPr>
              <a:t> </a:t>
            </a:r>
            <a:r>
              <a:rPr lang="en-AU" sz="1750" b="0" strike="noStrike" spc="-29" dirty="0">
                <a:solidFill>
                  <a:srgbClr val="000000"/>
                </a:solidFill>
                <a:latin typeface="Calibri" panose="020F0502020204030204" pitchFamily="34" charset="0"/>
              </a:rPr>
              <a:t>similar</a:t>
            </a:r>
            <a:r>
              <a:rPr lang="en-AU" sz="1750" b="0" strike="noStrike" spc="-12" dirty="0">
                <a:solidFill>
                  <a:srgbClr val="000000"/>
                </a:solidFill>
                <a:latin typeface="Calibri" panose="020F0502020204030204" pitchFamily="34" charset="0"/>
              </a:rPr>
              <a:t> </a:t>
            </a:r>
            <a:r>
              <a:rPr lang="en-AU" sz="1750" b="0" strike="noStrike" spc="-77" dirty="0">
                <a:solidFill>
                  <a:srgbClr val="000000"/>
                </a:solidFill>
                <a:latin typeface="Calibri" panose="020F0502020204030204" pitchFamily="34" charset="0"/>
              </a:rPr>
              <a:t>between</a:t>
            </a:r>
            <a:r>
              <a:rPr lang="en-AU" sz="1750" b="0" strike="noStrike" spc="-9" dirty="0">
                <a:solidFill>
                  <a:srgbClr val="000000"/>
                </a:solidFill>
                <a:latin typeface="Calibri" panose="020F0502020204030204" pitchFamily="34" charset="0"/>
              </a:rPr>
              <a:t> </a:t>
            </a:r>
            <a:r>
              <a:rPr lang="en-AU" sz="1750" b="0" strike="noStrike" spc="-63" dirty="0">
                <a:solidFill>
                  <a:srgbClr val="000000"/>
                </a:solidFill>
                <a:latin typeface="Calibri" panose="020F0502020204030204" pitchFamily="34" charset="0"/>
              </a:rPr>
              <a:t>the</a:t>
            </a:r>
            <a:r>
              <a:rPr lang="en-AU" sz="1750" b="0" strike="noStrike" spc="-9" dirty="0">
                <a:solidFill>
                  <a:srgbClr val="000000"/>
                </a:solidFill>
                <a:latin typeface="Calibri" panose="020F0502020204030204" pitchFamily="34" charset="0"/>
              </a:rPr>
              <a:t> </a:t>
            </a:r>
            <a:r>
              <a:rPr lang="en-AU" sz="1750" b="0" strike="noStrike" spc="-180" dirty="0">
                <a:solidFill>
                  <a:srgbClr val="000000"/>
                </a:solidFill>
                <a:latin typeface="Calibri" panose="020F0502020204030204" pitchFamily="34" charset="0"/>
              </a:rPr>
              <a:t>two</a:t>
            </a:r>
            <a:r>
              <a:rPr lang="en-AU" sz="1750" b="0" strike="noStrike" spc="-12"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sequences</a:t>
            </a:r>
            <a:endParaRPr lang="en-AU" sz="1750" b="0" strike="noStrike" spc="-1" dirty="0">
              <a:latin typeface="Calibri" panose="020F0502020204030204" pitchFamily="34" charset="0"/>
            </a:endParaRPr>
          </a:p>
          <a:p>
            <a:pPr marL="287655" indent="-200660">
              <a:lnSpc>
                <a:spcPct val="100000"/>
              </a:lnSpc>
              <a:spcBef>
                <a:spcPts val="5"/>
              </a:spcBef>
              <a:buClr>
                <a:srgbClr val="000000"/>
              </a:buClr>
              <a:buFont typeface="Symbol" charset="2"/>
              <a:buChar char=""/>
            </a:pPr>
            <a:r>
              <a:rPr lang="en-AU" sz="1750" b="0" strike="noStrike" spc="-77" dirty="0">
                <a:solidFill>
                  <a:srgbClr val="000000"/>
                </a:solidFill>
                <a:latin typeface="Calibri" panose="020F0502020204030204" pitchFamily="34" charset="0"/>
              </a:rPr>
              <a:t>The</a:t>
            </a:r>
            <a:r>
              <a:rPr lang="en-AU" sz="1750" b="0" strike="noStrike" spc="-32" dirty="0">
                <a:solidFill>
                  <a:srgbClr val="000000"/>
                </a:solidFill>
                <a:latin typeface="Calibri" panose="020F0502020204030204" pitchFamily="34" charset="0"/>
              </a:rPr>
              <a:t> </a:t>
            </a:r>
            <a:r>
              <a:rPr lang="en-AU" sz="1750" b="0" strike="noStrike" spc="-58" dirty="0">
                <a:solidFill>
                  <a:srgbClr val="000000"/>
                </a:solidFill>
                <a:latin typeface="Calibri" panose="020F0502020204030204" pitchFamily="34" charset="0"/>
              </a:rPr>
              <a:t>number</a:t>
            </a:r>
            <a:r>
              <a:rPr lang="en-AU" sz="1750" b="0" strike="noStrike" spc="-29" dirty="0">
                <a:solidFill>
                  <a:srgbClr val="000000"/>
                </a:solidFill>
                <a:latin typeface="Calibri" panose="020F0502020204030204" pitchFamily="34" charset="0"/>
              </a:rPr>
              <a:t> </a:t>
            </a:r>
            <a:r>
              <a:rPr lang="en-AU" sz="1750" b="0" strike="noStrike" spc="-89" dirty="0">
                <a:solidFill>
                  <a:srgbClr val="000000"/>
                </a:solidFill>
                <a:latin typeface="Calibri" panose="020F0502020204030204" pitchFamily="34" charset="0"/>
              </a:rPr>
              <a:t>of</a:t>
            </a:r>
            <a:r>
              <a:rPr lang="en-AU" sz="1750" b="0" strike="noStrike" spc="-29" dirty="0">
                <a:solidFill>
                  <a:srgbClr val="000000"/>
                </a:solidFill>
                <a:latin typeface="Calibri" panose="020F0502020204030204" pitchFamily="34" charset="0"/>
              </a:rPr>
              <a:t> </a:t>
            </a:r>
            <a:r>
              <a:rPr lang="en-AU" sz="1750" b="0" strike="noStrike" spc="-38" dirty="0">
                <a:solidFill>
                  <a:srgbClr val="000000"/>
                </a:solidFill>
                <a:latin typeface="Calibri" panose="020F0502020204030204" pitchFamily="34" charset="0"/>
              </a:rPr>
              <a:t>insertions/deletions</a:t>
            </a:r>
            <a:endParaRPr lang="en-AU" sz="1750" b="0" strike="noStrike" spc="-1" dirty="0">
              <a:latin typeface="Calibri" panose="020F0502020204030204" pitchFamily="34" charset="0"/>
            </a:endParaRPr>
          </a:p>
        </p:txBody>
      </p:sp>
      <p:sp>
        <p:nvSpPr>
          <p:cNvPr id="196" name="CustomShape 3"/>
          <p:cNvSpPr/>
          <p:nvPr/>
        </p:nvSpPr>
        <p:spPr>
          <a:xfrm>
            <a:off x="981360" y="1335040"/>
            <a:ext cx="7840080" cy="1638360"/>
          </a:xfrm>
          <a:prstGeom prst="rect">
            <a:avLst/>
          </a:prstGeom>
          <a:noFill/>
          <a:ln w="9360">
            <a:solidFill>
              <a:srgbClr val="010101"/>
            </a:solidFill>
            <a:round/>
          </a:ln>
        </p:spPr>
        <p:style>
          <a:lnRef idx="0">
            <a:srgbClr val="FFFFFF"/>
          </a:lnRef>
          <a:fillRef idx="0">
            <a:srgbClr val="FFFFFF"/>
          </a:fillRef>
          <a:effectRef idx="0">
            <a:srgbClr val="FFFFFF"/>
          </a:effectRef>
          <a:fontRef idx="minor"/>
        </p:style>
        <p:txBody>
          <a:bodyPr lIns="0" tIns="108000" rIns="0" bIns="0"/>
          <a:lstStyle/>
          <a:p>
            <a:pPr marL="164465">
              <a:lnSpc>
                <a:spcPct val="100000"/>
              </a:lnSpc>
              <a:spcBef>
                <a:spcPts val="875"/>
              </a:spcBef>
            </a:pPr>
            <a:r>
              <a:rPr lang="en-AU" sz="1750" b="0" u="sng" strike="noStrike" spc="-49" dirty="0">
                <a:solidFill>
                  <a:srgbClr val="000000"/>
                </a:solidFill>
                <a:uFill>
                  <a:solidFill>
                    <a:srgbClr val="000000"/>
                  </a:solidFill>
                </a:uFill>
                <a:latin typeface="Calibri" panose="020F0502020204030204" pitchFamily="34" charset="0"/>
              </a:rPr>
              <a:t>Rule-of-thumb</a:t>
            </a:r>
            <a:r>
              <a:rPr lang="en-AU" sz="1750" b="0" strike="noStrike" spc="-49" dirty="0">
                <a:solidFill>
                  <a:srgbClr val="000000"/>
                </a:solidFill>
                <a:latin typeface="Calibri" panose="020F0502020204030204" pitchFamily="34" charset="0"/>
              </a:rPr>
              <a:t>:</a:t>
            </a:r>
            <a:endParaRPr lang="en-AU" sz="1750" b="0" strike="noStrike" spc="-1" dirty="0">
              <a:latin typeface="Calibri" panose="020F0502020204030204" pitchFamily="34" charset="0"/>
            </a:endParaRPr>
          </a:p>
          <a:p>
            <a:pPr marL="164465">
              <a:lnSpc>
                <a:spcPct val="100000"/>
              </a:lnSpc>
            </a:pPr>
            <a:r>
              <a:rPr lang="en-AU" sz="1750" b="0" strike="noStrike" spc="-94" dirty="0">
                <a:solidFill>
                  <a:srgbClr val="000000"/>
                </a:solidFill>
                <a:latin typeface="Calibri" panose="020F0502020204030204" pitchFamily="34" charset="0"/>
              </a:rPr>
              <a:t>If</a:t>
            </a:r>
            <a:r>
              <a:rPr lang="en-AU" sz="1750" b="0" strike="noStrike" spc="-9" dirty="0">
                <a:solidFill>
                  <a:srgbClr val="000000"/>
                </a:solidFill>
                <a:latin typeface="Calibri" panose="020F0502020204030204" pitchFamily="34" charset="0"/>
              </a:rPr>
              <a:t> </a:t>
            </a:r>
            <a:r>
              <a:rPr lang="en-AU" sz="1750" b="0" strike="noStrike" spc="-103" dirty="0">
                <a:solidFill>
                  <a:srgbClr val="000000"/>
                </a:solidFill>
                <a:latin typeface="Calibri" panose="020F0502020204030204" pitchFamily="34" charset="0"/>
              </a:rPr>
              <a:t>your</a:t>
            </a:r>
            <a:r>
              <a:rPr lang="en-AU" sz="1750" b="0" strike="noStrike" spc="-18"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sequences</a:t>
            </a:r>
            <a:r>
              <a:rPr lang="en-AU" sz="1750" b="0" strike="noStrike" spc="-9"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are</a:t>
            </a:r>
            <a:r>
              <a:rPr lang="en-AU" sz="1750" b="0" strike="noStrike" spc="-9" dirty="0">
                <a:solidFill>
                  <a:srgbClr val="000000"/>
                </a:solidFill>
                <a:latin typeface="Calibri" panose="020F0502020204030204" pitchFamily="34" charset="0"/>
              </a:rPr>
              <a:t> </a:t>
            </a:r>
            <a:r>
              <a:rPr lang="en-AU" sz="1750" b="0" strike="noStrike" spc="-69" dirty="0">
                <a:solidFill>
                  <a:srgbClr val="000000"/>
                </a:solidFill>
                <a:latin typeface="Calibri" panose="020F0502020204030204" pitchFamily="34" charset="0"/>
              </a:rPr>
              <a:t>more</a:t>
            </a:r>
            <a:r>
              <a:rPr lang="en-AU" sz="1750" b="0" strike="noStrike" spc="-9" dirty="0">
                <a:solidFill>
                  <a:srgbClr val="000000"/>
                </a:solidFill>
                <a:latin typeface="Calibri" panose="020F0502020204030204" pitchFamily="34" charset="0"/>
              </a:rPr>
              <a:t> </a:t>
            </a:r>
            <a:r>
              <a:rPr lang="en-AU" sz="1750" b="0" strike="noStrike" spc="-52" dirty="0">
                <a:solidFill>
                  <a:srgbClr val="000000"/>
                </a:solidFill>
                <a:latin typeface="Calibri" panose="020F0502020204030204" pitchFamily="34" charset="0"/>
              </a:rPr>
              <a:t>than</a:t>
            </a:r>
            <a:r>
              <a:rPr lang="en-AU" sz="1750" b="0" strike="noStrike" spc="-9" dirty="0">
                <a:solidFill>
                  <a:srgbClr val="000000"/>
                </a:solidFill>
                <a:latin typeface="Calibri" panose="020F0502020204030204" pitchFamily="34" charset="0"/>
              </a:rPr>
              <a:t> </a:t>
            </a:r>
            <a:r>
              <a:rPr lang="en-AU" sz="1750" b="1" strike="noStrike" spc="83" dirty="0">
                <a:solidFill>
                  <a:srgbClr val="000000"/>
                </a:solidFill>
                <a:latin typeface="Calibri" panose="020F0502020204030204" pitchFamily="34" charset="0"/>
              </a:rPr>
              <a:t>100</a:t>
            </a:r>
            <a:r>
              <a:rPr lang="en-AU" sz="1750" b="1" strike="noStrike" spc="-9" dirty="0">
                <a:solidFill>
                  <a:srgbClr val="000000"/>
                </a:solidFill>
                <a:latin typeface="Calibri" panose="020F0502020204030204" pitchFamily="34" charset="0"/>
              </a:rPr>
              <a:t> </a:t>
            </a:r>
            <a:r>
              <a:rPr lang="en-AU" sz="1750" b="1" strike="noStrike" spc="-49" dirty="0">
                <a:solidFill>
                  <a:srgbClr val="000000"/>
                </a:solidFill>
                <a:latin typeface="Calibri" panose="020F0502020204030204" pitchFamily="34" charset="0"/>
              </a:rPr>
              <a:t>amino</a:t>
            </a:r>
            <a:r>
              <a:rPr lang="en-AU" sz="1750" b="1" strike="noStrike" spc="-9" dirty="0">
                <a:solidFill>
                  <a:srgbClr val="000000"/>
                </a:solidFill>
                <a:latin typeface="Calibri" panose="020F0502020204030204" pitchFamily="34" charset="0"/>
              </a:rPr>
              <a:t> </a:t>
            </a:r>
            <a:r>
              <a:rPr lang="en-AU" sz="1750" b="1" strike="noStrike" spc="12" dirty="0">
                <a:solidFill>
                  <a:srgbClr val="000000"/>
                </a:solidFill>
                <a:latin typeface="Calibri" panose="020F0502020204030204" pitchFamily="34" charset="0"/>
              </a:rPr>
              <a:t>acids</a:t>
            </a:r>
            <a:r>
              <a:rPr lang="en-AU" sz="1750" b="0" strike="noStrike" spc="-9" dirty="0">
                <a:solidFill>
                  <a:srgbClr val="000000"/>
                </a:solidFill>
                <a:latin typeface="Calibri" panose="020F0502020204030204" pitchFamily="34" charset="0"/>
              </a:rPr>
              <a:t> </a:t>
            </a:r>
            <a:r>
              <a:rPr lang="en-AU" sz="1750" b="0" strike="noStrike" spc="-38" dirty="0">
                <a:solidFill>
                  <a:srgbClr val="000000"/>
                </a:solidFill>
                <a:latin typeface="Calibri" panose="020F0502020204030204" pitchFamily="34" charset="0"/>
              </a:rPr>
              <a:t>long</a:t>
            </a:r>
            <a:r>
              <a:rPr lang="en-AU" sz="1750" b="0" strike="noStrike" spc="-9" dirty="0">
                <a:solidFill>
                  <a:srgbClr val="000000"/>
                </a:solidFill>
                <a:latin typeface="Calibri" panose="020F0502020204030204" pitchFamily="34" charset="0"/>
              </a:rPr>
              <a:t> </a:t>
            </a:r>
            <a:r>
              <a:rPr lang="en-AU" sz="1750" b="0" strike="noStrike" spc="-103" dirty="0">
                <a:solidFill>
                  <a:srgbClr val="000000"/>
                </a:solidFill>
                <a:latin typeface="Calibri" panose="020F0502020204030204" pitchFamily="34" charset="0"/>
              </a:rPr>
              <a:t>(or</a:t>
            </a:r>
            <a:r>
              <a:rPr lang="en-AU" sz="1750" b="0" strike="noStrike" spc="-18" dirty="0">
                <a:solidFill>
                  <a:srgbClr val="000000"/>
                </a:solidFill>
                <a:latin typeface="Calibri" panose="020F0502020204030204" pitchFamily="34" charset="0"/>
              </a:rPr>
              <a:t> </a:t>
            </a:r>
            <a:r>
              <a:rPr lang="en-AU" sz="1750" b="0" strike="noStrike" spc="83" dirty="0">
                <a:solidFill>
                  <a:srgbClr val="000000"/>
                </a:solidFill>
                <a:latin typeface="Calibri" panose="020F0502020204030204" pitchFamily="34" charset="0"/>
              </a:rPr>
              <a:t>100</a:t>
            </a:r>
            <a:r>
              <a:rPr lang="en-AU" sz="1750" b="0" strike="noStrike" spc="-9" dirty="0">
                <a:solidFill>
                  <a:srgbClr val="000000"/>
                </a:solidFill>
                <a:latin typeface="Calibri" panose="020F0502020204030204" pitchFamily="34" charset="0"/>
              </a:rPr>
              <a:t> </a:t>
            </a:r>
            <a:r>
              <a:rPr lang="en-AU" sz="1750" b="0" strike="noStrike" spc="-38" dirty="0">
                <a:solidFill>
                  <a:srgbClr val="000000"/>
                </a:solidFill>
                <a:latin typeface="Calibri" panose="020F0502020204030204" pitchFamily="34" charset="0"/>
              </a:rPr>
              <a:t>nucleotides</a:t>
            </a:r>
            <a:r>
              <a:rPr lang="en-AU" sz="1750" b="0" strike="noStrike" spc="-9" dirty="0">
                <a:solidFill>
                  <a:srgbClr val="000000"/>
                </a:solidFill>
                <a:latin typeface="Calibri" panose="020F0502020204030204" pitchFamily="34" charset="0"/>
              </a:rPr>
              <a:t> </a:t>
            </a:r>
            <a:r>
              <a:rPr lang="en-AU" sz="1750" b="0" strike="noStrike" spc="-58" dirty="0">
                <a:solidFill>
                  <a:srgbClr val="000000"/>
                </a:solidFill>
                <a:latin typeface="Calibri" panose="020F0502020204030204" pitchFamily="34" charset="0"/>
              </a:rPr>
              <a:t>long) </a:t>
            </a:r>
            <a:r>
              <a:rPr lang="en-AU" sz="1750" b="0" strike="noStrike" spc="-514" dirty="0">
                <a:solidFill>
                  <a:srgbClr val="000000"/>
                </a:solidFill>
                <a:latin typeface="Calibri" panose="020F0502020204030204" pitchFamily="34" charset="0"/>
              </a:rPr>
              <a:t> </a:t>
            </a:r>
            <a:r>
              <a:rPr lang="en-AU" sz="1750" b="0" strike="noStrike" spc="-109" dirty="0">
                <a:solidFill>
                  <a:srgbClr val="000000"/>
                </a:solidFill>
                <a:latin typeface="Calibri" panose="020F0502020204030204" pitchFamily="34" charset="0"/>
              </a:rPr>
              <a:t>you </a:t>
            </a:r>
            <a:r>
              <a:rPr lang="en-AU" sz="1750" b="0" strike="noStrike" spc="12" dirty="0">
                <a:solidFill>
                  <a:srgbClr val="000000"/>
                </a:solidFill>
                <a:latin typeface="Calibri" panose="020F0502020204030204" pitchFamily="34" charset="0"/>
              </a:rPr>
              <a:t>can </a:t>
            </a:r>
            <a:r>
              <a:rPr lang="en-AU" sz="1750" b="0" strike="noStrike" spc="-32" dirty="0">
                <a:solidFill>
                  <a:srgbClr val="000000"/>
                </a:solidFill>
                <a:latin typeface="Calibri" panose="020F0502020204030204" pitchFamily="34" charset="0"/>
              </a:rPr>
              <a:t>considered </a:t>
            </a:r>
            <a:r>
              <a:rPr lang="en-AU" sz="1750" b="0" strike="noStrike" spc="-77" dirty="0">
                <a:solidFill>
                  <a:srgbClr val="000000"/>
                </a:solidFill>
                <a:latin typeface="Calibri" panose="020F0502020204030204" pitchFamily="34" charset="0"/>
              </a:rPr>
              <a:t>them </a:t>
            </a:r>
            <a:r>
              <a:rPr lang="en-AU" sz="1750" b="0" strike="noStrike" spc="69" dirty="0">
                <a:solidFill>
                  <a:srgbClr val="000000"/>
                </a:solidFill>
                <a:latin typeface="Calibri" panose="020F0502020204030204" pitchFamily="34" charset="0"/>
              </a:rPr>
              <a:t>as </a:t>
            </a:r>
            <a:r>
              <a:rPr lang="en-AU" sz="1750" b="0" strike="noStrike" spc="-38" dirty="0">
                <a:solidFill>
                  <a:srgbClr val="000000"/>
                </a:solidFill>
                <a:latin typeface="Calibri" panose="020F0502020204030204" pitchFamily="34" charset="0"/>
              </a:rPr>
              <a:t>homologues </a:t>
            </a:r>
            <a:r>
              <a:rPr lang="en-AU" sz="1750" b="0" strike="noStrike" spc="-69" dirty="0">
                <a:solidFill>
                  <a:srgbClr val="000000"/>
                </a:solidFill>
                <a:latin typeface="Calibri" panose="020F0502020204030204" pitchFamily="34" charset="0"/>
              </a:rPr>
              <a:t>if </a:t>
            </a:r>
            <a:r>
              <a:rPr lang="en-AU" sz="2400" b="1" strike="noStrike" spc="-154" dirty="0">
                <a:solidFill>
                  <a:srgbClr val="000000"/>
                </a:solidFill>
                <a:latin typeface="Calibri" panose="020F0502020204030204" pitchFamily="34" charset="0"/>
              </a:rPr>
              <a:t>25%</a:t>
            </a:r>
            <a:r>
              <a:rPr lang="en-AU" sz="1750" b="0" strike="noStrike" spc="-148" dirty="0">
                <a:solidFill>
                  <a:srgbClr val="000000"/>
                </a:solidFill>
                <a:latin typeface="Calibri" panose="020F0502020204030204" pitchFamily="34" charset="0"/>
              </a:rPr>
              <a:t> </a:t>
            </a:r>
            <a:r>
              <a:rPr lang="en-AU" sz="1750" b="0" strike="noStrike" spc="-89" dirty="0">
                <a:solidFill>
                  <a:srgbClr val="000000"/>
                </a:solidFill>
                <a:latin typeface="Calibri" panose="020F0502020204030204" pitchFamily="34" charset="0"/>
              </a:rPr>
              <a:t>of </a:t>
            </a:r>
            <a:r>
              <a:rPr lang="en-AU" sz="1750" b="0" strike="noStrike" spc="-69" dirty="0">
                <a:solidFill>
                  <a:srgbClr val="000000"/>
                </a:solidFill>
                <a:latin typeface="Calibri" panose="020F0502020204030204" pitchFamily="34" charset="0"/>
              </a:rPr>
              <a:t>the </a:t>
            </a:r>
            <a:r>
              <a:rPr lang="en-AU" sz="2400" b="1" strike="noStrike" spc="69" dirty="0">
                <a:solidFill>
                  <a:srgbClr val="000000"/>
                </a:solidFill>
                <a:latin typeface="Calibri" panose="020F0502020204030204" pitchFamily="34" charset="0"/>
              </a:rPr>
              <a:t>aa</a:t>
            </a:r>
            <a:r>
              <a:rPr lang="en-AU" sz="1750" b="0" strike="noStrike" spc="69" dirty="0">
                <a:solidFill>
                  <a:srgbClr val="000000"/>
                </a:solidFill>
                <a:latin typeface="Calibri" panose="020F0502020204030204" pitchFamily="34" charset="0"/>
              </a:rPr>
              <a:t> </a:t>
            </a:r>
            <a:r>
              <a:rPr lang="en-AU" sz="1750" b="0" strike="noStrike" spc="-4" dirty="0">
                <a:solidFill>
                  <a:srgbClr val="000000"/>
                </a:solidFill>
                <a:latin typeface="Calibri" panose="020F0502020204030204" pitchFamily="34" charset="0"/>
              </a:rPr>
              <a:t>are </a:t>
            </a:r>
            <a:r>
              <a:rPr lang="en-AU" sz="1750" b="0" strike="noStrike" spc="-38" dirty="0">
                <a:solidFill>
                  <a:srgbClr val="000000"/>
                </a:solidFill>
                <a:latin typeface="Calibri" panose="020F0502020204030204" pitchFamily="34" charset="0"/>
              </a:rPr>
              <a:t>identical </a:t>
            </a:r>
            <a:r>
              <a:rPr lang="en-AU" sz="1750" b="0" strike="noStrike" spc="-157" dirty="0">
                <a:solidFill>
                  <a:srgbClr val="000000"/>
                </a:solidFill>
                <a:latin typeface="Calibri" panose="020F0502020204030204" pitchFamily="34" charset="0"/>
              </a:rPr>
              <a:t>(</a:t>
            </a:r>
            <a:r>
              <a:rPr lang="en-AU" sz="2400" b="1" strike="noStrike" spc="-157" dirty="0">
                <a:solidFill>
                  <a:srgbClr val="000000"/>
                </a:solidFill>
                <a:latin typeface="Calibri" panose="020F0502020204030204" pitchFamily="34" charset="0"/>
              </a:rPr>
              <a:t>70%</a:t>
            </a:r>
            <a:r>
              <a:rPr lang="en-AU" sz="1750" b="0" strike="noStrike" spc="-154" dirty="0">
                <a:solidFill>
                  <a:srgbClr val="000000"/>
                </a:solidFill>
                <a:latin typeface="Calibri" panose="020F0502020204030204" pitchFamily="34" charset="0"/>
              </a:rPr>
              <a:t> </a:t>
            </a:r>
            <a:r>
              <a:rPr lang="en-AU" sz="1750" b="0" strike="noStrike" spc="-89" dirty="0">
                <a:solidFill>
                  <a:srgbClr val="000000"/>
                </a:solidFill>
                <a:latin typeface="Calibri" panose="020F0502020204030204" pitchFamily="34" charset="0"/>
              </a:rPr>
              <a:t>of </a:t>
            </a:r>
            <a:r>
              <a:rPr lang="en-AU" sz="1750" b="0" strike="noStrike" spc="-83" dirty="0">
                <a:solidFill>
                  <a:srgbClr val="000000"/>
                </a:solidFill>
                <a:latin typeface="Calibri" panose="020F0502020204030204" pitchFamily="34" charset="0"/>
              </a:rPr>
              <a:t> </a:t>
            </a:r>
            <a:r>
              <a:rPr lang="en-AU" sz="1750" b="1" strike="noStrike" spc="-49" dirty="0">
                <a:solidFill>
                  <a:srgbClr val="000000"/>
                </a:solidFill>
                <a:latin typeface="Calibri" panose="020F0502020204030204" pitchFamily="34" charset="0"/>
              </a:rPr>
              <a:t>nucleotide</a:t>
            </a:r>
            <a:r>
              <a:rPr lang="en-AU" sz="1750" b="0" strike="noStrike" spc="-18" dirty="0">
                <a:solidFill>
                  <a:srgbClr val="000000"/>
                </a:solidFill>
                <a:latin typeface="Calibri" panose="020F0502020204030204" pitchFamily="34" charset="0"/>
              </a:rPr>
              <a:t> </a:t>
            </a:r>
            <a:r>
              <a:rPr lang="en-AU" sz="1750" b="0" strike="noStrike" spc="-83" dirty="0">
                <a:solidFill>
                  <a:srgbClr val="000000"/>
                </a:solidFill>
                <a:latin typeface="Calibri" panose="020F0502020204030204" pitchFamily="34" charset="0"/>
              </a:rPr>
              <a:t>for</a:t>
            </a:r>
            <a:r>
              <a:rPr lang="en-AU" sz="1750" b="0" strike="noStrike" spc="-12" dirty="0">
                <a:solidFill>
                  <a:srgbClr val="000000"/>
                </a:solidFill>
                <a:latin typeface="Calibri" panose="020F0502020204030204" pitchFamily="34" charset="0"/>
              </a:rPr>
              <a:t> </a:t>
            </a:r>
            <a:r>
              <a:rPr lang="en-AU" sz="1750" b="0" strike="noStrike" spc="-83" dirty="0">
                <a:solidFill>
                  <a:srgbClr val="000000"/>
                </a:solidFill>
                <a:latin typeface="Calibri" panose="020F0502020204030204" pitchFamily="34" charset="0"/>
              </a:rPr>
              <a:t>DNA).</a:t>
            </a:r>
            <a:r>
              <a:rPr lang="en-AU" sz="1750" b="0" strike="noStrike" spc="-9" dirty="0">
                <a:solidFill>
                  <a:srgbClr val="000000"/>
                </a:solidFill>
                <a:latin typeface="Calibri" panose="020F0502020204030204" pitchFamily="34" charset="0"/>
              </a:rPr>
              <a:t> </a:t>
            </a:r>
            <a:r>
              <a:rPr lang="en-AU" sz="1750" b="0" strike="noStrike" spc="-103" dirty="0">
                <a:solidFill>
                  <a:srgbClr val="000000"/>
                </a:solidFill>
                <a:latin typeface="Calibri" panose="020F0502020204030204" pitchFamily="34" charset="0"/>
              </a:rPr>
              <a:t>Below</a:t>
            </a:r>
            <a:r>
              <a:rPr lang="en-AU" sz="1750" b="0" strike="noStrike" spc="-18" dirty="0">
                <a:solidFill>
                  <a:srgbClr val="000000"/>
                </a:solidFill>
                <a:latin typeface="Calibri" panose="020F0502020204030204" pitchFamily="34" charset="0"/>
              </a:rPr>
              <a:t> </a:t>
            </a:r>
            <a:r>
              <a:rPr lang="en-AU" sz="1750" b="0" strike="noStrike" spc="-49" dirty="0">
                <a:solidFill>
                  <a:srgbClr val="000000"/>
                </a:solidFill>
                <a:latin typeface="Calibri" panose="020F0502020204030204" pitchFamily="34" charset="0"/>
              </a:rPr>
              <a:t>this</a:t>
            </a:r>
            <a:r>
              <a:rPr lang="en-AU" sz="1750" b="0" strike="noStrike" spc="-12" dirty="0">
                <a:solidFill>
                  <a:srgbClr val="000000"/>
                </a:solidFill>
                <a:latin typeface="Calibri" panose="020F0502020204030204" pitchFamily="34" charset="0"/>
              </a:rPr>
              <a:t> </a:t>
            </a:r>
            <a:r>
              <a:rPr lang="en-AU" sz="1750" b="0" strike="noStrike" spc="-43" dirty="0">
                <a:solidFill>
                  <a:srgbClr val="000000"/>
                </a:solidFill>
                <a:latin typeface="Calibri" panose="020F0502020204030204" pitchFamily="34" charset="0"/>
              </a:rPr>
              <a:t>value</a:t>
            </a:r>
            <a:r>
              <a:rPr lang="en-AU" sz="1750" b="0" strike="noStrike" spc="-12" dirty="0">
                <a:solidFill>
                  <a:srgbClr val="000000"/>
                </a:solidFill>
                <a:latin typeface="Calibri" panose="020F0502020204030204" pitchFamily="34" charset="0"/>
              </a:rPr>
              <a:t> </a:t>
            </a:r>
            <a:r>
              <a:rPr lang="en-AU" sz="1750" b="0" strike="noStrike" spc="-109" dirty="0">
                <a:solidFill>
                  <a:srgbClr val="000000"/>
                </a:solidFill>
                <a:latin typeface="Calibri" panose="020F0502020204030204" pitchFamily="34" charset="0"/>
              </a:rPr>
              <a:t>you</a:t>
            </a:r>
            <a:r>
              <a:rPr lang="en-AU" sz="1750" b="0" strike="noStrike" spc="-12" dirty="0">
                <a:solidFill>
                  <a:srgbClr val="000000"/>
                </a:solidFill>
                <a:latin typeface="Calibri" panose="020F0502020204030204" pitchFamily="34" charset="0"/>
              </a:rPr>
              <a:t> </a:t>
            </a:r>
            <a:r>
              <a:rPr lang="en-AU" sz="1750" b="0" strike="noStrike" spc="-63" dirty="0">
                <a:solidFill>
                  <a:srgbClr val="000000"/>
                </a:solidFill>
                <a:latin typeface="Calibri" panose="020F0502020204030204" pitchFamily="34" charset="0"/>
              </a:rPr>
              <a:t>enter</a:t>
            </a:r>
            <a:r>
              <a:rPr lang="en-AU" sz="1750" b="0" strike="noStrike" spc="-18" dirty="0">
                <a:solidFill>
                  <a:srgbClr val="000000"/>
                </a:solidFill>
                <a:latin typeface="Calibri" panose="020F0502020204030204" pitchFamily="34" charset="0"/>
              </a:rPr>
              <a:t> </a:t>
            </a:r>
            <a:r>
              <a:rPr lang="en-AU" sz="1750" b="0" strike="noStrike" spc="-69" dirty="0">
                <a:solidFill>
                  <a:srgbClr val="000000"/>
                </a:solidFill>
                <a:latin typeface="Calibri" panose="020F0502020204030204" pitchFamily="34" charset="0"/>
              </a:rPr>
              <a:t>the</a:t>
            </a:r>
            <a:r>
              <a:rPr lang="en-AU" sz="1750" b="0" strike="noStrike" spc="-9" dirty="0">
                <a:solidFill>
                  <a:srgbClr val="000000"/>
                </a:solidFill>
                <a:latin typeface="Calibri" panose="020F0502020204030204" pitchFamily="34" charset="0"/>
              </a:rPr>
              <a:t> </a:t>
            </a:r>
            <a:r>
              <a:rPr lang="en-AU" sz="1750" b="0" strike="noStrike" spc="-97" dirty="0">
                <a:solidFill>
                  <a:srgbClr val="3333CC"/>
                </a:solidFill>
                <a:latin typeface="Calibri" panose="020F0502020204030204" pitchFamily="34" charset="0"/>
              </a:rPr>
              <a:t>twilight</a:t>
            </a:r>
            <a:r>
              <a:rPr lang="en-AU" sz="1750" b="0" strike="noStrike" spc="-9" dirty="0">
                <a:solidFill>
                  <a:srgbClr val="3333CC"/>
                </a:solidFill>
                <a:latin typeface="Calibri" panose="020F0502020204030204" pitchFamily="34" charset="0"/>
              </a:rPr>
              <a:t> </a:t>
            </a:r>
            <a:r>
              <a:rPr lang="en-AU" sz="1750" b="0" strike="noStrike" spc="-52" dirty="0">
                <a:solidFill>
                  <a:srgbClr val="3333CC"/>
                </a:solidFill>
                <a:latin typeface="Calibri" panose="020F0502020204030204" pitchFamily="34" charset="0"/>
              </a:rPr>
              <a:t>zone</a:t>
            </a:r>
            <a:r>
              <a:rPr lang="en-AU" sz="1750" b="0" strike="noStrike" spc="-52" dirty="0">
                <a:solidFill>
                  <a:srgbClr val="000000"/>
                </a:solidFill>
                <a:latin typeface="Calibri" panose="020F0502020204030204" pitchFamily="34" charset="0"/>
              </a:rPr>
              <a:t>.</a:t>
            </a:r>
            <a:endParaRPr lang="en-AU" sz="1750" b="0" strike="noStrike" spc="-1" dirty="0">
              <a:latin typeface="Calibri" panose="020F0502020204030204" pitchFamily="34" charset="0"/>
            </a:endParaRPr>
          </a:p>
        </p:txBody>
      </p:sp>
      <p:grpSp>
        <p:nvGrpSpPr>
          <p:cNvPr id="197" name="Group 4"/>
          <p:cNvGrpSpPr/>
          <p:nvPr/>
        </p:nvGrpSpPr>
        <p:grpSpPr>
          <a:xfrm>
            <a:off x="491979" y="4181159"/>
            <a:ext cx="354600" cy="659160"/>
            <a:chOff x="1019880" y="4811760"/>
            <a:chExt cx="354600" cy="659160"/>
          </a:xfrm>
        </p:grpSpPr>
        <p:sp>
          <p:nvSpPr>
            <p:cNvPr id="198" name="CustomShape 5"/>
            <p:cNvSpPr/>
            <p:nvPr/>
          </p:nvSpPr>
          <p:spPr>
            <a:xfrm>
              <a:off x="1019880" y="4811760"/>
              <a:ext cx="354600" cy="659160"/>
            </a:xfrm>
            <a:custGeom>
              <a:avLst/>
              <a:gdLst/>
              <a:ahLst/>
              <a:cxnLst/>
              <a:rect l="l" t="t" r="r" b="b"/>
              <a:pathLst>
                <a:path w="365125" h="678179">
                  <a:moveTo>
                    <a:pt x="364997" y="678180"/>
                  </a:moveTo>
                  <a:lnTo>
                    <a:pt x="275081" y="393192"/>
                  </a:lnTo>
                  <a:lnTo>
                    <a:pt x="324611" y="382524"/>
                  </a:lnTo>
                  <a:lnTo>
                    <a:pt x="236981" y="201930"/>
                  </a:lnTo>
                  <a:lnTo>
                    <a:pt x="285750" y="195834"/>
                  </a:lnTo>
                  <a:lnTo>
                    <a:pt x="232409" y="0"/>
                  </a:lnTo>
                  <a:lnTo>
                    <a:pt x="0" y="44196"/>
                  </a:lnTo>
                  <a:lnTo>
                    <a:pt x="142494" y="220218"/>
                  </a:lnTo>
                  <a:lnTo>
                    <a:pt x="70865" y="237744"/>
                  </a:lnTo>
                  <a:lnTo>
                    <a:pt x="206501" y="402336"/>
                  </a:lnTo>
                  <a:lnTo>
                    <a:pt x="145541" y="413765"/>
                  </a:lnTo>
                  <a:lnTo>
                    <a:pt x="364997" y="678180"/>
                  </a:lnTo>
                  <a:close/>
                </a:path>
              </a:pathLst>
            </a:custGeom>
            <a:solidFill>
              <a:srgbClr val="FFFF01"/>
            </a:solidFill>
            <a:ln>
              <a:noFill/>
            </a:ln>
          </p:spPr>
          <p:style>
            <a:lnRef idx="0">
              <a:srgbClr val="FFFFFF"/>
            </a:lnRef>
            <a:fillRef idx="0">
              <a:srgbClr val="FFFFFF"/>
            </a:fillRef>
            <a:effectRef idx="0">
              <a:srgbClr val="FFFFFF"/>
            </a:effectRef>
            <a:fontRef idx="minor"/>
          </p:style>
        </p:sp>
        <p:sp>
          <p:nvSpPr>
            <p:cNvPr id="199" name="CustomShape 6"/>
            <p:cNvSpPr/>
            <p:nvPr/>
          </p:nvSpPr>
          <p:spPr>
            <a:xfrm>
              <a:off x="1019880" y="4811760"/>
              <a:ext cx="354600" cy="659160"/>
            </a:xfrm>
            <a:custGeom>
              <a:avLst/>
              <a:gdLst/>
              <a:ahLst/>
              <a:cxnLst/>
              <a:rect l="l" t="t" r="r" b="b"/>
              <a:pathLst>
                <a:path w="365125" h="678179">
                  <a:moveTo>
                    <a:pt x="232409" y="0"/>
                  </a:moveTo>
                  <a:lnTo>
                    <a:pt x="0" y="44196"/>
                  </a:lnTo>
                  <a:lnTo>
                    <a:pt x="142494" y="220218"/>
                  </a:lnTo>
                  <a:lnTo>
                    <a:pt x="70865" y="237744"/>
                  </a:lnTo>
                  <a:lnTo>
                    <a:pt x="206501" y="402336"/>
                  </a:lnTo>
                  <a:lnTo>
                    <a:pt x="145541" y="413765"/>
                  </a:lnTo>
                  <a:lnTo>
                    <a:pt x="364997" y="678180"/>
                  </a:lnTo>
                  <a:lnTo>
                    <a:pt x="275081" y="393192"/>
                  </a:lnTo>
                  <a:lnTo>
                    <a:pt x="324611" y="382524"/>
                  </a:lnTo>
                  <a:lnTo>
                    <a:pt x="236981" y="201930"/>
                  </a:lnTo>
                  <a:lnTo>
                    <a:pt x="285750" y="195834"/>
                  </a:lnTo>
                  <a:lnTo>
                    <a:pt x="232409" y="0"/>
                  </a:lnTo>
                  <a:close/>
                </a:path>
              </a:pathLst>
            </a:custGeom>
            <a:noFill/>
            <a:ln w="9360">
              <a:solidFill>
                <a:srgbClr val="010101"/>
              </a:solidFill>
              <a:round/>
            </a:ln>
          </p:spPr>
          <p:style>
            <a:lnRef idx="0">
              <a:srgbClr val="FFFFFF"/>
            </a:lnRef>
            <a:fillRef idx="0">
              <a:srgbClr val="FFFFFF"/>
            </a:fillRef>
            <a:effectRef idx="0">
              <a:srgbClr val="FFFFFF"/>
            </a:effectRef>
            <a:fontRef idx="minor"/>
          </p:style>
        </p:sp>
      </p:grpSp>
      <p:pic>
        <p:nvPicPr>
          <p:cNvPr id="2" name="Picture 1"/>
          <p:cNvPicPr>
            <a:picLocks noChangeAspect="1"/>
          </p:cNvPicPr>
          <p:nvPr/>
        </p:nvPicPr>
        <p:blipFill>
          <a:blip r:embed="rId2"/>
          <a:stretch>
            <a:fillRect/>
          </a:stretch>
        </p:blipFill>
        <p:spPr>
          <a:xfrm>
            <a:off x="1262360" y="5390567"/>
            <a:ext cx="6844665" cy="18599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Picture 3"/>
          <p:cNvPicPr/>
          <p:nvPr/>
        </p:nvPicPr>
        <p:blipFill>
          <a:blip r:embed="rId2"/>
          <a:stretch>
            <a:fillRect/>
          </a:stretch>
        </p:blipFill>
        <p:spPr>
          <a:xfrm>
            <a:off x="1160640" y="402120"/>
            <a:ext cx="7967520" cy="3255120"/>
          </a:xfrm>
          <a:prstGeom prst="rect">
            <a:avLst/>
          </a:prstGeom>
          <a:ln>
            <a:noFill/>
          </a:ln>
        </p:spPr>
      </p:pic>
      <p:pic>
        <p:nvPicPr>
          <p:cNvPr id="201" name="Picture 4"/>
          <p:cNvPicPr/>
          <p:nvPr/>
        </p:nvPicPr>
        <p:blipFill>
          <a:blip r:embed="rId3"/>
          <a:srcRect r="46273" b="48933"/>
          <a:stretch>
            <a:fillRect/>
          </a:stretch>
        </p:blipFill>
        <p:spPr>
          <a:xfrm>
            <a:off x="1535400" y="3882240"/>
            <a:ext cx="7165440" cy="340056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Shape 1"/>
          <p:cNvSpPr txBox="1"/>
          <p:nvPr/>
        </p:nvSpPr>
        <p:spPr>
          <a:xfrm>
            <a:off x="756360" y="2342520"/>
            <a:ext cx="8570880" cy="1586520"/>
          </a:xfrm>
          <a:prstGeom prst="rect">
            <a:avLst/>
          </a:prstGeom>
          <a:noFill/>
          <a:ln>
            <a:noFill/>
          </a:ln>
        </p:spPr>
        <p:txBody>
          <a:bodyPr lIns="0" tIns="0" rIns="0" bIns="0"/>
          <a:lstStyle/>
          <a:p>
            <a:endParaRPr lang="en-AU" sz="1800" b="0" strike="noStrike" spc="-1">
              <a:solidFill>
                <a:srgbClr val="000000"/>
              </a:solidFill>
              <a:latin typeface="Calibri"/>
            </a:endParaRPr>
          </a:p>
        </p:txBody>
      </p:sp>
      <p:sp>
        <p:nvSpPr>
          <p:cNvPr id="203" name="TextShape 2"/>
          <p:cNvSpPr txBox="1"/>
          <p:nvPr/>
        </p:nvSpPr>
        <p:spPr>
          <a:xfrm>
            <a:off x="1512720" y="4231800"/>
            <a:ext cx="7058160" cy="1888920"/>
          </a:xfrm>
          <a:prstGeom prst="rect">
            <a:avLst/>
          </a:prstGeom>
          <a:noFill/>
          <a:ln>
            <a:noFill/>
          </a:ln>
        </p:spPr>
        <p:txBody>
          <a:bodyPr lIns="0" tIns="0" rIns="0" bIns="0"/>
          <a:lstStyle/>
          <a:p>
            <a:pPr algn="ctr"/>
            <a:endParaRPr lang="en-AU" sz="3200" b="0" strike="noStrike" spc="-1" dirty="0">
              <a:latin typeface="Calibri" panose="020F0502020204030204" pitchFamily="34" charset="0"/>
            </a:endParaRPr>
          </a:p>
        </p:txBody>
      </p:sp>
      <p:pic>
        <p:nvPicPr>
          <p:cNvPr id="204" name="Picture 4"/>
          <p:cNvPicPr/>
          <p:nvPr/>
        </p:nvPicPr>
        <p:blipFill>
          <a:blip r:embed="rId2"/>
          <a:stretch>
            <a:fillRect/>
          </a:stretch>
        </p:blipFill>
        <p:spPr>
          <a:xfrm>
            <a:off x="39240" y="715680"/>
            <a:ext cx="10004760" cy="6251760"/>
          </a:xfrm>
          <a:prstGeom prst="rect">
            <a:avLst/>
          </a:prstGeom>
          <a:ln>
            <a:noFill/>
          </a:ln>
        </p:spPr>
      </p:pic>
      <p:sp>
        <p:nvSpPr>
          <p:cNvPr id="205" name="CustomShape 3"/>
          <p:cNvSpPr/>
          <p:nvPr/>
        </p:nvSpPr>
        <p:spPr>
          <a:xfrm>
            <a:off x="206280" y="7075800"/>
            <a:ext cx="8931600" cy="3034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r>
              <a:rPr lang="en-AU" sz="1400" b="0" strike="noStrike" spc="-1" dirty="0">
                <a:solidFill>
                  <a:srgbClr val="000000"/>
                </a:solidFill>
                <a:latin typeface="Calibri"/>
              </a:rPr>
              <a:t>https://ourarchive.otago.ac.nz/bitstream/handle/10523/9302/McGimpseyStephanie2019MSc.pdf</a:t>
            </a:r>
            <a:endParaRPr lang="en-AU" sz="1400" b="0" strike="noStrike" spc="-1" dirty="0">
              <a:latin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ustomShape 1"/>
          <p:cNvSpPr/>
          <p:nvPr/>
        </p:nvSpPr>
        <p:spPr>
          <a:xfrm>
            <a:off x="332640" y="6858720"/>
            <a:ext cx="8714520" cy="7290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r>
              <a:rPr lang="en-AU" sz="1400" b="0" strike="noStrike" spc="-1" dirty="0">
                <a:solidFill>
                  <a:srgbClr val="000000"/>
                </a:solidFill>
                <a:latin typeface="Calibri"/>
              </a:rPr>
              <a:t>https://ourarchive.otago.ac.nz/bitstream/handle/10523/9302/McGimpseyStephanie2019MSc.pdf</a:t>
            </a:r>
            <a:endParaRPr lang="en-AU" sz="1400" b="0" strike="noStrike" spc="-1" dirty="0">
              <a:latin typeface="Calibri" panose="020F0502020204030204" pitchFamily="34" charset="0"/>
            </a:endParaRPr>
          </a:p>
          <a:p>
            <a:pPr>
              <a:lnSpc>
                <a:spcPct val="100000"/>
              </a:lnSpc>
            </a:pPr>
            <a:r>
              <a:rPr lang="en-AU" sz="1400" b="0" strike="noStrike" spc="-1" dirty="0">
                <a:solidFill>
                  <a:srgbClr val="000000"/>
                </a:solidFill>
                <a:latin typeface="Calibri"/>
              </a:rPr>
              <a:t>https://www.ncbi.nlm.nih.gov/pmc/articles/PMC3820096/</a:t>
            </a:r>
            <a:endParaRPr lang="en-AU" sz="1400" b="0" strike="noStrike" spc="-1" dirty="0">
              <a:latin typeface="Calibri" panose="020F0502020204030204" pitchFamily="34" charset="0"/>
            </a:endParaRPr>
          </a:p>
        </p:txBody>
      </p:sp>
      <p:pic>
        <p:nvPicPr>
          <p:cNvPr id="207" name="Picture 3"/>
          <p:cNvPicPr/>
          <p:nvPr/>
        </p:nvPicPr>
        <p:blipFill>
          <a:blip r:embed="rId2"/>
          <a:stretch>
            <a:fillRect/>
          </a:stretch>
        </p:blipFill>
        <p:spPr>
          <a:xfrm>
            <a:off x="754560" y="727200"/>
            <a:ext cx="8292600" cy="1675440"/>
          </a:xfrm>
          <a:prstGeom prst="rect">
            <a:avLst/>
          </a:prstGeom>
          <a:ln>
            <a:noFill/>
          </a:ln>
        </p:spPr>
      </p:pic>
      <p:pic>
        <p:nvPicPr>
          <p:cNvPr id="208" name="Picture 6"/>
          <p:cNvPicPr/>
          <p:nvPr/>
        </p:nvPicPr>
        <p:blipFill>
          <a:blip r:embed="rId3"/>
          <a:stretch>
            <a:fillRect/>
          </a:stretch>
        </p:blipFill>
        <p:spPr>
          <a:xfrm>
            <a:off x="754560" y="2838600"/>
            <a:ext cx="8532720" cy="1362240"/>
          </a:xfrm>
          <a:prstGeom prst="rect">
            <a:avLst/>
          </a:prstGeom>
          <a:ln>
            <a:noFill/>
          </a:ln>
        </p:spPr>
      </p:pic>
      <p:pic>
        <p:nvPicPr>
          <p:cNvPr id="209" name="Picture 7"/>
          <p:cNvPicPr/>
          <p:nvPr/>
        </p:nvPicPr>
        <p:blipFill>
          <a:blip r:embed="rId4"/>
          <a:stretch>
            <a:fillRect/>
          </a:stretch>
        </p:blipFill>
        <p:spPr>
          <a:xfrm>
            <a:off x="673200" y="4793040"/>
            <a:ext cx="8984160" cy="169056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27</a:t>
            </a:fld>
            <a:endParaRPr dirty="0"/>
          </a:p>
        </p:txBody>
      </p:sp>
      <p:sp>
        <p:nvSpPr>
          <p:cNvPr id="2" name="object 2"/>
          <p:cNvSpPr txBox="1">
            <a:spLocks noGrp="1"/>
          </p:cNvSpPr>
          <p:nvPr>
            <p:ph type="title"/>
          </p:nvPr>
        </p:nvSpPr>
        <p:spPr>
          <a:xfrm>
            <a:off x="1151890" y="618490"/>
            <a:ext cx="7780019" cy="1302385"/>
          </a:xfrm>
          <a:prstGeom prst="rect">
            <a:avLst/>
          </a:prstGeom>
        </p:spPr>
        <p:txBody>
          <a:bodyPr vert="horz" wrap="square" lIns="0" tIns="195579" rIns="0" bIns="0" rtlCol="0">
            <a:spAutoFit/>
          </a:bodyPr>
          <a:lstStyle/>
          <a:p>
            <a:pPr marL="1850390" marR="5080" indent="-1242060" algn="ctr">
              <a:lnSpc>
                <a:spcPct val="100000"/>
              </a:lnSpc>
              <a:spcBef>
                <a:spcPts val="100"/>
              </a:spcBef>
            </a:pPr>
            <a:r>
              <a:rPr sz="3600" dirty="0"/>
              <a:t>Sequence</a:t>
            </a:r>
            <a:r>
              <a:rPr sz="3600" spc="-10" dirty="0"/>
              <a:t> </a:t>
            </a:r>
            <a:r>
              <a:rPr sz="3600" spc="-5" dirty="0"/>
              <a:t>Similarity</a:t>
            </a:r>
            <a:r>
              <a:rPr sz="3600" spc="-10" dirty="0"/>
              <a:t> </a:t>
            </a:r>
            <a:r>
              <a:rPr sz="3600" spc="-5" dirty="0"/>
              <a:t>Searching</a:t>
            </a:r>
            <a:r>
              <a:rPr sz="3600" spc="-10" dirty="0"/>
              <a:t> </a:t>
            </a:r>
            <a:r>
              <a:rPr sz="3600" dirty="0"/>
              <a:t>– </a:t>
            </a:r>
            <a:r>
              <a:rPr sz="3600" dirty="0">
                <a:solidFill>
                  <a:srgbClr val="3333CC"/>
                </a:solidFill>
              </a:rPr>
              <a:t>The </a:t>
            </a:r>
            <a:r>
              <a:rPr sz="3600" spc="-875" dirty="0">
                <a:solidFill>
                  <a:srgbClr val="3333CC"/>
                </a:solidFill>
              </a:rPr>
              <a:t> </a:t>
            </a:r>
            <a:r>
              <a:rPr sz="3600" spc="-5" dirty="0">
                <a:solidFill>
                  <a:srgbClr val="3333CC"/>
                </a:solidFill>
              </a:rPr>
              <a:t>statistics </a:t>
            </a:r>
            <a:r>
              <a:rPr sz="3600" dirty="0">
                <a:solidFill>
                  <a:srgbClr val="3333CC"/>
                </a:solidFill>
              </a:rPr>
              <a:t>are</a:t>
            </a:r>
            <a:r>
              <a:rPr sz="3600" spc="-10" dirty="0">
                <a:solidFill>
                  <a:srgbClr val="3333CC"/>
                </a:solidFill>
              </a:rPr>
              <a:t> </a:t>
            </a:r>
            <a:r>
              <a:rPr sz="3600" spc="-5" dirty="0">
                <a:solidFill>
                  <a:srgbClr val="3333CC"/>
                </a:solidFill>
              </a:rPr>
              <a:t>important</a:t>
            </a:r>
          </a:p>
        </p:txBody>
      </p:sp>
      <p:sp>
        <p:nvSpPr>
          <p:cNvPr id="3" name="object 3"/>
          <p:cNvSpPr txBox="1"/>
          <p:nvPr/>
        </p:nvSpPr>
        <p:spPr>
          <a:xfrm>
            <a:off x="941069" y="2332990"/>
            <a:ext cx="170815" cy="245110"/>
          </a:xfrm>
          <a:prstGeom prst="rect">
            <a:avLst/>
          </a:prstGeom>
        </p:spPr>
        <p:txBody>
          <a:bodyPr vert="horz" wrap="square" lIns="0" tIns="11430" rIns="0" bIns="0" rtlCol="0">
            <a:spAutoFit/>
          </a:bodyPr>
          <a:lstStyle/>
          <a:p>
            <a:pPr marL="12700">
              <a:lnSpc>
                <a:spcPct val="100000"/>
              </a:lnSpc>
              <a:spcBef>
                <a:spcPts val="90"/>
              </a:spcBef>
            </a:pPr>
            <a:r>
              <a:rPr sz="1450" spc="265" dirty="0">
                <a:solidFill>
                  <a:srgbClr val="191919"/>
                </a:solidFill>
                <a:latin typeface="Calibri"/>
                <a:cs typeface="Calibri"/>
              </a:rPr>
              <a:t>●</a:t>
            </a:r>
            <a:endParaRPr sz="1450">
              <a:latin typeface="Calibri"/>
              <a:cs typeface="Calibri"/>
            </a:endParaRPr>
          </a:p>
        </p:txBody>
      </p:sp>
      <p:sp>
        <p:nvSpPr>
          <p:cNvPr id="4" name="object 4"/>
          <p:cNvSpPr txBox="1">
            <a:spLocks noGrp="1"/>
          </p:cNvSpPr>
          <p:nvPr>
            <p:ph type="body" idx="1"/>
          </p:nvPr>
        </p:nvSpPr>
        <p:spPr>
          <a:prstGeom prst="rect">
            <a:avLst/>
          </a:prstGeom>
        </p:spPr>
        <p:txBody>
          <a:bodyPr vert="horz" wrap="square" lIns="0" tIns="660400" rIns="0" bIns="0" rtlCol="0">
            <a:spAutoFit/>
          </a:bodyPr>
          <a:lstStyle/>
          <a:p>
            <a:pPr marL="748030" marR="5080" algn="just">
              <a:lnSpc>
                <a:spcPct val="100000"/>
              </a:lnSpc>
              <a:spcBef>
                <a:spcPts val="100"/>
              </a:spcBef>
            </a:pPr>
            <a:r>
              <a:rPr spc="-5" dirty="0"/>
              <a:t>Discriminating</a:t>
            </a:r>
            <a:r>
              <a:rPr dirty="0"/>
              <a:t> between real</a:t>
            </a:r>
            <a:r>
              <a:rPr spc="-5" dirty="0"/>
              <a:t> </a:t>
            </a:r>
            <a:r>
              <a:rPr dirty="0"/>
              <a:t>and </a:t>
            </a:r>
            <a:r>
              <a:rPr spc="-5" dirty="0"/>
              <a:t>artifactual </a:t>
            </a:r>
            <a:r>
              <a:rPr spc="-869" dirty="0"/>
              <a:t> </a:t>
            </a:r>
            <a:r>
              <a:rPr dirty="0"/>
              <a:t>matches </a:t>
            </a:r>
            <a:r>
              <a:rPr spc="-5" dirty="0"/>
              <a:t>is </a:t>
            </a:r>
            <a:r>
              <a:rPr dirty="0"/>
              <a:t>done using an </a:t>
            </a:r>
            <a:r>
              <a:rPr spc="-5" dirty="0"/>
              <a:t>estimate </a:t>
            </a:r>
            <a:r>
              <a:rPr dirty="0"/>
              <a:t>of </a:t>
            </a:r>
            <a:r>
              <a:rPr spc="5" dirty="0"/>
              <a:t> </a:t>
            </a:r>
            <a:r>
              <a:rPr spc="-5" dirty="0"/>
              <a:t>probability that the </a:t>
            </a:r>
            <a:r>
              <a:rPr dirty="0"/>
              <a:t>match might occur by </a:t>
            </a:r>
            <a:r>
              <a:rPr spc="5" dirty="0"/>
              <a:t> </a:t>
            </a:r>
            <a:r>
              <a:rPr dirty="0"/>
              <a:t>chance.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28</a:t>
            </a:fld>
            <a:endParaRPr dirty="0"/>
          </a:p>
        </p:txBody>
      </p:sp>
      <p:sp>
        <p:nvSpPr>
          <p:cNvPr id="2" name="object 2"/>
          <p:cNvSpPr txBox="1">
            <a:spLocks noGrp="1"/>
          </p:cNvSpPr>
          <p:nvPr>
            <p:ph type="title"/>
          </p:nvPr>
        </p:nvSpPr>
        <p:spPr>
          <a:xfrm>
            <a:off x="756360" y="377405"/>
            <a:ext cx="8570880" cy="1341000"/>
          </a:xfrm>
          <a:prstGeom prst="rect">
            <a:avLst/>
          </a:prstGeom>
        </p:spPr>
        <p:txBody>
          <a:bodyPr vert="horz" wrap="square" lIns="0" tIns="195579" rIns="0" bIns="0" rtlCol="0">
            <a:spAutoFit/>
          </a:bodyPr>
          <a:lstStyle/>
          <a:p>
            <a:pPr marL="123825" algn="ctr">
              <a:lnSpc>
                <a:spcPct val="100000"/>
              </a:lnSpc>
              <a:spcBef>
                <a:spcPts val="100"/>
              </a:spcBef>
            </a:pPr>
            <a:r>
              <a:rPr dirty="0"/>
              <a:t>What</a:t>
            </a:r>
            <a:r>
              <a:rPr spc="-15" dirty="0"/>
              <a:t> </a:t>
            </a:r>
            <a:r>
              <a:rPr dirty="0"/>
              <a:t>do</a:t>
            </a:r>
            <a:r>
              <a:rPr spc="-5" dirty="0"/>
              <a:t> the</a:t>
            </a:r>
            <a:r>
              <a:rPr spc="-10" dirty="0"/>
              <a:t> </a:t>
            </a:r>
            <a:r>
              <a:rPr spc="-5" dirty="0"/>
              <a:t>Score</a:t>
            </a:r>
            <a:r>
              <a:rPr dirty="0"/>
              <a:t> and</a:t>
            </a:r>
            <a:r>
              <a:rPr spc="-10" dirty="0"/>
              <a:t> </a:t>
            </a:r>
            <a:r>
              <a:rPr spc="-5" dirty="0"/>
              <a:t>the </a:t>
            </a:r>
            <a:r>
              <a:rPr dirty="0"/>
              <a:t>e-value </a:t>
            </a:r>
            <a:r>
              <a:rPr spc="-5" dirty="0"/>
              <a:t>really</a:t>
            </a:r>
          </a:p>
          <a:p>
            <a:pPr marL="123190" marR="121920" algn="ctr">
              <a:lnSpc>
                <a:spcPct val="100000"/>
              </a:lnSpc>
            </a:pPr>
            <a:r>
              <a:rPr dirty="0"/>
              <a:t>mean?</a:t>
            </a:r>
          </a:p>
        </p:txBody>
      </p:sp>
      <p:sp>
        <p:nvSpPr>
          <p:cNvPr id="3" name="object 3"/>
          <p:cNvSpPr txBox="1"/>
          <p:nvPr/>
        </p:nvSpPr>
        <p:spPr>
          <a:xfrm>
            <a:off x="941069" y="226821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4" name="object 4"/>
          <p:cNvSpPr txBox="1"/>
          <p:nvPr/>
        </p:nvSpPr>
        <p:spPr>
          <a:xfrm>
            <a:off x="1264919" y="2181859"/>
            <a:ext cx="7658734"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191919"/>
                </a:solidFill>
                <a:latin typeface="Arial" panose="020B0604020202020204"/>
                <a:cs typeface="Arial" panose="020B0604020202020204"/>
              </a:rPr>
              <a:t>The </a:t>
            </a:r>
            <a:r>
              <a:rPr sz="2400" spc="-5" dirty="0">
                <a:solidFill>
                  <a:srgbClr val="7F0000"/>
                </a:solidFill>
                <a:latin typeface="Arial" panose="020B0604020202020204"/>
                <a:cs typeface="Arial" panose="020B0604020202020204"/>
              </a:rPr>
              <a:t>quality</a:t>
            </a:r>
            <a:r>
              <a:rPr sz="2400" spc="5" dirty="0">
                <a:solidFill>
                  <a:srgbClr val="7F0000"/>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of </a:t>
            </a:r>
            <a:r>
              <a:rPr sz="2400" dirty="0">
                <a:solidFill>
                  <a:srgbClr val="191919"/>
                </a:solidFill>
                <a:latin typeface="Arial" panose="020B0604020202020204"/>
                <a:cs typeface="Arial" panose="020B0604020202020204"/>
              </a:rPr>
              <a:t>the</a:t>
            </a:r>
            <a:r>
              <a:rPr sz="2400" spc="-5" dirty="0">
                <a:solidFill>
                  <a:srgbClr val="191919"/>
                </a:solidFill>
                <a:latin typeface="Arial" panose="020B0604020202020204"/>
                <a:cs typeface="Arial" panose="020B0604020202020204"/>
              </a:rPr>
              <a:t> </a:t>
            </a:r>
            <a:r>
              <a:rPr sz="2400" spc="-10" dirty="0">
                <a:solidFill>
                  <a:srgbClr val="191919"/>
                </a:solidFill>
                <a:latin typeface="Arial" panose="020B0604020202020204"/>
                <a:cs typeface="Arial" panose="020B0604020202020204"/>
              </a:rPr>
              <a:t>alignment</a:t>
            </a:r>
            <a:r>
              <a:rPr sz="2400" spc="5" dirty="0">
                <a:solidFill>
                  <a:srgbClr val="191919"/>
                </a:solidFill>
                <a:latin typeface="Arial" panose="020B0604020202020204"/>
                <a:cs typeface="Arial" panose="020B0604020202020204"/>
              </a:rPr>
              <a:t> </a:t>
            </a:r>
            <a:r>
              <a:rPr sz="2400" spc="-10" dirty="0">
                <a:solidFill>
                  <a:srgbClr val="191919"/>
                </a:solidFill>
                <a:latin typeface="Arial" panose="020B0604020202020204"/>
                <a:cs typeface="Arial" panose="020B0604020202020204"/>
              </a:rPr>
              <a:t>is</a:t>
            </a:r>
            <a:r>
              <a:rPr sz="2400" spc="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represented </a:t>
            </a:r>
            <a:r>
              <a:rPr sz="2400" dirty="0">
                <a:solidFill>
                  <a:srgbClr val="191919"/>
                </a:solidFill>
                <a:latin typeface="Arial" panose="020B0604020202020204"/>
                <a:cs typeface="Arial" panose="020B0604020202020204"/>
              </a:rPr>
              <a:t>by</a:t>
            </a:r>
            <a:r>
              <a:rPr sz="2400" spc="-5" dirty="0">
                <a:solidFill>
                  <a:srgbClr val="191919"/>
                </a:solidFill>
                <a:latin typeface="Arial" panose="020B0604020202020204"/>
                <a:cs typeface="Arial" panose="020B0604020202020204"/>
              </a:rPr>
              <a:t> the Score.</a:t>
            </a:r>
            <a:endParaRPr sz="2400">
              <a:latin typeface="Arial" panose="020B0604020202020204"/>
              <a:cs typeface="Arial" panose="020B0604020202020204"/>
            </a:endParaRPr>
          </a:p>
        </p:txBody>
      </p:sp>
      <p:sp>
        <p:nvSpPr>
          <p:cNvPr id="5" name="object 5"/>
          <p:cNvSpPr txBox="1"/>
          <p:nvPr/>
        </p:nvSpPr>
        <p:spPr>
          <a:xfrm>
            <a:off x="1372869" y="2640329"/>
            <a:ext cx="107314" cy="149225"/>
          </a:xfrm>
          <a:prstGeom prst="rect">
            <a:avLst/>
          </a:prstGeom>
        </p:spPr>
        <p:txBody>
          <a:bodyPr vert="horz" wrap="square" lIns="0" tIns="13970" rIns="0" bIns="0" rtlCol="0">
            <a:spAutoFit/>
          </a:bodyPr>
          <a:lstStyle/>
          <a:p>
            <a:pPr marL="12700">
              <a:lnSpc>
                <a:spcPct val="100000"/>
              </a:lnSpc>
              <a:spcBef>
                <a:spcPts val="110"/>
              </a:spcBef>
            </a:pPr>
            <a:r>
              <a:rPr sz="800" spc="160" dirty="0">
                <a:solidFill>
                  <a:srgbClr val="191919"/>
                </a:solidFill>
                <a:latin typeface="Calibri"/>
                <a:cs typeface="Calibri"/>
              </a:rPr>
              <a:t>●</a:t>
            </a:r>
            <a:endParaRPr sz="800">
              <a:latin typeface="Calibri"/>
              <a:cs typeface="Calibri"/>
            </a:endParaRPr>
          </a:p>
        </p:txBody>
      </p:sp>
      <p:sp>
        <p:nvSpPr>
          <p:cNvPr id="6" name="object 6"/>
          <p:cNvSpPr txBox="1"/>
          <p:nvPr/>
        </p:nvSpPr>
        <p:spPr>
          <a:xfrm>
            <a:off x="1696720" y="2575559"/>
            <a:ext cx="1026794"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7F0000"/>
                </a:solidFill>
                <a:latin typeface="Arial" panose="020B0604020202020204"/>
                <a:cs typeface="Arial" panose="020B0604020202020204"/>
              </a:rPr>
              <a:t>Score</a:t>
            </a:r>
            <a:r>
              <a:rPr sz="1800" b="1" spc="-90" dirty="0">
                <a:solidFill>
                  <a:srgbClr val="7F0000"/>
                </a:solidFill>
                <a:latin typeface="Arial" panose="020B0604020202020204"/>
                <a:cs typeface="Arial" panose="020B0604020202020204"/>
              </a:rPr>
              <a:t> </a:t>
            </a:r>
            <a:r>
              <a:rPr sz="1800" b="1" dirty="0">
                <a:solidFill>
                  <a:srgbClr val="7F0000"/>
                </a:solidFill>
                <a:latin typeface="Arial" panose="020B0604020202020204"/>
                <a:cs typeface="Arial" panose="020B0604020202020204"/>
              </a:rPr>
              <a:t>(S)</a:t>
            </a:r>
            <a:endParaRPr sz="1800">
              <a:latin typeface="Arial" panose="020B0604020202020204"/>
              <a:cs typeface="Arial" panose="020B0604020202020204"/>
            </a:endParaRPr>
          </a:p>
        </p:txBody>
      </p:sp>
      <p:sp>
        <p:nvSpPr>
          <p:cNvPr id="7" name="object 7"/>
          <p:cNvSpPr txBox="1"/>
          <p:nvPr/>
        </p:nvSpPr>
        <p:spPr>
          <a:xfrm>
            <a:off x="1841500" y="2891790"/>
            <a:ext cx="110489" cy="208279"/>
          </a:xfrm>
          <a:prstGeom prst="rect">
            <a:avLst/>
          </a:prstGeom>
        </p:spPr>
        <p:txBody>
          <a:bodyPr vert="horz" wrap="square" lIns="0" tIns="12700" rIns="0" bIns="0" rtlCol="0">
            <a:spAutoFit/>
          </a:bodyPr>
          <a:lstStyle/>
          <a:p>
            <a:pPr marL="12700">
              <a:lnSpc>
                <a:spcPct val="100000"/>
              </a:lnSpc>
              <a:spcBef>
                <a:spcPts val="100"/>
              </a:spcBef>
            </a:pPr>
            <a:r>
              <a:rPr sz="1200" spc="65" dirty="0">
                <a:solidFill>
                  <a:srgbClr val="191919"/>
                </a:solidFill>
                <a:latin typeface="Calibri"/>
                <a:cs typeface="Calibri"/>
              </a:rPr>
              <a:t>–</a:t>
            </a:r>
            <a:endParaRPr sz="1200">
              <a:latin typeface="Calibri"/>
              <a:cs typeface="Calibri"/>
            </a:endParaRPr>
          </a:p>
        </p:txBody>
      </p:sp>
      <p:sp>
        <p:nvSpPr>
          <p:cNvPr id="8" name="object 8"/>
          <p:cNvSpPr txBox="1"/>
          <p:nvPr/>
        </p:nvSpPr>
        <p:spPr>
          <a:xfrm>
            <a:off x="1264919" y="2876550"/>
            <a:ext cx="7559675" cy="1440180"/>
          </a:xfrm>
          <a:prstGeom prst="rect">
            <a:avLst/>
          </a:prstGeom>
        </p:spPr>
        <p:txBody>
          <a:bodyPr vert="horz" wrap="square" lIns="0" tIns="37465" rIns="0" bIns="0" rtlCol="0">
            <a:spAutoFit/>
          </a:bodyPr>
          <a:lstStyle/>
          <a:p>
            <a:pPr marL="877570" marR="5080" algn="just">
              <a:lnSpc>
                <a:spcPct val="90000"/>
              </a:lnSpc>
              <a:spcBef>
                <a:spcPts val="295"/>
              </a:spcBef>
            </a:pPr>
            <a:r>
              <a:rPr sz="1600" spc="-5" dirty="0">
                <a:solidFill>
                  <a:srgbClr val="191919"/>
                </a:solidFill>
                <a:latin typeface="Arial" panose="020B0604020202020204"/>
                <a:cs typeface="Arial" panose="020B0604020202020204"/>
              </a:rPr>
              <a:t>The</a:t>
            </a:r>
            <a:r>
              <a:rPr sz="1600" spc="-1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score of</a:t>
            </a:r>
            <a:r>
              <a:rPr sz="1600" spc="5"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an alignment</a:t>
            </a:r>
            <a:r>
              <a:rPr sz="1600" spc="5" dirty="0">
                <a:solidFill>
                  <a:srgbClr val="191919"/>
                </a:solidFill>
                <a:latin typeface="Arial" panose="020B0604020202020204"/>
                <a:cs typeface="Arial" panose="020B0604020202020204"/>
              </a:rPr>
              <a:t> </a:t>
            </a:r>
            <a:r>
              <a:rPr sz="1600" dirty="0">
                <a:solidFill>
                  <a:srgbClr val="191919"/>
                </a:solidFill>
                <a:latin typeface="Arial" panose="020B0604020202020204"/>
                <a:cs typeface="Arial" panose="020B0604020202020204"/>
              </a:rPr>
              <a:t>is </a:t>
            </a:r>
            <a:r>
              <a:rPr sz="1600" spc="-5" dirty="0">
                <a:solidFill>
                  <a:srgbClr val="191919"/>
                </a:solidFill>
                <a:latin typeface="Arial" panose="020B0604020202020204"/>
                <a:cs typeface="Arial" panose="020B0604020202020204"/>
              </a:rPr>
              <a:t>calculated</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as</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a:t>
            </a:r>
            <a:r>
              <a:rPr sz="1600" dirty="0">
                <a:solidFill>
                  <a:srgbClr val="191919"/>
                </a:solidFill>
                <a:latin typeface="Arial" panose="020B0604020202020204"/>
                <a:cs typeface="Arial" panose="020B0604020202020204"/>
              </a:rPr>
              <a:t> sum</a:t>
            </a:r>
            <a:r>
              <a:rPr sz="1600" spc="-1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of</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substitution</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and gap </a:t>
            </a:r>
            <a:r>
              <a:rPr sz="1600" spc="-43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scores.</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Substitution scores</a:t>
            </a:r>
            <a:r>
              <a:rPr sz="1600" dirty="0">
                <a:solidFill>
                  <a:srgbClr val="191919"/>
                </a:solidFill>
                <a:latin typeface="Arial" panose="020B0604020202020204"/>
                <a:cs typeface="Arial" panose="020B0604020202020204"/>
              </a:rPr>
              <a:t> </a:t>
            </a:r>
            <a:r>
              <a:rPr sz="1600" spc="-10" dirty="0">
                <a:solidFill>
                  <a:srgbClr val="191919"/>
                </a:solidFill>
                <a:latin typeface="Arial" panose="020B0604020202020204"/>
                <a:cs typeface="Arial" panose="020B0604020202020204"/>
              </a:rPr>
              <a:t>are</a:t>
            </a:r>
            <a:r>
              <a:rPr sz="1600" spc="5"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given</a:t>
            </a:r>
            <a:r>
              <a:rPr sz="1600" spc="-1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by</a:t>
            </a:r>
            <a:r>
              <a:rPr sz="1600" dirty="0">
                <a:solidFill>
                  <a:srgbClr val="191919"/>
                </a:solidFill>
                <a:latin typeface="Arial" panose="020B0604020202020204"/>
                <a:cs typeface="Arial" panose="020B0604020202020204"/>
              </a:rPr>
              <a:t> a</a:t>
            </a:r>
            <a:r>
              <a:rPr sz="1600" spc="-5" dirty="0">
                <a:solidFill>
                  <a:srgbClr val="191919"/>
                </a:solidFill>
                <a:latin typeface="Arial" panose="020B0604020202020204"/>
                <a:cs typeface="Arial" panose="020B0604020202020204"/>
              </a:rPr>
              <a:t> look-up table</a:t>
            </a:r>
            <a:r>
              <a:rPr sz="1600" dirty="0">
                <a:solidFill>
                  <a:srgbClr val="191919"/>
                </a:solidFill>
                <a:latin typeface="Arial" panose="020B0604020202020204"/>
                <a:cs typeface="Arial" panose="020B0604020202020204"/>
              </a:rPr>
              <a:t> </a:t>
            </a:r>
            <a:r>
              <a:rPr sz="1600" spc="-30" dirty="0">
                <a:solidFill>
                  <a:srgbClr val="191919"/>
                </a:solidFill>
                <a:latin typeface="Arial" panose="020B0604020202020204"/>
                <a:cs typeface="Arial" panose="020B0604020202020204"/>
              </a:rPr>
              <a:t>(PAM,</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BLOSUM) </a:t>
            </a:r>
            <a:r>
              <a:rPr sz="1600" dirty="0">
                <a:solidFill>
                  <a:srgbClr val="191919"/>
                </a:solidFill>
                <a:latin typeface="Arial" panose="020B0604020202020204"/>
                <a:cs typeface="Arial" panose="020B0604020202020204"/>
              </a:rPr>
              <a:t> </a:t>
            </a:r>
            <a:r>
              <a:rPr sz="1600" spc="-10" dirty="0">
                <a:solidFill>
                  <a:srgbClr val="191919"/>
                </a:solidFill>
                <a:latin typeface="Arial" panose="020B0604020202020204"/>
                <a:cs typeface="Arial" panose="020B0604020202020204"/>
              </a:rPr>
              <a:t>whereas</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gap scores are assigned empirically</a:t>
            </a:r>
            <a:r>
              <a:rPr sz="1600" dirty="0">
                <a:solidFill>
                  <a:srgbClr val="191919"/>
                </a:solidFill>
                <a:latin typeface="Arial" panose="020B0604020202020204"/>
                <a:cs typeface="Arial" panose="020B0604020202020204"/>
              </a:rPr>
              <a:t> .</a:t>
            </a:r>
            <a:endParaRPr sz="1600" dirty="0">
              <a:latin typeface="Arial" panose="020B0604020202020204"/>
              <a:cs typeface="Arial" panose="020B0604020202020204"/>
            </a:endParaRPr>
          </a:p>
          <a:p>
            <a:pPr marL="12700" marR="7620">
              <a:lnSpc>
                <a:spcPts val="2590"/>
              </a:lnSpc>
              <a:spcBef>
                <a:spcPts val="625"/>
              </a:spcBef>
            </a:pPr>
            <a:r>
              <a:rPr sz="2400" spc="-5" dirty="0">
                <a:solidFill>
                  <a:srgbClr val="191919"/>
                </a:solidFill>
                <a:latin typeface="Arial" panose="020B0604020202020204"/>
                <a:cs typeface="Arial" panose="020B0604020202020204"/>
              </a:rPr>
              <a:t>The </a:t>
            </a:r>
            <a:r>
              <a:rPr sz="2400" spc="-5" dirty="0">
                <a:solidFill>
                  <a:srgbClr val="7F0000"/>
                </a:solidFill>
                <a:latin typeface="Arial" panose="020B0604020202020204"/>
                <a:cs typeface="Arial" panose="020B0604020202020204"/>
              </a:rPr>
              <a:t>significance</a:t>
            </a:r>
            <a:r>
              <a:rPr sz="2400" spc="10" dirty="0">
                <a:solidFill>
                  <a:srgbClr val="7F0000"/>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of</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each</a:t>
            </a:r>
            <a:r>
              <a:rPr sz="2400" spc="-10" dirty="0">
                <a:solidFill>
                  <a:srgbClr val="191919"/>
                </a:solidFill>
                <a:latin typeface="Arial" panose="020B0604020202020204"/>
                <a:cs typeface="Arial" panose="020B0604020202020204"/>
              </a:rPr>
              <a:t> alignment</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is</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computed as</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an </a:t>
            </a:r>
            <a:r>
              <a:rPr sz="2400" dirty="0">
                <a:solidFill>
                  <a:srgbClr val="191919"/>
                </a:solidFill>
                <a:latin typeface="Arial" panose="020B0604020202020204"/>
                <a:cs typeface="Arial" panose="020B0604020202020204"/>
              </a:rPr>
              <a:t>E </a:t>
            </a:r>
            <a:r>
              <a:rPr sz="2400" spc="-655"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value.</a:t>
            </a:r>
            <a:endParaRPr sz="2400" dirty="0">
              <a:latin typeface="Arial" panose="020B0604020202020204"/>
              <a:cs typeface="Arial" panose="020B0604020202020204"/>
            </a:endParaRPr>
          </a:p>
        </p:txBody>
      </p:sp>
      <p:sp>
        <p:nvSpPr>
          <p:cNvPr id="9" name="object 9"/>
          <p:cNvSpPr txBox="1"/>
          <p:nvPr/>
        </p:nvSpPr>
        <p:spPr>
          <a:xfrm>
            <a:off x="941069" y="368427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10" name="object 10"/>
          <p:cNvSpPr txBox="1"/>
          <p:nvPr/>
        </p:nvSpPr>
        <p:spPr>
          <a:xfrm>
            <a:off x="1372869" y="4385309"/>
            <a:ext cx="107314" cy="149225"/>
          </a:xfrm>
          <a:prstGeom prst="rect">
            <a:avLst/>
          </a:prstGeom>
        </p:spPr>
        <p:txBody>
          <a:bodyPr vert="horz" wrap="square" lIns="0" tIns="13970" rIns="0" bIns="0" rtlCol="0">
            <a:spAutoFit/>
          </a:bodyPr>
          <a:lstStyle/>
          <a:p>
            <a:pPr marL="12700">
              <a:lnSpc>
                <a:spcPct val="100000"/>
              </a:lnSpc>
              <a:spcBef>
                <a:spcPts val="110"/>
              </a:spcBef>
            </a:pPr>
            <a:r>
              <a:rPr sz="800" spc="160" dirty="0">
                <a:solidFill>
                  <a:srgbClr val="191919"/>
                </a:solidFill>
                <a:latin typeface="Calibri"/>
                <a:cs typeface="Calibri"/>
              </a:rPr>
              <a:t>●</a:t>
            </a:r>
            <a:endParaRPr sz="800">
              <a:latin typeface="Calibri"/>
              <a:cs typeface="Calibri"/>
            </a:endParaRPr>
          </a:p>
        </p:txBody>
      </p:sp>
      <p:sp>
        <p:nvSpPr>
          <p:cNvPr id="11" name="object 11"/>
          <p:cNvSpPr txBox="1"/>
          <p:nvPr/>
        </p:nvSpPr>
        <p:spPr>
          <a:xfrm>
            <a:off x="1696720" y="4320540"/>
            <a:ext cx="11938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7F0000"/>
                </a:solidFill>
                <a:latin typeface="Arial" panose="020B0604020202020204"/>
                <a:cs typeface="Arial" panose="020B0604020202020204"/>
              </a:rPr>
              <a:t>E</a:t>
            </a:r>
            <a:r>
              <a:rPr sz="1800" b="1" spc="-45" dirty="0">
                <a:solidFill>
                  <a:srgbClr val="7F0000"/>
                </a:solidFill>
                <a:latin typeface="Arial" panose="020B0604020202020204"/>
                <a:cs typeface="Arial" panose="020B0604020202020204"/>
              </a:rPr>
              <a:t> </a:t>
            </a:r>
            <a:r>
              <a:rPr sz="1800" b="1" spc="-5" dirty="0">
                <a:solidFill>
                  <a:srgbClr val="7F0000"/>
                </a:solidFill>
                <a:latin typeface="Arial" panose="020B0604020202020204"/>
                <a:cs typeface="Arial" panose="020B0604020202020204"/>
              </a:rPr>
              <a:t>value</a:t>
            </a:r>
            <a:r>
              <a:rPr sz="1800" b="1" spc="-45" dirty="0">
                <a:solidFill>
                  <a:srgbClr val="7F0000"/>
                </a:solidFill>
                <a:latin typeface="Arial" panose="020B0604020202020204"/>
                <a:cs typeface="Arial" panose="020B0604020202020204"/>
              </a:rPr>
              <a:t> </a:t>
            </a:r>
            <a:r>
              <a:rPr sz="1800" b="1" dirty="0">
                <a:solidFill>
                  <a:srgbClr val="7F0000"/>
                </a:solidFill>
                <a:latin typeface="Arial" panose="020B0604020202020204"/>
                <a:cs typeface="Arial" panose="020B0604020202020204"/>
              </a:rPr>
              <a:t>(E)</a:t>
            </a:r>
            <a:endParaRPr sz="1800">
              <a:latin typeface="Arial" panose="020B0604020202020204"/>
              <a:cs typeface="Arial" panose="020B0604020202020204"/>
            </a:endParaRPr>
          </a:p>
        </p:txBody>
      </p:sp>
      <p:sp>
        <p:nvSpPr>
          <p:cNvPr id="12" name="object 12"/>
          <p:cNvSpPr txBox="1"/>
          <p:nvPr/>
        </p:nvSpPr>
        <p:spPr>
          <a:xfrm>
            <a:off x="1841500" y="4636770"/>
            <a:ext cx="110489" cy="208279"/>
          </a:xfrm>
          <a:prstGeom prst="rect">
            <a:avLst/>
          </a:prstGeom>
        </p:spPr>
        <p:txBody>
          <a:bodyPr vert="horz" wrap="square" lIns="0" tIns="12700" rIns="0" bIns="0" rtlCol="0">
            <a:spAutoFit/>
          </a:bodyPr>
          <a:lstStyle/>
          <a:p>
            <a:pPr marL="12700">
              <a:lnSpc>
                <a:spcPct val="100000"/>
              </a:lnSpc>
              <a:spcBef>
                <a:spcPts val="100"/>
              </a:spcBef>
            </a:pPr>
            <a:r>
              <a:rPr sz="1200" spc="65" dirty="0">
                <a:solidFill>
                  <a:srgbClr val="191919"/>
                </a:solidFill>
                <a:latin typeface="Calibri"/>
                <a:cs typeface="Calibri"/>
              </a:rPr>
              <a:t>–</a:t>
            </a:r>
            <a:endParaRPr sz="1200">
              <a:latin typeface="Calibri"/>
              <a:cs typeface="Calibri"/>
            </a:endParaRPr>
          </a:p>
        </p:txBody>
      </p:sp>
      <p:sp>
        <p:nvSpPr>
          <p:cNvPr id="13" name="object 13"/>
          <p:cNvSpPr txBox="1"/>
          <p:nvPr/>
        </p:nvSpPr>
        <p:spPr>
          <a:xfrm>
            <a:off x="2129790" y="4621530"/>
            <a:ext cx="6694170" cy="701040"/>
          </a:xfrm>
          <a:prstGeom prst="rect">
            <a:avLst/>
          </a:prstGeom>
        </p:spPr>
        <p:txBody>
          <a:bodyPr vert="horz" wrap="square" lIns="0" tIns="37465" rIns="0" bIns="0" rtlCol="0">
            <a:spAutoFit/>
          </a:bodyPr>
          <a:lstStyle/>
          <a:p>
            <a:pPr marL="12700" marR="5080" algn="just">
              <a:lnSpc>
                <a:spcPct val="90000"/>
              </a:lnSpc>
              <a:spcBef>
                <a:spcPts val="295"/>
              </a:spcBef>
            </a:pPr>
            <a:r>
              <a:rPr sz="1600" spc="-5" dirty="0">
                <a:solidFill>
                  <a:srgbClr val="191919"/>
                </a:solidFill>
                <a:latin typeface="Arial" panose="020B0604020202020204"/>
                <a:cs typeface="Arial" panose="020B0604020202020204"/>
              </a:rPr>
              <a:t>Expectation value.</a:t>
            </a:r>
            <a:r>
              <a:rPr sz="1600" spc="-2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a:t>
            </a:r>
            <a:r>
              <a:rPr sz="1600" spc="-1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number of</a:t>
            </a:r>
            <a:r>
              <a:rPr sz="1600" spc="5" dirty="0">
                <a:solidFill>
                  <a:srgbClr val="191919"/>
                </a:solidFill>
                <a:latin typeface="Arial" panose="020B0604020202020204"/>
                <a:cs typeface="Arial" panose="020B0604020202020204"/>
              </a:rPr>
              <a:t> </a:t>
            </a:r>
            <a:r>
              <a:rPr sz="1600" spc="-10" dirty="0">
                <a:solidFill>
                  <a:srgbClr val="191919"/>
                </a:solidFill>
                <a:latin typeface="Arial" panose="020B0604020202020204"/>
                <a:cs typeface="Arial" panose="020B0604020202020204"/>
              </a:rPr>
              <a:t>different</a:t>
            </a:r>
            <a:r>
              <a:rPr sz="1600" spc="-5" dirty="0">
                <a:solidFill>
                  <a:srgbClr val="191919"/>
                </a:solidFill>
                <a:latin typeface="Arial" panose="020B0604020202020204"/>
                <a:cs typeface="Arial" panose="020B0604020202020204"/>
              </a:rPr>
              <a:t> alignments</a:t>
            </a:r>
            <a:r>
              <a:rPr sz="1600" spc="5"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with</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scores equivalent </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to or better than </a:t>
            </a:r>
            <a:r>
              <a:rPr sz="1600" dirty="0">
                <a:solidFill>
                  <a:srgbClr val="191919"/>
                </a:solidFill>
                <a:latin typeface="Arial" panose="020B0604020202020204"/>
                <a:cs typeface="Arial" panose="020B0604020202020204"/>
              </a:rPr>
              <a:t>S </a:t>
            </a:r>
            <a:r>
              <a:rPr sz="1600" spc="-5" dirty="0">
                <a:solidFill>
                  <a:srgbClr val="191919"/>
                </a:solidFill>
                <a:latin typeface="Arial" panose="020B0604020202020204"/>
                <a:cs typeface="Arial" panose="020B0604020202020204"/>
              </a:rPr>
              <a:t>that </a:t>
            </a:r>
            <a:r>
              <a:rPr sz="1600" spc="-10" dirty="0">
                <a:solidFill>
                  <a:srgbClr val="191919"/>
                </a:solidFill>
                <a:latin typeface="Arial" panose="020B0604020202020204"/>
                <a:cs typeface="Arial" panose="020B0604020202020204"/>
              </a:rPr>
              <a:t>are </a:t>
            </a:r>
            <a:r>
              <a:rPr sz="1600" spc="-5" dirty="0">
                <a:solidFill>
                  <a:srgbClr val="191919"/>
                </a:solidFill>
                <a:latin typeface="Arial" panose="020B0604020202020204"/>
                <a:cs typeface="Arial" panose="020B0604020202020204"/>
              </a:rPr>
              <a:t>expected </a:t>
            </a:r>
            <a:r>
              <a:rPr sz="1600" dirty="0">
                <a:solidFill>
                  <a:srgbClr val="191919"/>
                </a:solidFill>
                <a:latin typeface="Arial" panose="020B0604020202020204"/>
                <a:cs typeface="Arial" panose="020B0604020202020204"/>
              </a:rPr>
              <a:t>to </a:t>
            </a:r>
            <a:r>
              <a:rPr sz="1600" spc="-5" dirty="0">
                <a:solidFill>
                  <a:srgbClr val="191919"/>
                </a:solidFill>
                <a:latin typeface="Arial" panose="020B0604020202020204"/>
                <a:cs typeface="Arial" panose="020B0604020202020204"/>
              </a:rPr>
              <a:t>occur </a:t>
            </a:r>
            <a:r>
              <a:rPr sz="1600" dirty="0">
                <a:solidFill>
                  <a:srgbClr val="191919"/>
                </a:solidFill>
                <a:latin typeface="Arial" panose="020B0604020202020204"/>
                <a:cs typeface="Arial" panose="020B0604020202020204"/>
              </a:rPr>
              <a:t>in a </a:t>
            </a:r>
            <a:r>
              <a:rPr sz="1600" spc="-5" dirty="0">
                <a:solidFill>
                  <a:srgbClr val="191919"/>
                </a:solidFill>
                <a:latin typeface="Arial" panose="020B0604020202020204"/>
                <a:cs typeface="Arial" panose="020B0604020202020204"/>
              </a:rPr>
              <a:t>database search by </a:t>
            </a:r>
            <a:r>
              <a:rPr sz="1600" dirty="0">
                <a:solidFill>
                  <a:srgbClr val="191919"/>
                </a:solidFill>
                <a:latin typeface="Arial" panose="020B0604020202020204"/>
                <a:cs typeface="Arial" panose="020B0604020202020204"/>
              </a:rPr>
              <a:t>chance. </a:t>
            </a:r>
            <a:r>
              <a:rPr sz="1600" spc="-43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a:t>
            </a:r>
            <a:r>
              <a:rPr sz="1600" spc="-15"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lower</a:t>
            </a:r>
            <a:r>
              <a:rPr sz="1600" spc="-1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 </a:t>
            </a:r>
            <a:r>
              <a:rPr sz="1600" dirty="0">
                <a:solidFill>
                  <a:srgbClr val="191919"/>
                </a:solidFill>
                <a:latin typeface="Arial" panose="020B0604020202020204"/>
                <a:cs typeface="Arial" panose="020B0604020202020204"/>
              </a:rPr>
              <a:t>E</a:t>
            </a:r>
            <a:r>
              <a:rPr sz="1600" spc="-5" dirty="0">
                <a:solidFill>
                  <a:srgbClr val="191919"/>
                </a:solidFill>
                <a:latin typeface="Arial" panose="020B0604020202020204"/>
                <a:cs typeface="Arial" panose="020B0604020202020204"/>
              </a:rPr>
              <a:t> value,</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more significant</a:t>
            </a:r>
            <a:r>
              <a:rPr sz="1600" dirty="0">
                <a:solidFill>
                  <a:srgbClr val="191919"/>
                </a:solidFill>
                <a:latin typeface="Arial" panose="020B0604020202020204"/>
                <a:cs typeface="Arial" panose="020B0604020202020204"/>
              </a:rPr>
              <a:t> </a:t>
            </a:r>
            <a:r>
              <a:rPr sz="1600" spc="-5" dirty="0">
                <a:solidFill>
                  <a:srgbClr val="191919"/>
                </a:solidFill>
                <a:latin typeface="Arial" panose="020B0604020202020204"/>
                <a:cs typeface="Arial" panose="020B0604020202020204"/>
              </a:rPr>
              <a:t>the score.</a:t>
            </a:r>
            <a:endParaRPr sz="1600">
              <a:latin typeface="Arial" panose="020B0604020202020204"/>
              <a:cs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29</a:t>
            </a:fld>
            <a:endParaRPr dirty="0"/>
          </a:p>
        </p:txBody>
      </p:sp>
      <p:sp>
        <p:nvSpPr>
          <p:cNvPr id="2" name="object 2"/>
          <p:cNvSpPr txBox="1">
            <a:spLocks noGrp="1"/>
          </p:cNvSpPr>
          <p:nvPr>
            <p:ph type="title"/>
          </p:nvPr>
        </p:nvSpPr>
        <p:spPr>
          <a:xfrm>
            <a:off x="1146810" y="801370"/>
            <a:ext cx="7912100" cy="1000760"/>
          </a:xfrm>
          <a:prstGeom prst="rect">
            <a:avLst/>
          </a:prstGeom>
        </p:spPr>
        <p:txBody>
          <a:bodyPr vert="horz" wrap="square" lIns="0" tIns="12700" rIns="0" bIns="0" rtlCol="0">
            <a:spAutoFit/>
          </a:bodyPr>
          <a:lstStyle/>
          <a:p>
            <a:pPr algn="ctr">
              <a:lnSpc>
                <a:spcPct val="100000"/>
              </a:lnSpc>
              <a:spcBef>
                <a:spcPts val="100"/>
              </a:spcBef>
              <a:tabLst>
                <a:tab pos="2642870" algn="l"/>
              </a:tabLst>
            </a:pPr>
            <a:r>
              <a:rPr spc="-5" dirty="0"/>
              <a:t>I’m</a:t>
            </a:r>
            <a:r>
              <a:rPr spc="-10" dirty="0"/>
              <a:t> </a:t>
            </a:r>
            <a:r>
              <a:rPr dirty="0"/>
              <a:t>confused!	What</a:t>
            </a:r>
            <a:r>
              <a:rPr spc="-25" dirty="0"/>
              <a:t> </a:t>
            </a:r>
            <a:r>
              <a:rPr dirty="0"/>
              <a:t>does</a:t>
            </a:r>
            <a:r>
              <a:rPr spc="-20" dirty="0"/>
              <a:t> </a:t>
            </a:r>
            <a:r>
              <a:rPr spc="-5" dirty="0"/>
              <a:t>the</a:t>
            </a:r>
            <a:r>
              <a:rPr spc="-15" dirty="0"/>
              <a:t> </a:t>
            </a:r>
            <a:r>
              <a:rPr spc="-5" dirty="0"/>
              <a:t>E-value</a:t>
            </a:r>
            <a:r>
              <a:rPr spc="-15" dirty="0"/>
              <a:t> </a:t>
            </a:r>
            <a:r>
              <a:rPr dirty="0"/>
              <a:t>mean</a:t>
            </a:r>
          </a:p>
          <a:p>
            <a:pPr marR="120650" algn="ctr">
              <a:lnSpc>
                <a:spcPct val="100000"/>
              </a:lnSpc>
            </a:pPr>
            <a:r>
              <a:rPr dirty="0"/>
              <a:t>again?</a:t>
            </a:r>
          </a:p>
        </p:txBody>
      </p:sp>
      <p:sp>
        <p:nvSpPr>
          <p:cNvPr id="3" name="object 3"/>
          <p:cNvSpPr txBox="1"/>
          <p:nvPr/>
        </p:nvSpPr>
        <p:spPr>
          <a:xfrm>
            <a:off x="941069" y="230504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4" name="object 4"/>
          <p:cNvSpPr txBox="1"/>
          <p:nvPr/>
        </p:nvSpPr>
        <p:spPr>
          <a:xfrm>
            <a:off x="1264919" y="2217420"/>
            <a:ext cx="158115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7F0000"/>
                </a:solidFill>
                <a:latin typeface="Arial" panose="020B0604020202020204"/>
                <a:cs typeface="Arial" panose="020B0604020202020204"/>
              </a:rPr>
              <a:t>E</a:t>
            </a:r>
            <a:r>
              <a:rPr sz="2400" b="1" spc="-50" dirty="0">
                <a:solidFill>
                  <a:srgbClr val="7F0000"/>
                </a:solidFill>
                <a:latin typeface="Arial" panose="020B0604020202020204"/>
                <a:cs typeface="Arial" panose="020B0604020202020204"/>
              </a:rPr>
              <a:t> </a:t>
            </a:r>
            <a:r>
              <a:rPr sz="2400" b="1" spc="-5" dirty="0">
                <a:solidFill>
                  <a:srgbClr val="7F0000"/>
                </a:solidFill>
                <a:latin typeface="Arial" panose="020B0604020202020204"/>
                <a:cs typeface="Arial" panose="020B0604020202020204"/>
              </a:rPr>
              <a:t>value</a:t>
            </a:r>
            <a:r>
              <a:rPr sz="2400" b="1" spc="-45" dirty="0">
                <a:solidFill>
                  <a:srgbClr val="7F0000"/>
                </a:solidFill>
                <a:latin typeface="Arial" panose="020B0604020202020204"/>
                <a:cs typeface="Arial" panose="020B0604020202020204"/>
              </a:rPr>
              <a:t> </a:t>
            </a:r>
            <a:r>
              <a:rPr sz="2400" b="1" spc="-5" dirty="0">
                <a:solidFill>
                  <a:srgbClr val="7F0000"/>
                </a:solidFill>
                <a:latin typeface="Arial" panose="020B0604020202020204"/>
                <a:cs typeface="Arial" panose="020B0604020202020204"/>
              </a:rPr>
              <a:t>(E)</a:t>
            </a:r>
            <a:endParaRPr sz="2400">
              <a:latin typeface="Arial" panose="020B0604020202020204"/>
              <a:cs typeface="Arial" panose="020B0604020202020204"/>
            </a:endParaRPr>
          </a:p>
        </p:txBody>
      </p:sp>
      <p:sp>
        <p:nvSpPr>
          <p:cNvPr id="5" name="object 5"/>
          <p:cNvSpPr txBox="1"/>
          <p:nvPr/>
        </p:nvSpPr>
        <p:spPr>
          <a:xfrm>
            <a:off x="1372869" y="271907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6" name="object 6"/>
          <p:cNvSpPr txBox="1"/>
          <p:nvPr/>
        </p:nvSpPr>
        <p:spPr>
          <a:xfrm>
            <a:off x="1264919" y="2646679"/>
            <a:ext cx="7880984" cy="1687830"/>
          </a:xfrm>
          <a:prstGeom prst="rect">
            <a:avLst/>
          </a:prstGeom>
        </p:spPr>
        <p:txBody>
          <a:bodyPr vert="horz" wrap="square" lIns="0" tIns="12065" rIns="0" bIns="0" rtlCol="0">
            <a:spAutoFit/>
          </a:bodyPr>
          <a:lstStyle/>
          <a:p>
            <a:pPr marL="444500" marR="5080">
              <a:lnSpc>
                <a:spcPct val="100000"/>
              </a:lnSpc>
              <a:spcBef>
                <a:spcPts val="95"/>
              </a:spcBef>
            </a:pPr>
            <a:r>
              <a:rPr sz="2000" spc="-5" dirty="0">
                <a:solidFill>
                  <a:srgbClr val="191919"/>
                </a:solidFill>
                <a:latin typeface="Arial" panose="020B0604020202020204"/>
                <a:cs typeface="Arial" panose="020B0604020202020204"/>
              </a:rPr>
              <a:t>Expectation</a:t>
            </a:r>
            <a:r>
              <a:rPr sz="2000" dirty="0">
                <a:solidFill>
                  <a:srgbClr val="191919"/>
                </a:solidFill>
                <a:latin typeface="Arial" panose="020B0604020202020204"/>
                <a:cs typeface="Arial" panose="020B0604020202020204"/>
              </a:rPr>
              <a:t> value.</a:t>
            </a:r>
            <a:r>
              <a:rPr sz="2000" spc="-40"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The</a:t>
            </a:r>
            <a:r>
              <a:rPr sz="2000" spc="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number</a:t>
            </a:r>
            <a:r>
              <a:rPr sz="2000" spc="5"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of</a:t>
            </a:r>
            <a:r>
              <a:rPr sz="2000" dirty="0">
                <a:solidFill>
                  <a:srgbClr val="191919"/>
                </a:solidFill>
                <a:latin typeface="Arial" panose="020B0604020202020204"/>
                <a:cs typeface="Arial" panose="020B0604020202020204"/>
              </a:rPr>
              <a:t> </a:t>
            </a:r>
            <a:r>
              <a:rPr sz="2000" spc="-10" dirty="0">
                <a:solidFill>
                  <a:srgbClr val="191919"/>
                </a:solidFill>
                <a:latin typeface="Arial" panose="020B0604020202020204"/>
                <a:cs typeface="Arial" panose="020B0604020202020204"/>
              </a:rPr>
              <a:t>different</a:t>
            </a:r>
            <a:r>
              <a:rPr sz="2000"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alignments</a:t>
            </a:r>
            <a:r>
              <a:rPr sz="2000" spc="15"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with</a:t>
            </a:r>
            <a:r>
              <a:rPr sz="2000" spc="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scores </a:t>
            </a:r>
            <a:r>
              <a:rPr sz="2000" spc="-540"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equivalent </a:t>
            </a:r>
            <a:r>
              <a:rPr sz="2000" spc="-5" dirty="0">
                <a:solidFill>
                  <a:srgbClr val="191919"/>
                </a:solidFill>
                <a:latin typeface="Arial" panose="020B0604020202020204"/>
                <a:cs typeface="Arial" panose="020B0604020202020204"/>
              </a:rPr>
              <a:t>to </a:t>
            </a:r>
            <a:r>
              <a:rPr sz="2000" dirty="0">
                <a:solidFill>
                  <a:srgbClr val="191919"/>
                </a:solidFill>
                <a:latin typeface="Arial" panose="020B0604020202020204"/>
                <a:cs typeface="Arial" panose="020B0604020202020204"/>
              </a:rPr>
              <a:t>or </a:t>
            </a:r>
            <a:r>
              <a:rPr sz="2000" spc="-5" dirty="0">
                <a:solidFill>
                  <a:srgbClr val="191919"/>
                </a:solidFill>
                <a:latin typeface="Arial" panose="020B0604020202020204"/>
                <a:cs typeface="Arial" panose="020B0604020202020204"/>
              </a:rPr>
              <a:t>better than </a:t>
            </a:r>
            <a:r>
              <a:rPr sz="2000" dirty="0">
                <a:solidFill>
                  <a:srgbClr val="191919"/>
                </a:solidFill>
                <a:latin typeface="Arial" panose="020B0604020202020204"/>
                <a:cs typeface="Arial" panose="020B0604020202020204"/>
              </a:rPr>
              <a:t>S that are expected </a:t>
            </a:r>
            <a:r>
              <a:rPr sz="2000" spc="-5" dirty="0">
                <a:solidFill>
                  <a:srgbClr val="191919"/>
                </a:solidFill>
                <a:latin typeface="Arial" panose="020B0604020202020204"/>
                <a:cs typeface="Arial" panose="020B0604020202020204"/>
              </a:rPr>
              <a:t>to </a:t>
            </a:r>
            <a:r>
              <a:rPr sz="2000" dirty="0">
                <a:solidFill>
                  <a:srgbClr val="191919"/>
                </a:solidFill>
                <a:latin typeface="Arial" panose="020B0604020202020204"/>
                <a:cs typeface="Arial" panose="020B0604020202020204"/>
              </a:rPr>
              <a:t>occur </a:t>
            </a:r>
            <a:r>
              <a:rPr sz="2000" spc="-5" dirty="0">
                <a:solidFill>
                  <a:srgbClr val="191919"/>
                </a:solidFill>
                <a:latin typeface="Arial" panose="020B0604020202020204"/>
                <a:cs typeface="Arial" panose="020B0604020202020204"/>
              </a:rPr>
              <a:t>in </a:t>
            </a:r>
            <a:r>
              <a:rPr sz="2000" dirty="0">
                <a:solidFill>
                  <a:srgbClr val="191919"/>
                </a:solidFill>
                <a:latin typeface="Arial" panose="020B0604020202020204"/>
                <a:cs typeface="Arial" panose="020B0604020202020204"/>
              </a:rPr>
              <a:t>a </a:t>
            </a:r>
            <a:r>
              <a:rPr sz="2000" spc="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database search by chance. The lower </a:t>
            </a:r>
            <a:r>
              <a:rPr sz="2000" spc="-5" dirty="0">
                <a:solidFill>
                  <a:srgbClr val="191919"/>
                </a:solidFill>
                <a:latin typeface="Arial" panose="020B0604020202020204"/>
                <a:cs typeface="Arial" panose="020B0604020202020204"/>
              </a:rPr>
              <a:t>the </a:t>
            </a:r>
            <a:r>
              <a:rPr sz="2000" dirty="0">
                <a:solidFill>
                  <a:srgbClr val="191919"/>
                </a:solidFill>
                <a:latin typeface="Arial" panose="020B0604020202020204"/>
                <a:cs typeface="Arial" panose="020B0604020202020204"/>
              </a:rPr>
              <a:t>E value, </a:t>
            </a:r>
            <a:r>
              <a:rPr sz="2000" spc="-5" dirty="0">
                <a:solidFill>
                  <a:srgbClr val="191919"/>
                </a:solidFill>
                <a:latin typeface="Arial" panose="020B0604020202020204"/>
                <a:cs typeface="Arial" panose="020B0604020202020204"/>
              </a:rPr>
              <a:t>the </a:t>
            </a:r>
            <a:r>
              <a:rPr sz="2000" dirty="0">
                <a:solidFill>
                  <a:srgbClr val="191919"/>
                </a:solidFill>
                <a:latin typeface="Arial" panose="020B0604020202020204"/>
                <a:cs typeface="Arial" panose="020B0604020202020204"/>
              </a:rPr>
              <a:t>more </a:t>
            </a:r>
            <a:r>
              <a:rPr sz="2000" spc="5"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significant</a:t>
            </a:r>
            <a:r>
              <a:rPr sz="2000" spc="-20"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the</a:t>
            </a:r>
            <a:r>
              <a:rPr sz="2000" dirty="0">
                <a:solidFill>
                  <a:srgbClr val="191919"/>
                </a:solidFill>
                <a:latin typeface="Arial" panose="020B0604020202020204"/>
                <a:cs typeface="Arial" panose="020B0604020202020204"/>
              </a:rPr>
              <a:t> score.</a:t>
            </a:r>
            <a:endParaRPr sz="2000">
              <a:latin typeface="Arial" panose="020B0604020202020204"/>
              <a:cs typeface="Arial" panose="020B0604020202020204"/>
            </a:endParaRPr>
          </a:p>
          <a:p>
            <a:pPr marL="12700">
              <a:lnSpc>
                <a:spcPct val="100000"/>
              </a:lnSpc>
              <a:spcBef>
                <a:spcPts val="600"/>
              </a:spcBef>
            </a:pPr>
            <a:r>
              <a:rPr sz="2400" spc="-5" dirty="0">
                <a:solidFill>
                  <a:srgbClr val="000066"/>
                </a:solidFill>
                <a:latin typeface="Arial" panose="020B0604020202020204"/>
                <a:cs typeface="Arial" panose="020B0604020202020204"/>
              </a:rPr>
              <a:t>When</a:t>
            </a:r>
            <a:r>
              <a:rPr sz="2400" spc="-10" dirty="0">
                <a:solidFill>
                  <a:srgbClr val="000066"/>
                </a:solidFill>
                <a:latin typeface="Arial" panose="020B0604020202020204"/>
                <a:cs typeface="Arial" panose="020B0604020202020204"/>
              </a:rPr>
              <a:t> </a:t>
            </a:r>
            <a:r>
              <a:rPr sz="2400" i="1" dirty="0">
                <a:solidFill>
                  <a:srgbClr val="000066"/>
                </a:solidFill>
                <a:latin typeface="Arial" panose="020B0604020202020204"/>
                <a:cs typeface="Arial" panose="020B0604020202020204"/>
              </a:rPr>
              <a:t>E</a:t>
            </a:r>
            <a:r>
              <a:rPr sz="2400" i="1" spc="-10" dirty="0">
                <a:solidFill>
                  <a:srgbClr val="000066"/>
                </a:solidFill>
                <a:latin typeface="Arial" panose="020B0604020202020204"/>
                <a:cs typeface="Arial" panose="020B0604020202020204"/>
              </a:rPr>
              <a:t> </a:t>
            </a:r>
            <a:r>
              <a:rPr sz="2400" dirty="0">
                <a:solidFill>
                  <a:srgbClr val="000066"/>
                </a:solidFill>
                <a:latin typeface="Arial" panose="020B0604020202020204"/>
                <a:cs typeface="Arial" panose="020B0604020202020204"/>
              </a:rPr>
              <a:t>&lt;</a:t>
            </a:r>
            <a:r>
              <a:rPr sz="2400" spc="-10" dirty="0">
                <a:solidFill>
                  <a:srgbClr val="000066"/>
                </a:solidFill>
                <a:latin typeface="Arial" panose="020B0604020202020204"/>
                <a:cs typeface="Arial" panose="020B0604020202020204"/>
              </a:rPr>
              <a:t> </a:t>
            </a:r>
            <a:r>
              <a:rPr sz="2400" spc="-5" dirty="0">
                <a:solidFill>
                  <a:srgbClr val="000066"/>
                </a:solidFill>
                <a:latin typeface="Arial" panose="020B0604020202020204"/>
                <a:cs typeface="Arial" panose="020B0604020202020204"/>
              </a:rPr>
              <a:t>0.01,</a:t>
            </a:r>
            <a:r>
              <a:rPr sz="2400" spc="5" dirty="0">
                <a:solidFill>
                  <a:srgbClr val="000066"/>
                </a:solidFill>
                <a:latin typeface="Arial" panose="020B0604020202020204"/>
                <a:cs typeface="Arial" panose="020B0604020202020204"/>
              </a:rPr>
              <a:t> </a:t>
            </a:r>
            <a:r>
              <a:rPr sz="2400" i="1" spc="-5" dirty="0">
                <a:solidFill>
                  <a:srgbClr val="000066"/>
                </a:solidFill>
                <a:latin typeface="Arial" panose="020B0604020202020204"/>
                <a:cs typeface="Arial" panose="020B0604020202020204"/>
              </a:rPr>
              <a:t>P</a:t>
            </a:r>
            <a:r>
              <a:rPr sz="2400" spc="-5" dirty="0">
                <a:solidFill>
                  <a:srgbClr val="000066"/>
                </a:solidFill>
                <a:latin typeface="Arial" panose="020B0604020202020204"/>
                <a:cs typeface="Arial" panose="020B0604020202020204"/>
              </a:rPr>
              <a:t>-values </a:t>
            </a:r>
            <a:r>
              <a:rPr sz="2400" spc="-10" dirty="0">
                <a:solidFill>
                  <a:srgbClr val="000066"/>
                </a:solidFill>
                <a:latin typeface="Arial" panose="020B0604020202020204"/>
                <a:cs typeface="Arial" panose="020B0604020202020204"/>
              </a:rPr>
              <a:t>and</a:t>
            </a:r>
            <a:r>
              <a:rPr sz="2400" spc="10" dirty="0">
                <a:solidFill>
                  <a:srgbClr val="000066"/>
                </a:solidFill>
                <a:latin typeface="Arial" panose="020B0604020202020204"/>
                <a:cs typeface="Arial" panose="020B0604020202020204"/>
              </a:rPr>
              <a:t> </a:t>
            </a:r>
            <a:r>
              <a:rPr sz="2400" i="1" spc="-5" dirty="0">
                <a:solidFill>
                  <a:srgbClr val="000066"/>
                </a:solidFill>
                <a:latin typeface="Arial" panose="020B0604020202020204"/>
                <a:cs typeface="Arial" panose="020B0604020202020204"/>
              </a:rPr>
              <a:t>E</a:t>
            </a:r>
            <a:r>
              <a:rPr sz="2400" spc="-5" dirty="0">
                <a:solidFill>
                  <a:srgbClr val="000066"/>
                </a:solidFill>
                <a:latin typeface="Arial" panose="020B0604020202020204"/>
                <a:cs typeface="Arial" panose="020B0604020202020204"/>
              </a:rPr>
              <a:t>-value</a:t>
            </a:r>
            <a:r>
              <a:rPr sz="2400" spc="-15" dirty="0">
                <a:solidFill>
                  <a:srgbClr val="000066"/>
                </a:solidFill>
                <a:latin typeface="Arial" panose="020B0604020202020204"/>
                <a:cs typeface="Arial" panose="020B0604020202020204"/>
              </a:rPr>
              <a:t> </a:t>
            </a:r>
            <a:r>
              <a:rPr sz="2400" dirty="0">
                <a:solidFill>
                  <a:srgbClr val="000066"/>
                </a:solidFill>
                <a:latin typeface="Arial" panose="020B0604020202020204"/>
                <a:cs typeface="Arial" panose="020B0604020202020204"/>
              </a:rPr>
              <a:t>are </a:t>
            </a:r>
            <a:r>
              <a:rPr sz="2400" spc="-5" dirty="0">
                <a:solidFill>
                  <a:srgbClr val="000066"/>
                </a:solidFill>
                <a:latin typeface="Arial" panose="020B0604020202020204"/>
                <a:cs typeface="Arial" panose="020B0604020202020204"/>
              </a:rPr>
              <a:t>nearly</a:t>
            </a:r>
            <a:r>
              <a:rPr sz="2400" spc="5" dirty="0">
                <a:solidFill>
                  <a:srgbClr val="000066"/>
                </a:solidFill>
                <a:latin typeface="Arial" panose="020B0604020202020204"/>
                <a:cs typeface="Arial" panose="020B0604020202020204"/>
              </a:rPr>
              <a:t> </a:t>
            </a:r>
            <a:r>
              <a:rPr sz="2400" spc="-5" dirty="0">
                <a:solidFill>
                  <a:srgbClr val="000066"/>
                </a:solidFill>
                <a:latin typeface="Arial" panose="020B0604020202020204"/>
                <a:cs typeface="Arial" panose="020B0604020202020204"/>
              </a:rPr>
              <a:t>identical.</a:t>
            </a:r>
            <a:endParaRPr sz="2400">
              <a:latin typeface="Arial" panose="020B0604020202020204"/>
              <a:cs typeface="Arial" panose="020B0604020202020204"/>
            </a:endParaRPr>
          </a:p>
        </p:txBody>
      </p:sp>
      <p:sp>
        <p:nvSpPr>
          <p:cNvPr id="7" name="object 7"/>
          <p:cNvSpPr txBox="1"/>
          <p:nvPr/>
        </p:nvSpPr>
        <p:spPr>
          <a:xfrm>
            <a:off x="941069" y="4029710"/>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8" name="object 8"/>
          <p:cNvSpPr txBox="1"/>
          <p:nvPr/>
        </p:nvSpPr>
        <p:spPr>
          <a:xfrm>
            <a:off x="1372869" y="4443729"/>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9" name="object 9"/>
          <p:cNvSpPr txBox="1"/>
          <p:nvPr/>
        </p:nvSpPr>
        <p:spPr>
          <a:xfrm>
            <a:off x="1696720" y="4371340"/>
            <a:ext cx="7301865" cy="941069"/>
          </a:xfrm>
          <a:prstGeom prst="rect">
            <a:avLst/>
          </a:prstGeom>
        </p:spPr>
        <p:txBody>
          <a:bodyPr vert="horz" wrap="square" lIns="0" tIns="12065" rIns="0" bIns="0" rtlCol="0">
            <a:spAutoFit/>
          </a:bodyPr>
          <a:lstStyle/>
          <a:p>
            <a:pPr marL="12700" marR="5080">
              <a:lnSpc>
                <a:spcPct val="100000"/>
              </a:lnSpc>
              <a:spcBef>
                <a:spcPts val="95"/>
              </a:spcBef>
            </a:pPr>
            <a:r>
              <a:rPr sz="2000" spc="-5" dirty="0">
                <a:solidFill>
                  <a:srgbClr val="191919"/>
                </a:solidFill>
                <a:latin typeface="Arial" panose="020B0604020202020204"/>
                <a:cs typeface="Arial" panose="020B0604020202020204"/>
              </a:rPr>
              <a:t>So, the E-value is the </a:t>
            </a:r>
            <a:r>
              <a:rPr sz="2000" dirty="0">
                <a:solidFill>
                  <a:srgbClr val="191919"/>
                </a:solidFill>
                <a:latin typeface="Arial" panose="020B0604020202020204"/>
                <a:cs typeface="Arial" panose="020B0604020202020204"/>
              </a:rPr>
              <a:t>number </a:t>
            </a:r>
            <a:r>
              <a:rPr sz="2000" spc="-5" dirty="0">
                <a:solidFill>
                  <a:srgbClr val="191919"/>
                </a:solidFill>
                <a:latin typeface="Arial" panose="020B0604020202020204"/>
                <a:cs typeface="Arial" panose="020B0604020202020204"/>
              </a:rPr>
              <a:t>of </a:t>
            </a:r>
            <a:r>
              <a:rPr sz="2000" dirty="0">
                <a:solidFill>
                  <a:srgbClr val="191919"/>
                </a:solidFill>
                <a:latin typeface="Arial" panose="020B0604020202020204"/>
                <a:cs typeface="Arial" panose="020B0604020202020204"/>
              </a:rPr>
              <a:t>times you expect to see your hit </a:t>
            </a:r>
            <a:r>
              <a:rPr sz="2000" spc="-54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occur</a:t>
            </a:r>
            <a:r>
              <a:rPr sz="2000" spc="5"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in</a:t>
            </a:r>
            <a:r>
              <a:rPr sz="2000"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the</a:t>
            </a:r>
            <a:r>
              <a:rPr sz="2000" spc="-10"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database </a:t>
            </a:r>
            <a:r>
              <a:rPr sz="2000" spc="-5" dirty="0">
                <a:solidFill>
                  <a:srgbClr val="191919"/>
                </a:solidFill>
                <a:latin typeface="Arial" panose="020B0604020202020204"/>
                <a:cs typeface="Arial" panose="020B0604020202020204"/>
              </a:rPr>
              <a:t>(with</a:t>
            </a:r>
            <a:r>
              <a:rPr sz="2000" dirty="0">
                <a:solidFill>
                  <a:srgbClr val="191919"/>
                </a:solidFill>
                <a:latin typeface="Arial" panose="020B0604020202020204"/>
                <a:cs typeface="Arial" panose="020B0604020202020204"/>
              </a:rPr>
              <a:t> as good</a:t>
            </a:r>
            <a:r>
              <a:rPr sz="2000" spc="-10"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as </a:t>
            </a:r>
            <a:r>
              <a:rPr sz="2000" spc="-5" dirty="0">
                <a:solidFill>
                  <a:srgbClr val="191919"/>
                </a:solidFill>
                <a:latin typeface="Arial" panose="020B0604020202020204"/>
                <a:cs typeface="Arial" panose="020B0604020202020204"/>
              </a:rPr>
              <a:t>or</a:t>
            </a:r>
            <a:r>
              <a:rPr sz="2000" spc="5"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better </a:t>
            </a:r>
            <a:r>
              <a:rPr sz="2000" dirty="0">
                <a:solidFill>
                  <a:srgbClr val="191919"/>
                </a:solidFill>
                <a:latin typeface="Arial" panose="020B0604020202020204"/>
                <a:cs typeface="Arial" panose="020B0604020202020204"/>
              </a:rPr>
              <a:t>score)</a:t>
            </a:r>
            <a:r>
              <a:rPr sz="2000" spc="-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due </a:t>
            </a:r>
            <a:r>
              <a:rPr sz="2000" spc="-5" dirty="0">
                <a:solidFill>
                  <a:srgbClr val="191919"/>
                </a:solidFill>
                <a:latin typeface="Arial" panose="020B0604020202020204"/>
                <a:cs typeface="Arial" panose="020B0604020202020204"/>
              </a:rPr>
              <a:t>to </a:t>
            </a:r>
            <a:r>
              <a:rPr sz="2000" dirty="0">
                <a:solidFill>
                  <a:srgbClr val="191919"/>
                </a:solidFill>
                <a:latin typeface="Arial" panose="020B0604020202020204"/>
                <a:cs typeface="Arial" panose="020B0604020202020204"/>
              </a:rPr>
              <a:t> random</a:t>
            </a:r>
            <a:r>
              <a:rPr sz="2000" spc="-10"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chance alone.</a:t>
            </a:r>
            <a:endParaRPr sz="2000">
              <a:latin typeface="Arial" panose="020B0604020202020204"/>
              <a:cs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t>30</a:t>
            </a:fld>
            <a:endParaRPr dirty="0"/>
          </a:p>
        </p:txBody>
      </p:sp>
      <p:sp>
        <p:nvSpPr>
          <p:cNvPr id="2" name="object 2"/>
          <p:cNvSpPr txBox="1">
            <a:spLocks noGrp="1"/>
          </p:cNvSpPr>
          <p:nvPr>
            <p:ph type="title"/>
          </p:nvPr>
        </p:nvSpPr>
        <p:spPr>
          <a:xfrm>
            <a:off x="2840989" y="953770"/>
            <a:ext cx="4590415" cy="695960"/>
          </a:xfrm>
          <a:prstGeom prst="rect">
            <a:avLst/>
          </a:prstGeom>
        </p:spPr>
        <p:txBody>
          <a:bodyPr vert="horz" wrap="square" lIns="0" tIns="12700" rIns="0" bIns="0" rtlCol="0">
            <a:spAutoFit/>
          </a:bodyPr>
          <a:lstStyle/>
          <a:p>
            <a:pPr marL="12700">
              <a:lnSpc>
                <a:spcPct val="100000"/>
              </a:lnSpc>
              <a:spcBef>
                <a:spcPts val="100"/>
              </a:spcBef>
              <a:tabLst>
                <a:tab pos="1626870" algn="l"/>
              </a:tabLst>
            </a:pPr>
            <a:r>
              <a:rPr sz="4400" spc="-5" dirty="0"/>
              <a:t>Notes	on</a:t>
            </a:r>
            <a:r>
              <a:rPr sz="4400" spc="-75" dirty="0"/>
              <a:t> </a:t>
            </a:r>
            <a:r>
              <a:rPr sz="4400" spc="-5" dirty="0"/>
              <a:t>E-values</a:t>
            </a:r>
            <a:endParaRPr sz="4400"/>
          </a:p>
        </p:txBody>
      </p:sp>
      <p:sp>
        <p:nvSpPr>
          <p:cNvPr id="3" name="object 3"/>
          <p:cNvSpPr txBox="1"/>
          <p:nvPr/>
        </p:nvSpPr>
        <p:spPr>
          <a:xfrm>
            <a:off x="941069" y="230504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4" name="object 4"/>
          <p:cNvSpPr txBox="1"/>
          <p:nvPr/>
        </p:nvSpPr>
        <p:spPr>
          <a:xfrm>
            <a:off x="1264919" y="2217420"/>
            <a:ext cx="7420609"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191919"/>
                </a:solidFill>
                <a:latin typeface="Arial" panose="020B0604020202020204"/>
                <a:cs typeface="Arial" panose="020B0604020202020204"/>
              </a:rPr>
              <a:t>Low</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E-values suggest that sequences are </a:t>
            </a:r>
            <a:r>
              <a:rPr sz="2400" spc="-10" dirty="0">
                <a:solidFill>
                  <a:srgbClr val="191919"/>
                </a:solidFill>
                <a:latin typeface="Arial" panose="020B0604020202020204"/>
                <a:cs typeface="Arial" panose="020B0604020202020204"/>
              </a:rPr>
              <a:t>homologous</a:t>
            </a:r>
            <a:endParaRPr sz="2400">
              <a:latin typeface="Arial" panose="020B0604020202020204"/>
              <a:cs typeface="Arial" panose="020B0604020202020204"/>
            </a:endParaRPr>
          </a:p>
        </p:txBody>
      </p:sp>
      <p:sp>
        <p:nvSpPr>
          <p:cNvPr id="5" name="object 5"/>
          <p:cNvSpPr txBox="1"/>
          <p:nvPr/>
        </p:nvSpPr>
        <p:spPr>
          <a:xfrm>
            <a:off x="1372869" y="271907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6" name="object 6"/>
          <p:cNvSpPr txBox="1"/>
          <p:nvPr/>
        </p:nvSpPr>
        <p:spPr>
          <a:xfrm>
            <a:off x="1696720" y="2646679"/>
            <a:ext cx="296735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191919"/>
                </a:solidFill>
                <a:latin typeface="Arial" panose="020B0604020202020204"/>
                <a:cs typeface="Arial" panose="020B0604020202020204"/>
              </a:rPr>
              <a:t>Can’t</a:t>
            </a:r>
            <a:r>
              <a:rPr sz="2000" spc="-4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show</a:t>
            </a:r>
            <a:r>
              <a:rPr sz="2000" spc="-40"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non-homology</a:t>
            </a:r>
            <a:endParaRPr sz="2000">
              <a:latin typeface="Arial" panose="020B0604020202020204"/>
              <a:cs typeface="Arial" panose="020B0604020202020204"/>
            </a:endParaRPr>
          </a:p>
        </p:txBody>
      </p:sp>
      <p:sp>
        <p:nvSpPr>
          <p:cNvPr id="7" name="object 7"/>
          <p:cNvSpPr txBox="1"/>
          <p:nvPr/>
        </p:nvSpPr>
        <p:spPr>
          <a:xfrm>
            <a:off x="941069" y="3114039"/>
            <a:ext cx="134620" cy="190500"/>
          </a:xfrm>
          <a:prstGeom prst="rect">
            <a:avLst/>
          </a:prstGeom>
        </p:spPr>
        <p:txBody>
          <a:bodyPr vert="horz" wrap="square" lIns="0" tIns="16510" rIns="0" bIns="0" rtlCol="0">
            <a:spAutoFit/>
          </a:bodyPr>
          <a:lstStyle/>
          <a:p>
            <a:pPr marL="12700">
              <a:lnSpc>
                <a:spcPct val="100000"/>
              </a:lnSpc>
              <a:spcBef>
                <a:spcPts val="130"/>
              </a:spcBef>
            </a:pPr>
            <a:r>
              <a:rPr sz="1050" spc="220" dirty="0">
                <a:solidFill>
                  <a:srgbClr val="191919"/>
                </a:solidFill>
                <a:latin typeface="Calibri"/>
                <a:cs typeface="Calibri"/>
              </a:rPr>
              <a:t>●</a:t>
            </a:r>
            <a:endParaRPr sz="1050">
              <a:latin typeface="Calibri"/>
              <a:cs typeface="Calibri"/>
            </a:endParaRPr>
          </a:p>
        </p:txBody>
      </p:sp>
      <p:sp>
        <p:nvSpPr>
          <p:cNvPr id="8" name="object 8"/>
          <p:cNvSpPr txBox="1"/>
          <p:nvPr/>
        </p:nvSpPr>
        <p:spPr>
          <a:xfrm>
            <a:off x="1264919" y="3027679"/>
            <a:ext cx="7334884" cy="756920"/>
          </a:xfrm>
          <a:prstGeom prst="rect">
            <a:avLst/>
          </a:prstGeom>
        </p:spPr>
        <p:txBody>
          <a:bodyPr vert="horz" wrap="square" lIns="0" tIns="12700" rIns="0" bIns="0" rtlCol="0">
            <a:spAutoFit/>
          </a:bodyPr>
          <a:lstStyle/>
          <a:p>
            <a:pPr marL="12700" marR="5080">
              <a:lnSpc>
                <a:spcPct val="100000"/>
              </a:lnSpc>
              <a:spcBef>
                <a:spcPts val="100"/>
              </a:spcBef>
            </a:pPr>
            <a:r>
              <a:rPr sz="2400" spc="-5" dirty="0">
                <a:solidFill>
                  <a:srgbClr val="191919"/>
                </a:solidFill>
                <a:latin typeface="Arial" panose="020B0604020202020204"/>
                <a:cs typeface="Arial" panose="020B0604020202020204"/>
              </a:rPr>
              <a:t>Statistical</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significance </a:t>
            </a:r>
            <a:r>
              <a:rPr sz="2400" spc="-10" dirty="0">
                <a:solidFill>
                  <a:srgbClr val="191919"/>
                </a:solidFill>
                <a:latin typeface="Arial" panose="020B0604020202020204"/>
                <a:cs typeface="Arial" panose="020B0604020202020204"/>
              </a:rPr>
              <a:t>depends</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on both </a:t>
            </a:r>
            <a:r>
              <a:rPr sz="2400" dirty="0">
                <a:solidFill>
                  <a:srgbClr val="191919"/>
                </a:solidFill>
                <a:latin typeface="Arial" panose="020B0604020202020204"/>
                <a:cs typeface="Arial" panose="020B0604020202020204"/>
              </a:rPr>
              <a:t>the</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size of</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the </a:t>
            </a:r>
            <a:r>
              <a:rPr sz="2400" spc="-655" dirty="0">
                <a:solidFill>
                  <a:srgbClr val="191919"/>
                </a:solidFill>
                <a:latin typeface="Arial" panose="020B0604020202020204"/>
                <a:cs typeface="Arial" panose="020B0604020202020204"/>
              </a:rPr>
              <a:t> </a:t>
            </a:r>
            <a:r>
              <a:rPr sz="2400" spc="-10" dirty="0">
                <a:solidFill>
                  <a:srgbClr val="191919"/>
                </a:solidFill>
                <a:latin typeface="Arial" panose="020B0604020202020204"/>
                <a:cs typeface="Arial" panose="020B0604020202020204"/>
              </a:rPr>
              <a:t>alignments</a:t>
            </a:r>
            <a:r>
              <a:rPr sz="2400" spc="5" dirty="0">
                <a:solidFill>
                  <a:srgbClr val="191919"/>
                </a:solidFill>
                <a:latin typeface="Arial" panose="020B0604020202020204"/>
                <a:cs typeface="Arial" panose="020B0604020202020204"/>
              </a:rPr>
              <a:t> </a:t>
            </a:r>
            <a:r>
              <a:rPr sz="2400" spc="-10" dirty="0">
                <a:solidFill>
                  <a:srgbClr val="191919"/>
                </a:solidFill>
                <a:latin typeface="Arial" panose="020B0604020202020204"/>
                <a:cs typeface="Arial" panose="020B0604020202020204"/>
              </a:rPr>
              <a:t>and</a:t>
            </a:r>
            <a:r>
              <a:rPr sz="2400" spc="-5" dirty="0">
                <a:solidFill>
                  <a:srgbClr val="191919"/>
                </a:solidFill>
                <a:latin typeface="Arial" panose="020B0604020202020204"/>
                <a:cs typeface="Arial" panose="020B0604020202020204"/>
              </a:rPr>
              <a:t> </a:t>
            </a:r>
            <a:r>
              <a:rPr sz="2400" dirty="0">
                <a:solidFill>
                  <a:srgbClr val="191919"/>
                </a:solidFill>
                <a:latin typeface="Arial" panose="020B0604020202020204"/>
                <a:cs typeface="Arial" panose="020B0604020202020204"/>
              </a:rPr>
              <a:t>the</a:t>
            </a:r>
            <a:r>
              <a:rPr sz="2400" spc="-5" dirty="0">
                <a:solidFill>
                  <a:srgbClr val="191919"/>
                </a:solidFill>
                <a:latin typeface="Arial" panose="020B0604020202020204"/>
                <a:cs typeface="Arial" panose="020B0604020202020204"/>
              </a:rPr>
              <a:t> size</a:t>
            </a:r>
            <a:r>
              <a:rPr sz="2400" spc="-10" dirty="0">
                <a:solidFill>
                  <a:srgbClr val="191919"/>
                </a:solidFill>
                <a:latin typeface="Arial" panose="020B0604020202020204"/>
                <a:cs typeface="Arial" panose="020B0604020202020204"/>
              </a:rPr>
              <a:t> </a:t>
            </a:r>
            <a:r>
              <a:rPr sz="2400" dirty="0">
                <a:solidFill>
                  <a:srgbClr val="191919"/>
                </a:solidFill>
                <a:latin typeface="Arial" panose="020B0604020202020204"/>
                <a:cs typeface="Arial" panose="020B0604020202020204"/>
              </a:rPr>
              <a:t>of </a:t>
            </a:r>
            <a:r>
              <a:rPr sz="2400" spc="-5" dirty="0">
                <a:solidFill>
                  <a:srgbClr val="191919"/>
                </a:solidFill>
                <a:latin typeface="Arial" panose="020B0604020202020204"/>
                <a:cs typeface="Arial" panose="020B0604020202020204"/>
              </a:rPr>
              <a:t>the</a:t>
            </a:r>
            <a:r>
              <a:rPr sz="240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sequence</a:t>
            </a:r>
            <a:r>
              <a:rPr sz="2400" spc="-10" dirty="0">
                <a:solidFill>
                  <a:srgbClr val="191919"/>
                </a:solidFill>
                <a:latin typeface="Arial" panose="020B0604020202020204"/>
                <a:cs typeface="Arial" panose="020B0604020202020204"/>
              </a:rPr>
              <a:t> </a:t>
            </a:r>
            <a:r>
              <a:rPr sz="2400" spc="-5" dirty="0">
                <a:solidFill>
                  <a:srgbClr val="191919"/>
                </a:solidFill>
                <a:latin typeface="Arial" panose="020B0604020202020204"/>
                <a:cs typeface="Arial" panose="020B0604020202020204"/>
              </a:rPr>
              <a:t>database</a:t>
            </a:r>
            <a:endParaRPr sz="2400">
              <a:latin typeface="Arial" panose="020B0604020202020204"/>
              <a:cs typeface="Arial" panose="020B0604020202020204"/>
            </a:endParaRPr>
          </a:p>
        </p:txBody>
      </p:sp>
      <p:sp>
        <p:nvSpPr>
          <p:cNvPr id="9" name="object 9"/>
          <p:cNvSpPr txBox="1"/>
          <p:nvPr/>
        </p:nvSpPr>
        <p:spPr>
          <a:xfrm>
            <a:off x="1372869" y="389509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10" name="object 10"/>
          <p:cNvSpPr txBox="1"/>
          <p:nvPr/>
        </p:nvSpPr>
        <p:spPr>
          <a:xfrm>
            <a:off x="1696720" y="3822700"/>
            <a:ext cx="6935470" cy="1371600"/>
          </a:xfrm>
          <a:prstGeom prst="rect">
            <a:avLst/>
          </a:prstGeom>
        </p:spPr>
        <p:txBody>
          <a:bodyPr vert="horz" wrap="square" lIns="0" tIns="12700" rIns="0" bIns="0" rtlCol="0">
            <a:spAutoFit/>
          </a:bodyPr>
          <a:lstStyle/>
          <a:p>
            <a:pPr marL="12700" marR="5080">
              <a:lnSpc>
                <a:spcPct val="100000"/>
              </a:lnSpc>
              <a:spcBef>
                <a:spcPts val="100"/>
              </a:spcBef>
            </a:pPr>
            <a:r>
              <a:rPr sz="2000" spc="-5" dirty="0">
                <a:solidFill>
                  <a:srgbClr val="191919"/>
                </a:solidFill>
                <a:latin typeface="Arial" panose="020B0604020202020204"/>
                <a:cs typeface="Arial" panose="020B0604020202020204"/>
              </a:rPr>
              <a:t>Important </a:t>
            </a:r>
            <a:r>
              <a:rPr sz="2000" dirty="0">
                <a:solidFill>
                  <a:srgbClr val="191919"/>
                </a:solidFill>
                <a:latin typeface="Arial" panose="020B0604020202020204"/>
                <a:cs typeface="Arial" panose="020B0604020202020204"/>
              </a:rPr>
              <a:t>consideration </a:t>
            </a:r>
            <a:r>
              <a:rPr sz="2000" spc="-5" dirty="0">
                <a:solidFill>
                  <a:srgbClr val="191919"/>
                </a:solidFill>
                <a:latin typeface="Arial" panose="020B0604020202020204"/>
                <a:cs typeface="Arial" panose="020B0604020202020204"/>
              </a:rPr>
              <a:t>for </a:t>
            </a:r>
            <a:r>
              <a:rPr sz="2000" dirty="0">
                <a:solidFill>
                  <a:srgbClr val="191919"/>
                </a:solidFill>
                <a:latin typeface="Arial" panose="020B0604020202020204"/>
                <a:cs typeface="Arial" panose="020B0604020202020204"/>
              </a:rPr>
              <a:t>comparing results across </a:t>
            </a:r>
            <a:r>
              <a:rPr sz="2000" spc="-5" dirty="0">
                <a:solidFill>
                  <a:srgbClr val="191919"/>
                </a:solidFill>
                <a:latin typeface="Arial" panose="020B0604020202020204"/>
                <a:cs typeface="Arial" panose="020B0604020202020204"/>
              </a:rPr>
              <a:t>different </a:t>
            </a:r>
            <a:r>
              <a:rPr sz="2000" spc="-54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searches</a:t>
            </a:r>
            <a:endParaRPr sz="2000">
              <a:latin typeface="Arial" panose="020B0604020202020204"/>
              <a:cs typeface="Arial" panose="020B0604020202020204"/>
            </a:endParaRPr>
          </a:p>
          <a:p>
            <a:pPr marL="12700" marR="1964055">
              <a:lnSpc>
                <a:spcPct val="121000"/>
              </a:lnSpc>
            </a:pPr>
            <a:r>
              <a:rPr sz="2000" spc="-5" dirty="0">
                <a:solidFill>
                  <a:srgbClr val="191919"/>
                </a:solidFill>
                <a:latin typeface="Arial" panose="020B0604020202020204"/>
                <a:cs typeface="Arial" panose="020B0604020202020204"/>
              </a:rPr>
              <a:t>E-value </a:t>
            </a:r>
            <a:r>
              <a:rPr sz="2000" dirty="0">
                <a:solidFill>
                  <a:srgbClr val="191919"/>
                </a:solidFill>
                <a:latin typeface="Arial" panose="020B0604020202020204"/>
                <a:cs typeface="Arial" panose="020B0604020202020204"/>
              </a:rPr>
              <a:t>increases </a:t>
            </a:r>
            <a:r>
              <a:rPr sz="2000" spc="-5" dirty="0">
                <a:solidFill>
                  <a:srgbClr val="191919"/>
                </a:solidFill>
                <a:latin typeface="Arial" panose="020B0604020202020204"/>
                <a:cs typeface="Arial" panose="020B0604020202020204"/>
              </a:rPr>
              <a:t>as </a:t>
            </a:r>
            <a:r>
              <a:rPr sz="2000" dirty="0">
                <a:solidFill>
                  <a:srgbClr val="191919"/>
                </a:solidFill>
                <a:latin typeface="Arial" panose="020B0604020202020204"/>
                <a:cs typeface="Arial" panose="020B0604020202020204"/>
              </a:rPr>
              <a:t>database gets </a:t>
            </a:r>
            <a:r>
              <a:rPr sz="2000" spc="-5" dirty="0">
                <a:solidFill>
                  <a:srgbClr val="191919"/>
                </a:solidFill>
                <a:latin typeface="Arial" panose="020B0604020202020204"/>
                <a:cs typeface="Arial" panose="020B0604020202020204"/>
              </a:rPr>
              <a:t>bigger </a:t>
            </a:r>
            <a:r>
              <a:rPr sz="2000" dirty="0">
                <a:solidFill>
                  <a:srgbClr val="191919"/>
                </a:solidFill>
                <a:latin typeface="Arial" panose="020B0604020202020204"/>
                <a:cs typeface="Arial" panose="020B0604020202020204"/>
              </a:rPr>
              <a:t> </a:t>
            </a:r>
            <a:r>
              <a:rPr sz="2000" spc="-5" dirty="0">
                <a:solidFill>
                  <a:srgbClr val="191919"/>
                </a:solidFill>
                <a:latin typeface="Arial" panose="020B0604020202020204"/>
                <a:cs typeface="Arial" panose="020B0604020202020204"/>
              </a:rPr>
              <a:t>E-value</a:t>
            </a:r>
            <a:r>
              <a:rPr sz="2000" dirty="0">
                <a:solidFill>
                  <a:srgbClr val="191919"/>
                </a:solidFill>
                <a:latin typeface="Arial" panose="020B0604020202020204"/>
                <a:cs typeface="Arial" panose="020B0604020202020204"/>
              </a:rPr>
              <a:t> decreases as</a:t>
            </a:r>
            <a:r>
              <a:rPr sz="2000" spc="-5" dirty="0">
                <a:solidFill>
                  <a:srgbClr val="191919"/>
                </a:solidFill>
                <a:latin typeface="Arial" panose="020B0604020202020204"/>
                <a:cs typeface="Arial" panose="020B0604020202020204"/>
              </a:rPr>
              <a:t> alignments</a:t>
            </a:r>
            <a:r>
              <a:rPr sz="2000" dirty="0">
                <a:solidFill>
                  <a:srgbClr val="191919"/>
                </a:solidFill>
                <a:latin typeface="Arial" panose="020B0604020202020204"/>
                <a:cs typeface="Arial" panose="020B0604020202020204"/>
              </a:rPr>
              <a:t> get</a:t>
            </a:r>
            <a:r>
              <a:rPr sz="2000" spc="-15" dirty="0">
                <a:solidFill>
                  <a:srgbClr val="191919"/>
                </a:solidFill>
                <a:latin typeface="Arial" panose="020B0604020202020204"/>
                <a:cs typeface="Arial" panose="020B0604020202020204"/>
              </a:rPr>
              <a:t> </a:t>
            </a:r>
            <a:r>
              <a:rPr sz="2000" dirty="0">
                <a:solidFill>
                  <a:srgbClr val="191919"/>
                </a:solidFill>
                <a:latin typeface="Arial" panose="020B0604020202020204"/>
                <a:cs typeface="Arial" panose="020B0604020202020204"/>
              </a:rPr>
              <a:t>longer</a:t>
            </a:r>
            <a:endParaRPr sz="2000">
              <a:latin typeface="Arial" panose="020B0604020202020204"/>
              <a:cs typeface="Arial" panose="020B0604020202020204"/>
            </a:endParaRPr>
          </a:p>
        </p:txBody>
      </p:sp>
      <p:sp>
        <p:nvSpPr>
          <p:cNvPr id="11" name="object 11"/>
          <p:cNvSpPr txBox="1"/>
          <p:nvPr/>
        </p:nvSpPr>
        <p:spPr>
          <a:xfrm>
            <a:off x="1372869" y="456819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
        <p:nvSpPr>
          <p:cNvPr id="12" name="object 12"/>
          <p:cNvSpPr txBox="1"/>
          <p:nvPr/>
        </p:nvSpPr>
        <p:spPr>
          <a:xfrm>
            <a:off x="1372869" y="4936490"/>
            <a:ext cx="116839" cy="162560"/>
          </a:xfrm>
          <a:prstGeom prst="rect">
            <a:avLst/>
          </a:prstGeom>
        </p:spPr>
        <p:txBody>
          <a:bodyPr vert="horz" wrap="square" lIns="0" tIns="12700" rIns="0" bIns="0" rtlCol="0">
            <a:spAutoFit/>
          </a:bodyPr>
          <a:lstStyle/>
          <a:p>
            <a:pPr marL="12700">
              <a:lnSpc>
                <a:spcPct val="100000"/>
              </a:lnSpc>
              <a:spcBef>
                <a:spcPts val="100"/>
              </a:spcBef>
            </a:pPr>
            <a:r>
              <a:rPr sz="900" spc="170" dirty="0">
                <a:solidFill>
                  <a:srgbClr val="191919"/>
                </a:solidFill>
                <a:latin typeface="Calibri"/>
                <a:cs typeface="Calibri"/>
              </a:rPr>
              <a:t>●</a:t>
            </a:r>
            <a:endParaRPr sz="9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1745</Words>
  <Application>Microsoft Office PowerPoint</Application>
  <PresentationFormat>Custom</PresentationFormat>
  <Paragraphs>260</Paragraphs>
  <Slides>30</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30</vt:i4>
      </vt:variant>
    </vt:vector>
  </HeadingPairs>
  <TitlesOfParts>
    <vt:vector size="39" baseType="lpstr">
      <vt:lpstr>Arial</vt:lpstr>
      <vt:lpstr>Calibri</vt:lpstr>
      <vt:lpstr>Courier New</vt:lpstr>
      <vt:lpstr>Symbol</vt:lpstr>
      <vt:lpstr>Times New Roman</vt:lpstr>
      <vt:lpstr>Wingdings</vt:lpstr>
      <vt:lpstr>Office Theme</vt:lpstr>
      <vt:lpstr>Office Theme</vt:lpstr>
      <vt:lpstr>Office Theme</vt:lpstr>
      <vt:lpstr>PowerPoint Presentation</vt:lpstr>
      <vt:lpstr>What is homology?</vt:lpstr>
      <vt:lpstr>What is homology?</vt:lpstr>
      <vt:lpstr>Types of homologs</vt:lpstr>
      <vt:lpstr>What is similarity?</vt:lpstr>
      <vt:lpstr>Identity vs Similarity</vt:lpstr>
      <vt:lpstr>Identity vs Similarity</vt:lpstr>
      <vt:lpstr>Identity vs Similarity</vt:lpstr>
      <vt:lpstr>Assessing Sequence Similarity</vt:lpstr>
      <vt:lpstr>PowerPoint Presentation</vt:lpstr>
      <vt:lpstr>The Scoring Schemes or Weight Matrices</vt:lpstr>
      <vt:lpstr>PowerPoint Presentation</vt:lpstr>
      <vt:lpstr>The Scoring Schemes or Weight Matrices</vt:lpstr>
      <vt:lpstr>The Scoring Schemes or Weight Matrices</vt:lpstr>
      <vt:lpstr>Where does the score (S) come from?</vt:lpstr>
      <vt:lpstr>What’s a scoring matrix?</vt:lpstr>
      <vt:lpstr>BLOSUM vs. PAM</vt:lpstr>
      <vt:lpstr>PowerPoint Presentation</vt:lpstr>
      <vt:lpstr>PowerPoint Presentation</vt:lpstr>
      <vt:lpstr>QUERY sequence(s)</vt:lpstr>
      <vt:lpstr>Considerations for choosing a  BLAST database</vt:lpstr>
      <vt:lpstr>When choosing a database for BLAST…</vt:lpstr>
      <vt:lpstr>PowerPoint Presentation</vt:lpstr>
      <vt:lpstr>PowerPoint Presentation</vt:lpstr>
      <vt:lpstr>PowerPoint Presentation</vt:lpstr>
      <vt:lpstr>PowerPoint Presentation</vt:lpstr>
      <vt:lpstr>Sequence Similarity Searching – The  statistics are important</vt:lpstr>
      <vt:lpstr>What do the Score and the e-value really mean?</vt:lpstr>
      <vt:lpstr>I’m confused! What does the E-value mean again?</vt:lpstr>
      <vt:lpstr>Notes on E-values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Langille</dc:creator>
  <cp:lastModifiedBy>Luu Loi</cp:lastModifiedBy>
  <cp:revision>92</cp:revision>
  <dcterms:created xsi:type="dcterms:W3CDTF">2021-10-25T20:54:25Z</dcterms:created>
  <dcterms:modified xsi:type="dcterms:W3CDTF">2026-06-28T09:08:05Z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Creator">
    <vt:lpwstr>Impress</vt:lpwstr>
  </property>
  <property fmtid="{D5CDD505-2E9C-101B-9397-08002B2CF9AE}" pid="4" name="HiddenSlides">
    <vt:i4>0</vt:i4>
  </property>
  <property fmtid="{D5CDD505-2E9C-101B-9397-08002B2CF9AE}" pid="5" name="HyperlinksChanged">
    <vt:bool>false</vt:bool>
  </property>
  <property fmtid="{D5CDD505-2E9C-101B-9397-08002B2CF9AE}" pid="6" name="KSOProductBuildVer">
    <vt:lpwstr>1033-10.1.0.6757</vt:lpwstr>
  </property>
  <property fmtid="{D5CDD505-2E9C-101B-9397-08002B2CF9AE}" pid="7" name="LinksUpToDate">
    <vt:bool>false</vt:bool>
  </property>
  <property fmtid="{D5CDD505-2E9C-101B-9397-08002B2CF9AE}" pid="8" name="MMClips">
    <vt:i4>0</vt:i4>
  </property>
  <property fmtid="{D5CDD505-2E9C-101B-9397-08002B2CF9AE}" pid="9" name="Notes">
    <vt:i4>0</vt:i4>
  </property>
  <property fmtid="{D5CDD505-2E9C-101B-9397-08002B2CF9AE}" pid="10" name="PresentationFormat">
    <vt:lpwstr>On-screen Show (4:3)</vt:lpwstr>
  </property>
  <property fmtid="{D5CDD505-2E9C-101B-9397-08002B2CF9AE}" pid="11" name="ScaleCrop">
    <vt:bool>false</vt:bool>
  </property>
  <property fmtid="{D5CDD505-2E9C-101B-9397-08002B2CF9AE}" pid="12" name="ShareDoc">
    <vt:bool>false</vt:bool>
  </property>
  <property fmtid="{D5CDD505-2E9C-101B-9397-08002B2CF9AE}" pid="13" name="Slides">
    <vt:i4>44</vt:i4>
  </property>
</Properties>
</file>