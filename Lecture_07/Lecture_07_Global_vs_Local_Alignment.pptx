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54B80-ADF2-09DE-24C9-0ABD350A5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9875A-BABD-7949-43DD-C7A09B8F8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0E87B-E49E-CAF0-DAC2-BE5A94FC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8630A-1C0F-5B3D-59A8-1D77CEF24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C7375-74AC-8CCA-DA62-41D12BB1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207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FAE7-7E99-7F6E-6FD9-977C90F7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DCE52-B4BB-5BDA-BA1D-33F9653F4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46D3A-A792-36AF-CDF4-E41FB8A72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ABF93-F8EF-4BB5-2DFB-DC4E3B191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1AA43-AF0E-F564-AD89-7CD2969E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512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23A07-7505-CF4E-C7A1-E5B038EA2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DA67F-DBB9-50B1-FBC8-069FB14F6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5E179-3A9F-164F-B417-EE68C73F9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FC2FB-6863-7653-F3C5-107B8D932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F519D-2E05-9579-0DFD-E5C05F22D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839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A7FD-6CE2-42FD-0806-7F31CCCC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1E67E-5A19-AC9D-B721-8FBD0B294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A2A52-40EF-EF10-7DDB-273AEB140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FABD-FE84-E4AF-78AE-36937AE05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56821-5B1C-1D52-680D-D8EDAD07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FBEFE-F1B0-AC32-4D03-7AA906E7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4279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08C-8986-E9FE-6EC2-0D950DF7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399C7-729F-691A-C33B-AFE40B5D0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7C853-7A8B-1866-18AA-ECCDE156B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C5B1BA-5639-DDE0-0C72-BA7A5097A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D8181-365A-9A25-401B-C54BA3577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C9D79A-DB91-27BE-6BE0-C7ABBDE2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EBC7FF-B9CB-8F7F-751C-EC978660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8056C-56E7-8FEC-9E60-7DB96DE5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534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D812-D8A1-9444-8E0C-3E303ACC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2AE83-9E8B-3EF2-20EC-DE89E2E8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C4FAB-5CA6-A1FD-DC79-AC060A1B4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B728A-59F1-8168-AFB3-61835703E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56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FCD8E-5FB3-DCA9-1378-50FD30056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2E5629-E144-DE02-A291-A2F4560C6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7C0CB-D9B1-1404-8095-F27B9910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58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4373-5487-F26A-FFA8-075F6E81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B42AB-46BD-41E3-34C2-5EE6BE44E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F9A00-65E6-A6E8-53C8-CEB305A4E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9426F-9F8A-55FB-BD38-1BCB4079B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46B4-4B22-27E2-872E-9430DD84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553E2-E3AA-AC3E-848C-2F140C47F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46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6456-7D4F-63EE-49E1-0FC8DC457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36D097-2105-9453-EFFA-F15C9F55A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2C10A-7E2E-73D1-343B-14322A28F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E706C-1990-B20E-D6DF-A69090017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10FBF-CFD9-0CFB-5B41-C9AC6C43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1BF6-2ED0-FC39-DE45-4260AFAC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798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7F4A-17AB-781F-5246-E34826C23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E51E5-85F5-C9AD-5A68-E55BE606F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67707-3477-1826-BF42-A2448732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9F09B-F621-E7CB-6361-7D55F79CE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D8692-BFB9-47BC-7526-8BB59D6B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66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916B00-9E2F-AACF-7E5B-0EA03F5DB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C407B-0113-AE9D-5F86-14ECF9768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FAD1A-8BB7-E569-CCAF-9281EDA0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2D380-6933-4D9A-9AFB-3CDB7633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76C42-E417-67FA-8851-AB26F5EE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33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74428-E8B8-2CB6-A202-521035AD2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CCAC3-E398-9541-5C06-7F2F3F8A6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9F6A2-2160-9590-0925-D147EBA86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FEC73-58B0-413C-BE90-26D2CB32EAF7}" type="datetimeFigureOut">
              <a:rPr lang="en-AU" smtClean="0"/>
              <a:t>14/06/2026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74775-5DBA-3047-8191-5EF99CF59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B20B7-67AE-1858-BD56-EF7BF74CF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30232-3D68-4303-98EC-B2252346B7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41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F036E-CF1C-2EE9-CF73-B57E1F796B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6000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Sequence Alignment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E41AD-A5E2-B5B6-228A-4038DF339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5280"/>
            <a:ext cx="9144000" cy="1112520"/>
          </a:xfrm>
        </p:spPr>
        <p:txBody>
          <a:bodyPr/>
          <a:lstStyle/>
          <a:p>
            <a:pPr marL="3810" algn="ctr">
              <a:lnSpc>
                <a:spcPct val="100000"/>
              </a:lnSpc>
            </a:pPr>
            <a:r>
              <a:rPr lang="en-US" sz="2400" spc="-65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14/06/2026</a:t>
            </a:r>
          </a:p>
          <a:p>
            <a:pPr marL="3810" algn="ctr">
              <a:lnSpc>
                <a:spcPct val="100000"/>
              </a:lnSpc>
            </a:pPr>
            <a:r>
              <a:rPr lang="en-US" sz="2400" spc="-65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Phuc-Loi Luu, PhD</a:t>
            </a:r>
          </a:p>
        </p:txBody>
      </p:sp>
    </p:spTree>
    <p:extLst>
      <p:ext uri="{BB962C8B-B14F-4D97-AF65-F5344CB8AC3E}">
        <p14:creationId xmlns:p14="http://schemas.microsoft.com/office/powerpoint/2010/main" val="336392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1119-774F-D390-E020-2E7E90D06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/>
          <a:lstStyle/>
          <a:p>
            <a:pPr algn="ctr"/>
            <a:r>
              <a:rPr lang="en-GB" b="1" dirty="0"/>
              <a:t>Global vs Local Alignment</a:t>
            </a:r>
            <a:endParaRPr lang="en-AU" b="1" dirty="0"/>
          </a:p>
        </p:txBody>
      </p:sp>
      <p:pic>
        <p:nvPicPr>
          <p:cNvPr id="2050" name="Picture 2" descr="Difference between Global and Local Sequence Alignment">
            <a:extLst>
              <a:ext uri="{FF2B5EF4-FFF2-40B4-BE49-F238E27FC236}">
                <a16:creationId xmlns:a16="http://schemas.microsoft.com/office/drawing/2014/main" id="{12052896-62BC-B0BA-7BDD-229FF70F6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06" y="1690688"/>
            <a:ext cx="8190807" cy="446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lobal and local alignments of a pair of DNA sequences. | Download  Scientific Diagram">
            <a:extLst>
              <a:ext uri="{FF2B5EF4-FFF2-40B4-BE49-F238E27FC236}">
                <a16:creationId xmlns:a16="http://schemas.microsoft.com/office/drawing/2014/main" id="{AEC10F5A-67B4-307D-DD54-F377BCF22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676" y="28975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307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4524-99D5-9682-FD73-0FD1C654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7450"/>
          </a:xfrm>
        </p:spPr>
        <p:txBody>
          <a:bodyPr/>
          <a:lstStyle/>
          <a:p>
            <a:r>
              <a:rPr lang="en-GB" dirty="0"/>
              <a:t>1. Global Alignment (Needleman-Wunsch)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5C37-A39A-0352-2AF6-9DE26FC9A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1" y="1465404"/>
            <a:ext cx="6432665" cy="474143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GB" sz="1600" dirty="0"/>
              <a:t>Global alignment attempts to align every character in every sequence from the beginning to the end. </a:t>
            </a:r>
          </a:p>
          <a:p>
            <a:pPr algn="just">
              <a:lnSpc>
                <a:spcPct val="100000"/>
              </a:lnSpc>
            </a:pPr>
            <a:r>
              <a:rPr lang="en-GB" sz="1600" dirty="0"/>
              <a:t>It is best used when two sequences are of similar length and are expected to be homologous across their entire span.</a:t>
            </a:r>
          </a:p>
          <a:p>
            <a:pPr lvl="1" algn="just">
              <a:lnSpc>
                <a:spcPct val="100000"/>
              </a:lnSpc>
            </a:pPr>
            <a:r>
              <a:rPr lang="en-GB" sz="1600" dirty="0"/>
              <a:t>What: Aligning two full-length sequences (e.g., comparing two versions of the same gene from different species).</a:t>
            </a:r>
          </a:p>
          <a:p>
            <a:pPr lvl="1" algn="just">
              <a:lnSpc>
                <a:spcPct val="100000"/>
              </a:lnSpc>
            </a:pPr>
            <a:r>
              <a:rPr lang="en-GB" sz="1600" dirty="0"/>
              <a:t>How: It uses the Needleman-Wunsch algorithm, a dynamic programming approach that maximizes the total alignment score across the entire length of both sequences, including gaps at the ends if necessary.</a:t>
            </a:r>
          </a:p>
          <a:p>
            <a:pPr lvl="1" algn="just">
              <a:lnSpc>
                <a:spcPct val="100000"/>
              </a:lnSpc>
            </a:pPr>
            <a:r>
              <a:rPr lang="en-GB" sz="1600" dirty="0"/>
              <a:t>Why: To determine the total evolutionary distance or structural conservation between two related sequences.</a:t>
            </a:r>
          </a:p>
          <a:p>
            <a:pPr algn="just">
              <a:lnSpc>
                <a:spcPct val="100000"/>
              </a:lnSpc>
            </a:pPr>
            <a:r>
              <a:rPr lang="en-GB" sz="1600" dirty="0"/>
              <a:t>Example: Comparing the entire nucleotide sequence of the human insulin gene to that of a chimpanzee to identify overall conservation rates.</a:t>
            </a:r>
            <a:endParaRPr lang="en-AU" sz="1600" dirty="0"/>
          </a:p>
        </p:txBody>
      </p:sp>
      <p:pic>
        <p:nvPicPr>
          <p:cNvPr id="1027" name="Picture 3" descr="Difference between Global and Local Sequence Alignment">
            <a:extLst>
              <a:ext uri="{FF2B5EF4-FFF2-40B4-BE49-F238E27FC236}">
                <a16:creationId xmlns:a16="http://schemas.microsoft.com/office/drawing/2014/main" id="{C2EF4DE1-B994-1004-2C53-1A300D75F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041" y="2022764"/>
            <a:ext cx="4526701" cy="246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457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4524-99D5-9682-FD73-0FD1C654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7450"/>
          </a:xfrm>
        </p:spPr>
        <p:txBody>
          <a:bodyPr/>
          <a:lstStyle/>
          <a:p>
            <a:r>
              <a:rPr lang="en-GB" sz="4400" dirty="0"/>
              <a:t>2. Local Alignment (Smith-Waterman)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5C37-A39A-0352-2AF6-9DE26FC9A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1" y="1465404"/>
            <a:ext cx="6432665" cy="474143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GB" sz="1600" dirty="0"/>
              <a:t>Local alignment searches for the most similar sub-regions (motifs or domains) within larger sequences. </a:t>
            </a:r>
          </a:p>
          <a:p>
            <a:pPr algn="just">
              <a:lnSpc>
                <a:spcPct val="100000"/>
              </a:lnSpc>
            </a:pPr>
            <a:r>
              <a:rPr lang="en-GB" sz="1600" dirty="0"/>
              <a:t>It ignores the parts of the sequences that do not match well.</a:t>
            </a:r>
          </a:p>
          <a:p>
            <a:pPr lvl="1" algn="just">
              <a:lnSpc>
                <a:spcPct val="100000"/>
              </a:lnSpc>
            </a:pPr>
            <a:r>
              <a:rPr lang="en-GB" sz="1600" dirty="0"/>
              <a:t>What: Finding conserved functional domains, gene families, or short regulatory motifs hidden within large, otherwise dissimilar sequences.</a:t>
            </a:r>
          </a:p>
          <a:p>
            <a:pPr lvl="1" algn="just">
              <a:lnSpc>
                <a:spcPct val="100000"/>
              </a:lnSpc>
            </a:pPr>
            <a:r>
              <a:rPr lang="en-GB" sz="1600" dirty="0"/>
              <a:t>How: It uses the Smith-Waterman algorithm. Unlike the global approach, this algorithm assigns a score of zero to any negative alignment segments, effectively "restarting" the alignment whenever a match is found and ending it when the similarity drops off.</a:t>
            </a:r>
          </a:p>
          <a:p>
            <a:pPr lvl="1" algn="just">
              <a:lnSpc>
                <a:spcPct val="100000"/>
              </a:lnSpc>
            </a:pPr>
            <a:r>
              <a:rPr lang="en-GB" sz="1600" dirty="0"/>
              <a:t>Why: To identify functional modules, binding sites, or domains that have been conserved through evolution even when the rest of the genetic context has diverged or been rearranged.</a:t>
            </a:r>
          </a:p>
          <a:p>
            <a:pPr algn="just">
              <a:lnSpc>
                <a:spcPct val="100000"/>
              </a:lnSpc>
            </a:pPr>
            <a:r>
              <a:rPr lang="en-GB" sz="1600" dirty="0"/>
              <a:t>Example: Searching for a specific protein domain (like a zinc finger motif) within a large, uncharacterized protein sequence. BLAST (Basic Local Alignment Search Tool) is the most common implementation of this.</a:t>
            </a:r>
            <a:endParaRPr lang="en-AU" sz="1600" dirty="0"/>
          </a:p>
        </p:txBody>
      </p:sp>
      <p:pic>
        <p:nvPicPr>
          <p:cNvPr id="1027" name="Picture 3" descr="Difference between Global and Local Sequence Alignment">
            <a:extLst>
              <a:ext uri="{FF2B5EF4-FFF2-40B4-BE49-F238E27FC236}">
                <a16:creationId xmlns:a16="http://schemas.microsoft.com/office/drawing/2014/main" id="{C2EF4DE1-B994-1004-2C53-1A300D75F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041" y="2022764"/>
            <a:ext cx="4526701" cy="246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3995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C4AA40-8F67-FEDC-535D-B20F9A8C8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930" y="886696"/>
            <a:ext cx="10321886" cy="461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189744-23F5-B9C2-CEB0-52298D8846B6}"/>
              </a:ext>
            </a:extLst>
          </p:cNvPr>
          <p:cNvSpPr txBox="1"/>
          <p:nvPr/>
        </p:nvSpPr>
        <p:spPr>
          <a:xfrm>
            <a:off x="936568" y="820190"/>
            <a:ext cx="9869978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400" b="1" dirty="0"/>
              <a:t>Practical Guidance: When to choose which?</a:t>
            </a:r>
          </a:p>
          <a:p>
            <a:pPr algn="just"/>
            <a:endParaRPr lang="en-GB" sz="28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800" b="1" dirty="0"/>
              <a:t> Use Global Alignment</a:t>
            </a:r>
            <a:r>
              <a:rPr lang="en-GB" sz="2800" dirty="0"/>
              <a:t> if you are performing a comparative genomics study on well-defined, orthologous genes where you expect the sequences to be roughly the same size and essentially "the same" thing.</a:t>
            </a:r>
          </a:p>
          <a:p>
            <a:pPr algn="just"/>
            <a:endParaRPr lang="en-GB" sz="2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800" b="1" dirty="0"/>
              <a:t> Use Local Alignment</a:t>
            </a:r>
            <a:r>
              <a:rPr lang="en-GB" sz="2800" dirty="0"/>
              <a:t> for database searching (like BLAST). If you have a sequence "read" from a sequencer and you want to know what it is, you don't care about the whole sequence of every gene in the database; you want to find the specific "home" for that read.</a:t>
            </a:r>
          </a:p>
        </p:txBody>
      </p:sp>
    </p:spTree>
    <p:extLst>
      <p:ext uri="{BB962C8B-B14F-4D97-AF65-F5344CB8AC3E}">
        <p14:creationId xmlns:p14="http://schemas.microsoft.com/office/powerpoint/2010/main" val="3804814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B2C47A-E68C-999F-2D58-D2830216B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20" y="354674"/>
            <a:ext cx="11330769" cy="618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391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432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Principles of Sequence Alignment</vt:lpstr>
      <vt:lpstr>Global vs Local Alignment</vt:lpstr>
      <vt:lpstr>1. Global Alignment (Needleman-Wunsch)</vt:lpstr>
      <vt:lpstr>2. Local Alignment (Smith-Waterman)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Luu Loi</dc:creator>
  <cp:lastModifiedBy>Luu Loi</cp:lastModifiedBy>
  <cp:revision>9</cp:revision>
  <dcterms:created xsi:type="dcterms:W3CDTF">2026-06-14T00:27:16Z</dcterms:created>
  <dcterms:modified xsi:type="dcterms:W3CDTF">2026-06-14T03:57:35Z</dcterms:modified>
</cp:coreProperties>
</file>